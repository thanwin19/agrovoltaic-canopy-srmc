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4" r:id="rId28"/>
    <p:sldId id="263" r:id="rId13"/>
  </p:sldIdLst>
  <p:sldSz cx="18288000" cy="10287000"/>
  <p:notesSz cx="6858000" cy="9144000"/>
  <p:embeddedFontLst>
    <p:embeddedFont>
      <p:font typeface="Times New Roman Bold" charset="1" panose="02020803070505020304"/>
      <p:regular r:id="rId17"/>
    </p:embeddedFont>
    <p:embeddedFont>
      <p:font typeface="Calibri (MS)" charset="1" panose="020F0502020204030204"/>
      <p:regular r:id="rId18"/>
    </p:embeddedFont>
    <p:embeddedFont>
      <p:font typeface="Times New Roman" charset="1" panose="02020603050405020304"/>
      <p:regular r:id="rId19"/>
    </p:embeddedFont>
    <p:embeddedFont>
      <p:font typeface="Cambria Bold" charset="1" panose="02040803050406030204"/>
      <p:regular r:id="rId21"/>
    </p:embeddedFont>
    <p:embeddedFont>
      <p:font typeface="Calibri (MS) Bold" charset="1" panose="020F070203040403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notesMaster" Target="notesMasters/notesMaster1.xml"/><Relationship Id="rId15" Type="http://schemas.openxmlformats.org/officeDocument/2006/relationships/theme" Target="theme/theme2.xml"/><Relationship Id="rId16" Type="http://schemas.openxmlformats.org/officeDocument/2006/relationships/notesSlide" Target="notesSlides/notesSlide1.xml"/><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notesSlide" Target="notesSlides/notesSlide2.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notesSlide" Target="notesSlides/notesSlide3.xml"/><Relationship Id="rId24" Type="http://schemas.openxmlformats.org/officeDocument/2006/relationships/notesSlide" Target="notesSlides/notesSlide4.xml"/><Relationship Id="rId25" Type="http://schemas.openxmlformats.org/officeDocument/2006/relationships/notesSlide" Target="notesSlides/notesSlide5.xml"/><Relationship Id="rId26" Type="http://schemas.openxmlformats.org/officeDocument/2006/relationships/notesSlide" Target="notesSlides/notesSlide6.xml"/><Relationship Id="rId27" Type="http://schemas.openxmlformats.org/officeDocument/2006/relationships/notesSlide" Target="notesSlides/notesSlide7.xml"/><Relationship Id="rId2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Say in one sentence: the panels should make electricity AND let the crops below get enough light, so the tilt angle is decided every few seconds from sensor data. Be clear about REAL and SIM: DHT11, soil moisture and rain are real sensors on the prototype; sunlight (pyranometer) and plant light (PAR) are simulated and can be moved with scroll bars.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the five steps left to right. Then the table: green REAL rows are measured, orange SIM rows are simulated. The sun model uses the standard solar-position equations (Duffie and Beckman) with the monthly clearness index of TCE from NASA POWER; diffuse split by the Erbs correlation. The PAR conversion is a standard textbook value. The last line is for the live numbers read from the board on the day.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Answer to "can we trust the simulated sensors?": they are not measurements, they are controllable inputs built on standard equations. What we CAN prove: (1) the equations match the PVGIS service within +5.0 % per year; (2) we measured what a wrong reading costs: on a clear day a 5 % error loses 2.5 % of the electricity on average, a 10 % error 5.1 % (worst single half-hour 35 %); (3) the dashboard flags inconsistent sunlight/PAR readings; (4) real sensors plug in without changing the code. Numbers: results/sensor_trust_study.csv.</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Graph 1 is the heart of the system. The controller evaluates electricity (amber) and crop light (green) for each angle, joins them into one score (blue) and takes the highest point. The black circle is the best angle found by trying every 0.5 degrees; the red star is what the controller chose. The shadow and electricity values come from the physics functions that were checked against PVGIS and Blender.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Read the chart as: there is a trade-off. Pure tracking maximises electricity but starves the crops (27 % of the light target). The controller gives up about a quarter of the maximum electricity to give the crops about 89 % of their light, and it beats a fixed 45 degree panel on both. The 50/50 weight is adjustable in the dashboard (energy share scroll bar). The equal-weight average favours the controller by construction, so the weight must be chosen by the farmer or operator.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MPPT is the electronics that makes sure the panel works at its maximum power point. Our main energy numbers already assume the panel works there; this slide shows how the tracker achieves it and how much it is worth compared with a fixed voltage. Be honest: this is a software model of a typical module; the hardware converter is future work.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proof slide. Letters A to F match the labelled badges on the Explain window of the dashboard, so you can point to them live. Row D has blanks to fill with the bench numbers measured on the day. Close with the honest limits.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jpe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jpe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8.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86000" y="9601200"/>
            <a:ext cx="13716000" cy="685800"/>
            <a:chOff x="0" y="0"/>
            <a:chExt cx="13004800" cy="650240"/>
          </a:xfrm>
        </p:grpSpPr>
        <p:sp>
          <p:nvSpPr>
            <p:cNvPr name="Freeform 3" id="3"/>
            <p:cNvSpPr/>
            <p:nvPr/>
          </p:nvSpPr>
          <p:spPr>
            <a:xfrm flipH="false" flipV="false" rot="0">
              <a:off x="0" y="0"/>
              <a:ext cx="13004800" cy="650240"/>
            </a:xfrm>
            <a:custGeom>
              <a:avLst/>
              <a:gdLst/>
              <a:ahLst/>
              <a:cxnLst/>
              <a:rect r="r" b="b" t="t" l="l"/>
              <a:pathLst>
                <a:path h="650240" w="13004800">
                  <a:moveTo>
                    <a:pt x="0" y="0"/>
                  </a:moveTo>
                  <a:lnTo>
                    <a:pt x="13004800" y="0"/>
                  </a:lnTo>
                  <a:lnTo>
                    <a:pt x="13004800" y="650240"/>
                  </a:lnTo>
                  <a:lnTo>
                    <a:pt x="0" y="650240"/>
                  </a:lnTo>
                  <a:close/>
                </a:path>
              </a:pathLst>
            </a:custGeom>
            <a:solidFill>
              <a:srgbClr val="BD582C"/>
            </a:solidFill>
          </p:spPr>
        </p:sp>
      </p:grpSp>
      <p:grpSp>
        <p:nvGrpSpPr>
          <p:cNvPr name="Group 4" id="4"/>
          <p:cNvGrpSpPr/>
          <p:nvPr/>
        </p:nvGrpSpPr>
        <p:grpSpPr>
          <a:xfrm rot="0">
            <a:off x="2286000" y="9501478"/>
            <a:ext cx="13716000" cy="98986"/>
            <a:chOff x="0" y="0"/>
            <a:chExt cx="13004800" cy="93853"/>
          </a:xfrm>
        </p:grpSpPr>
        <p:sp>
          <p:nvSpPr>
            <p:cNvPr name="Freeform 5" id="5"/>
            <p:cNvSpPr/>
            <p:nvPr/>
          </p:nvSpPr>
          <p:spPr>
            <a:xfrm flipH="false" flipV="false" rot="0">
              <a:off x="0" y="0"/>
              <a:ext cx="13004800" cy="93853"/>
            </a:xfrm>
            <a:custGeom>
              <a:avLst/>
              <a:gdLst/>
              <a:ahLst/>
              <a:cxnLst/>
              <a:rect r="r" b="b" t="t" l="l"/>
              <a:pathLst>
                <a:path h="93853" w="13004800">
                  <a:moveTo>
                    <a:pt x="0" y="0"/>
                  </a:moveTo>
                  <a:lnTo>
                    <a:pt x="13004800" y="0"/>
                  </a:lnTo>
                  <a:lnTo>
                    <a:pt x="13004800" y="93853"/>
                  </a:lnTo>
                  <a:lnTo>
                    <a:pt x="0" y="93853"/>
                  </a:lnTo>
                  <a:close/>
                </a:path>
              </a:pathLst>
            </a:custGeom>
            <a:solidFill>
              <a:srgbClr val="E48312"/>
            </a:solidFill>
          </p:spPr>
        </p:sp>
      </p:grpSp>
      <p:sp>
        <p:nvSpPr>
          <p:cNvPr name="AutoShape 6" id="6"/>
          <p:cNvSpPr/>
          <p:nvPr/>
        </p:nvSpPr>
        <p:spPr>
          <a:xfrm rot="7020">
            <a:off x="3633155" y="2015381"/>
            <a:ext cx="11235761" cy="0"/>
          </a:xfrm>
          <a:prstGeom prst="line">
            <a:avLst/>
          </a:prstGeom>
          <a:ln cap="rnd" w="9525">
            <a:solidFill>
              <a:srgbClr val="000000"/>
            </a:solidFill>
            <a:prstDash val="solid"/>
            <a:headEnd type="none" len="sm" w="sm"/>
            <a:tailEnd type="none" len="sm" w="sm"/>
          </a:ln>
        </p:spPr>
      </p:sp>
      <p:grpSp>
        <p:nvGrpSpPr>
          <p:cNvPr name="Group 7" id="7"/>
          <p:cNvGrpSpPr/>
          <p:nvPr/>
        </p:nvGrpSpPr>
        <p:grpSpPr>
          <a:xfrm rot="0">
            <a:off x="2289576" y="9601200"/>
            <a:ext cx="13712383" cy="685800"/>
            <a:chOff x="0" y="0"/>
            <a:chExt cx="13001371" cy="650240"/>
          </a:xfrm>
        </p:grpSpPr>
        <p:sp>
          <p:nvSpPr>
            <p:cNvPr name="Freeform 8" id="8"/>
            <p:cNvSpPr/>
            <p:nvPr/>
          </p:nvSpPr>
          <p:spPr>
            <a:xfrm flipH="false" flipV="false" rot="0">
              <a:off x="0" y="0"/>
              <a:ext cx="13001371" cy="650240"/>
            </a:xfrm>
            <a:custGeom>
              <a:avLst/>
              <a:gdLst/>
              <a:ahLst/>
              <a:cxnLst/>
              <a:rect r="r" b="b" t="t" l="l"/>
              <a:pathLst>
                <a:path h="650240" w="13001371">
                  <a:moveTo>
                    <a:pt x="0" y="0"/>
                  </a:moveTo>
                  <a:lnTo>
                    <a:pt x="13001371" y="0"/>
                  </a:lnTo>
                  <a:lnTo>
                    <a:pt x="13001371" y="650240"/>
                  </a:lnTo>
                  <a:lnTo>
                    <a:pt x="0" y="650240"/>
                  </a:lnTo>
                  <a:close/>
                </a:path>
              </a:pathLst>
            </a:custGeom>
            <a:solidFill>
              <a:srgbClr val="BD582C"/>
            </a:solidFill>
          </p:spPr>
        </p:sp>
      </p:grpSp>
      <p:grpSp>
        <p:nvGrpSpPr>
          <p:cNvPr name="Group 9" id="9"/>
          <p:cNvGrpSpPr/>
          <p:nvPr/>
        </p:nvGrpSpPr>
        <p:grpSpPr>
          <a:xfrm rot="0">
            <a:off x="2286013" y="9501478"/>
            <a:ext cx="13712383" cy="96039"/>
            <a:chOff x="0" y="0"/>
            <a:chExt cx="13001371" cy="91059"/>
          </a:xfrm>
        </p:grpSpPr>
        <p:sp>
          <p:nvSpPr>
            <p:cNvPr name="Freeform 10" id="10"/>
            <p:cNvSpPr/>
            <p:nvPr/>
          </p:nvSpPr>
          <p:spPr>
            <a:xfrm flipH="false" flipV="false" rot="0">
              <a:off x="0" y="0"/>
              <a:ext cx="13001371" cy="91059"/>
            </a:xfrm>
            <a:custGeom>
              <a:avLst/>
              <a:gdLst/>
              <a:ahLst/>
              <a:cxnLst/>
              <a:rect r="r" b="b" t="t" l="l"/>
              <a:pathLst>
                <a:path h="91059" w="13001371">
                  <a:moveTo>
                    <a:pt x="0" y="0"/>
                  </a:moveTo>
                  <a:lnTo>
                    <a:pt x="13001371" y="0"/>
                  </a:lnTo>
                  <a:lnTo>
                    <a:pt x="13001371" y="91059"/>
                  </a:lnTo>
                  <a:lnTo>
                    <a:pt x="0" y="91059"/>
                  </a:lnTo>
                  <a:close/>
                </a:path>
              </a:pathLst>
            </a:custGeom>
            <a:solidFill>
              <a:srgbClr val="E48312"/>
            </a:solidFill>
          </p:spPr>
        </p:sp>
      </p:grpSp>
      <p:sp>
        <p:nvSpPr>
          <p:cNvPr name="AutoShape 11" id="11"/>
          <p:cNvSpPr/>
          <p:nvPr/>
        </p:nvSpPr>
        <p:spPr>
          <a:xfrm rot="4140">
            <a:off x="3633155" y="6501705"/>
            <a:ext cx="11132891" cy="0"/>
          </a:xfrm>
          <a:prstGeom prst="line">
            <a:avLst/>
          </a:prstGeom>
          <a:ln cap="rnd" w="9525">
            <a:solidFill>
              <a:srgbClr val="000000"/>
            </a:solidFill>
            <a:prstDash val="solid"/>
            <a:headEnd type="none" len="sm" w="sm"/>
            <a:tailEnd type="none" len="sm" w="sm"/>
          </a:ln>
        </p:spPr>
      </p:sp>
      <p:grpSp>
        <p:nvGrpSpPr>
          <p:cNvPr name="Group 12" id="12"/>
          <p:cNvGrpSpPr/>
          <p:nvPr/>
        </p:nvGrpSpPr>
        <p:grpSpPr>
          <a:xfrm rot="0">
            <a:off x="2289576" y="2488999"/>
            <a:ext cx="13716000" cy="1835841"/>
            <a:chOff x="0" y="0"/>
            <a:chExt cx="13004800" cy="1740649"/>
          </a:xfrm>
        </p:grpSpPr>
        <p:sp>
          <p:nvSpPr>
            <p:cNvPr name="Freeform 13" id="13"/>
            <p:cNvSpPr/>
            <p:nvPr/>
          </p:nvSpPr>
          <p:spPr>
            <a:xfrm flipH="false" flipV="false" rot="0">
              <a:off x="0" y="0"/>
              <a:ext cx="13004800" cy="1740662"/>
            </a:xfrm>
            <a:custGeom>
              <a:avLst/>
              <a:gdLst/>
              <a:ahLst/>
              <a:cxnLst/>
              <a:rect r="r" b="b" t="t" l="l"/>
              <a:pathLst>
                <a:path h="1740662" w="13004800">
                  <a:moveTo>
                    <a:pt x="0" y="0"/>
                  </a:moveTo>
                  <a:lnTo>
                    <a:pt x="13004800" y="0"/>
                  </a:lnTo>
                  <a:lnTo>
                    <a:pt x="13004800" y="1740662"/>
                  </a:lnTo>
                  <a:lnTo>
                    <a:pt x="0" y="1740662"/>
                  </a:lnTo>
                  <a:close/>
                </a:path>
              </a:pathLst>
            </a:custGeom>
            <a:blipFill>
              <a:blip r:embed="rId3">
                <a:alphaModFix amt="0"/>
              </a:blip>
              <a:stretch>
                <a:fillRect l="0" t="-95475" r="0" b="-95474"/>
              </a:stretch>
            </a:blipFill>
          </p:spPr>
        </p:sp>
      </p:grpSp>
      <p:grpSp>
        <p:nvGrpSpPr>
          <p:cNvPr name="Group 14" id="14"/>
          <p:cNvGrpSpPr/>
          <p:nvPr/>
        </p:nvGrpSpPr>
        <p:grpSpPr>
          <a:xfrm rot="0">
            <a:off x="2289576" y="2529182"/>
            <a:ext cx="13716000" cy="1795650"/>
            <a:chOff x="0" y="0"/>
            <a:chExt cx="13004800" cy="1702543"/>
          </a:xfrm>
        </p:grpSpPr>
        <p:sp>
          <p:nvSpPr>
            <p:cNvPr name="Freeform 15" id="15"/>
            <p:cNvSpPr/>
            <p:nvPr/>
          </p:nvSpPr>
          <p:spPr>
            <a:xfrm flipH="false" flipV="false" rot="0">
              <a:off x="0" y="0"/>
              <a:ext cx="13004800" cy="1702549"/>
            </a:xfrm>
            <a:custGeom>
              <a:avLst/>
              <a:gdLst/>
              <a:ahLst/>
              <a:cxnLst/>
              <a:rect r="r" b="b" t="t" l="l"/>
              <a:pathLst>
                <a:path h="1702549" w="13004800">
                  <a:moveTo>
                    <a:pt x="0" y="0"/>
                  </a:moveTo>
                  <a:lnTo>
                    <a:pt x="13004800" y="0"/>
                  </a:lnTo>
                  <a:lnTo>
                    <a:pt x="13004800" y="1702549"/>
                  </a:lnTo>
                  <a:lnTo>
                    <a:pt x="0" y="1702549"/>
                  </a:lnTo>
                  <a:close/>
                </a:path>
              </a:pathLst>
            </a:custGeom>
            <a:blipFill>
              <a:blip r:embed="rId4">
                <a:alphaModFix amt="0"/>
              </a:blip>
              <a:stretch>
                <a:fillRect l="0" t="-98835" r="0" b="-98834"/>
              </a:stretch>
            </a:blipFill>
          </p:spPr>
        </p:sp>
        <p:sp>
          <p:nvSpPr>
            <p:cNvPr name="TextBox 16" id="16"/>
            <p:cNvSpPr txBox="true"/>
            <p:nvPr/>
          </p:nvSpPr>
          <p:spPr>
            <a:xfrm>
              <a:off x="0" y="57150"/>
              <a:ext cx="13004800" cy="1645393"/>
            </a:xfrm>
            <a:prstGeom prst="rect">
              <a:avLst/>
            </a:prstGeom>
          </p:spPr>
          <p:txBody>
            <a:bodyPr anchor="b" rtlCol="false" tIns="0" lIns="0" bIns="0" rIns="0"/>
            <a:lstStyle/>
            <a:p>
              <a:pPr algn="ctr">
                <a:lnSpc>
                  <a:spcPts val="4895"/>
                </a:lnSpc>
              </a:pPr>
              <a:r>
                <a:rPr lang="en-US" b="true" sz="4799" spc="-74">
                  <a:solidFill>
                    <a:srgbClr val="262626"/>
                  </a:solidFill>
                  <a:latin typeface="Times New Roman Bold"/>
                  <a:ea typeface="Times New Roman Bold"/>
                  <a:cs typeface="Times New Roman Bold"/>
                  <a:sym typeface="Times New Roman Bold"/>
                </a:rPr>
                <a:t>AGROVOLTAIC CANOPY FOR PROTECTION AND SUSTAINABLE FARMING</a:t>
              </a:r>
            </a:p>
          </p:txBody>
        </p:sp>
      </p:grpSp>
      <p:grpSp>
        <p:nvGrpSpPr>
          <p:cNvPr name="Group 17" id="17"/>
          <p:cNvGrpSpPr/>
          <p:nvPr/>
        </p:nvGrpSpPr>
        <p:grpSpPr>
          <a:xfrm rot="0">
            <a:off x="6432960" y="9689684"/>
            <a:ext cx="5425656" cy="547689"/>
            <a:chOff x="0" y="0"/>
            <a:chExt cx="5144326" cy="519290"/>
          </a:xfrm>
        </p:grpSpPr>
        <p:sp>
          <p:nvSpPr>
            <p:cNvPr name="Freeform 18" id="18"/>
            <p:cNvSpPr/>
            <p:nvPr/>
          </p:nvSpPr>
          <p:spPr>
            <a:xfrm flipH="false" flipV="false" rot="0">
              <a:off x="0" y="0"/>
              <a:ext cx="5144262" cy="519303"/>
            </a:xfrm>
            <a:custGeom>
              <a:avLst/>
              <a:gdLst/>
              <a:ahLst/>
              <a:cxnLst/>
              <a:rect r="r" b="b" t="t" l="l"/>
              <a:pathLst>
                <a:path h="519303" w="5144262">
                  <a:moveTo>
                    <a:pt x="0" y="0"/>
                  </a:moveTo>
                  <a:lnTo>
                    <a:pt x="5144262" y="0"/>
                  </a:lnTo>
                  <a:lnTo>
                    <a:pt x="5144262" y="519303"/>
                  </a:lnTo>
                  <a:lnTo>
                    <a:pt x="0" y="519303"/>
                  </a:lnTo>
                  <a:close/>
                </a:path>
              </a:pathLst>
            </a:custGeom>
            <a:blipFill>
              <a:blip r:embed="rId3">
                <a:alphaModFix amt="0"/>
              </a:blip>
              <a:stretch>
                <a:fillRect l="0" t="-142890" r="-1" b="-142885"/>
              </a:stretch>
            </a:blipFill>
          </p:spPr>
        </p:sp>
      </p:grpSp>
      <p:grpSp>
        <p:nvGrpSpPr>
          <p:cNvPr name="Group 19" id="19"/>
          <p:cNvGrpSpPr/>
          <p:nvPr/>
        </p:nvGrpSpPr>
        <p:grpSpPr>
          <a:xfrm rot="0">
            <a:off x="6432960" y="9669592"/>
            <a:ext cx="5425656" cy="567781"/>
            <a:chOff x="0" y="0"/>
            <a:chExt cx="5144326" cy="538341"/>
          </a:xfrm>
        </p:grpSpPr>
        <p:sp>
          <p:nvSpPr>
            <p:cNvPr name="Freeform 20" id="20"/>
            <p:cNvSpPr/>
            <p:nvPr/>
          </p:nvSpPr>
          <p:spPr>
            <a:xfrm flipH="false" flipV="false" rot="0">
              <a:off x="0" y="0"/>
              <a:ext cx="5144326" cy="538341"/>
            </a:xfrm>
            <a:custGeom>
              <a:avLst/>
              <a:gdLst/>
              <a:ahLst/>
              <a:cxnLst/>
              <a:rect r="r" b="b" t="t" l="l"/>
              <a:pathLst>
                <a:path h="538341" w="5144326">
                  <a:moveTo>
                    <a:pt x="0" y="0"/>
                  </a:moveTo>
                  <a:lnTo>
                    <a:pt x="5144326" y="0"/>
                  </a:lnTo>
                  <a:lnTo>
                    <a:pt x="5144326" y="538341"/>
                  </a:lnTo>
                  <a:lnTo>
                    <a:pt x="0" y="538341"/>
                  </a:lnTo>
                  <a:close/>
                </a:path>
              </a:pathLst>
            </a:custGeom>
            <a:blipFill>
              <a:blip r:embed="rId4">
                <a:alphaModFix amt="0"/>
              </a:blip>
              <a:stretch>
                <a:fillRect l="0" t="-136196" r="0" b="-136196"/>
              </a:stretch>
            </a:blipFill>
          </p:spPr>
        </p:sp>
        <p:sp>
          <p:nvSpPr>
            <p:cNvPr name="TextBox 21" id="21"/>
            <p:cNvSpPr txBox="true"/>
            <p:nvPr/>
          </p:nvSpPr>
          <p:spPr>
            <a:xfrm>
              <a:off x="0" y="-28575"/>
              <a:ext cx="5144326" cy="566916"/>
            </a:xfrm>
            <a:prstGeom prst="rect">
              <a:avLst/>
            </a:prstGeom>
          </p:spPr>
          <p:txBody>
            <a:bodyPr anchor="ctr" rtlCol="false" tIns="0" lIns="0" bIns="0" rIns="0"/>
            <a:lstStyle/>
            <a:p>
              <a:pPr algn="ctr">
                <a:lnSpc>
                  <a:spcPts val="1620"/>
                </a:lnSpc>
              </a:pPr>
              <a:r>
                <a:rPr lang="en-US" sz="1350">
                  <a:solidFill>
                    <a:srgbClr val="FFFFFF"/>
                  </a:solidFill>
                  <a:latin typeface="Calibri (MS)"/>
                  <a:ea typeface="Calibri (MS)"/>
                  <a:cs typeface="Calibri (MS)"/>
                  <a:sym typeface="Calibri (MS)"/>
                </a:rPr>
                <a:t>TCE - EEE - 22EE690 - Project </a:t>
              </a:r>
            </a:p>
          </p:txBody>
        </p:sp>
      </p:grpSp>
      <p:grpSp>
        <p:nvGrpSpPr>
          <p:cNvPr name="Group 22" id="22"/>
          <p:cNvGrpSpPr/>
          <p:nvPr/>
        </p:nvGrpSpPr>
        <p:grpSpPr>
          <a:xfrm rot="0">
            <a:off x="13424022" y="9689684"/>
            <a:ext cx="1476024" cy="547689"/>
            <a:chOff x="0" y="0"/>
            <a:chExt cx="1399489" cy="519290"/>
          </a:xfrm>
        </p:grpSpPr>
        <p:sp>
          <p:nvSpPr>
            <p:cNvPr name="Freeform 23" id="23"/>
            <p:cNvSpPr/>
            <p:nvPr/>
          </p:nvSpPr>
          <p:spPr>
            <a:xfrm flipH="false" flipV="false" rot="0">
              <a:off x="0" y="0"/>
              <a:ext cx="1399540" cy="519303"/>
            </a:xfrm>
            <a:custGeom>
              <a:avLst/>
              <a:gdLst/>
              <a:ahLst/>
              <a:cxnLst/>
              <a:rect r="r" b="b" t="t" l="l"/>
              <a:pathLst>
                <a:path h="519303" w="1399540">
                  <a:moveTo>
                    <a:pt x="0" y="0"/>
                  </a:moveTo>
                  <a:lnTo>
                    <a:pt x="1399540" y="0"/>
                  </a:lnTo>
                  <a:lnTo>
                    <a:pt x="1399540" y="519303"/>
                  </a:lnTo>
                  <a:lnTo>
                    <a:pt x="0" y="519303"/>
                  </a:lnTo>
                  <a:close/>
                </a:path>
              </a:pathLst>
            </a:custGeom>
            <a:blipFill>
              <a:blip r:embed="rId3">
                <a:alphaModFix amt="0"/>
              </a:blip>
              <a:stretch>
                <a:fillRect l="0" t="-2474" r="3" b="-2474"/>
              </a:stretch>
            </a:blipFill>
          </p:spPr>
        </p:sp>
      </p:grpSp>
      <p:grpSp>
        <p:nvGrpSpPr>
          <p:cNvPr name="Group 24" id="24"/>
          <p:cNvGrpSpPr/>
          <p:nvPr/>
        </p:nvGrpSpPr>
        <p:grpSpPr>
          <a:xfrm rot="0">
            <a:off x="13424022" y="9659547"/>
            <a:ext cx="1476024" cy="577827"/>
            <a:chOff x="0" y="0"/>
            <a:chExt cx="1399489" cy="547865"/>
          </a:xfrm>
        </p:grpSpPr>
        <p:sp>
          <p:nvSpPr>
            <p:cNvPr name="Freeform 25" id="25"/>
            <p:cNvSpPr/>
            <p:nvPr/>
          </p:nvSpPr>
          <p:spPr>
            <a:xfrm flipH="false" flipV="false" rot="0">
              <a:off x="0" y="0"/>
              <a:ext cx="1399489" cy="547866"/>
            </a:xfrm>
            <a:custGeom>
              <a:avLst/>
              <a:gdLst/>
              <a:ahLst/>
              <a:cxnLst/>
              <a:rect r="r" b="b" t="t" l="l"/>
              <a:pathLst>
                <a:path h="547866" w="1399489">
                  <a:moveTo>
                    <a:pt x="0" y="0"/>
                  </a:moveTo>
                  <a:lnTo>
                    <a:pt x="1399489" y="0"/>
                  </a:lnTo>
                  <a:lnTo>
                    <a:pt x="1399489" y="547866"/>
                  </a:lnTo>
                  <a:lnTo>
                    <a:pt x="0" y="547866"/>
                  </a:lnTo>
                  <a:close/>
                </a:path>
              </a:pathLst>
            </a:custGeom>
            <a:blipFill>
              <a:blip r:embed="rId4">
                <a:alphaModFix amt="0"/>
              </a:blip>
              <a:stretch>
                <a:fillRect l="-227" t="0" r="-227" b="0"/>
              </a:stretch>
            </a:blipFill>
          </p:spPr>
        </p:sp>
        <p:sp>
          <p:nvSpPr>
            <p:cNvPr name="TextBox 26" id="26"/>
            <p:cNvSpPr txBox="true"/>
            <p:nvPr/>
          </p:nvSpPr>
          <p:spPr>
            <a:xfrm>
              <a:off x="0" y="-19050"/>
              <a:ext cx="1399489" cy="566915"/>
            </a:xfrm>
            <a:prstGeom prst="rect">
              <a:avLst/>
            </a:prstGeom>
          </p:spPr>
          <p:txBody>
            <a:bodyPr anchor="ctr" rtlCol="false" tIns="0" lIns="0" bIns="0" rIns="0"/>
            <a:lstStyle/>
            <a:p>
              <a:pPr algn="r">
                <a:lnSpc>
                  <a:spcPts val="1889"/>
                </a:lnSpc>
              </a:pPr>
              <a:r>
                <a:rPr lang="en-US" sz="1575">
                  <a:solidFill>
                    <a:srgbClr val="FFFFFF"/>
                  </a:solidFill>
                  <a:latin typeface="Calibri (MS)"/>
                  <a:ea typeface="Calibri (MS)"/>
                  <a:cs typeface="Calibri (MS)"/>
                  <a:sym typeface="Calibri (MS)"/>
                </a:rPr>
                <a:t>1</a:t>
              </a:r>
            </a:p>
          </p:txBody>
        </p:sp>
      </p:grpSp>
      <p:grpSp>
        <p:nvGrpSpPr>
          <p:cNvPr name="Group 27" id="27"/>
          <p:cNvGrpSpPr/>
          <p:nvPr/>
        </p:nvGrpSpPr>
        <p:grpSpPr>
          <a:xfrm rot="0">
            <a:off x="8257737" y="0"/>
            <a:ext cx="1669494" cy="1561534"/>
            <a:chOff x="0" y="0"/>
            <a:chExt cx="1582928" cy="1480566"/>
          </a:xfrm>
        </p:grpSpPr>
        <p:sp>
          <p:nvSpPr>
            <p:cNvPr name="Freeform 28" id="28"/>
            <p:cNvSpPr/>
            <p:nvPr/>
          </p:nvSpPr>
          <p:spPr>
            <a:xfrm flipH="false" flipV="false" rot="0">
              <a:off x="0" y="0"/>
              <a:ext cx="1582928" cy="1480566"/>
            </a:xfrm>
            <a:custGeom>
              <a:avLst/>
              <a:gdLst/>
              <a:ahLst/>
              <a:cxnLst/>
              <a:rect r="r" b="b" t="t" l="l"/>
              <a:pathLst>
                <a:path h="1480566" w="1582928">
                  <a:moveTo>
                    <a:pt x="0" y="0"/>
                  </a:moveTo>
                  <a:lnTo>
                    <a:pt x="1582928" y="0"/>
                  </a:lnTo>
                  <a:lnTo>
                    <a:pt x="1582928" y="1480566"/>
                  </a:lnTo>
                  <a:lnTo>
                    <a:pt x="0" y="1480566"/>
                  </a:lnTo>
                  <a:lnTo>
                    <a:pt x="0" y="0"/>
                  </a:lnTo>
                  <a:close/>
                </a:path>
              </a:pathLst>
            </a:custGeom>
            <a:blipFill>
              <a:blip r:embed="rId5"/>
              <a:stretch>
                <a:fillRect l="-150" t="0" r="-151" b="0"/>
              </a:stretch>
            </a:blipFill>
          </p:spPr>
        </p:sp>
      </p:grpSp>
      <p:sp>
        <p:nvSpPr>
          <p:cNvPr name="TextBox 29" id="29"/>
          <p:cNvSpPr txBox="true"/>
          <p:nvPr/>
        </p:nvSpPr>
        <p:spPr>
          <a:xfrm rot="0">
            <a:off x="2670302" y="6831181"/>
            <a:ext cx="7782491" cy="2591081"/>
          </a:xfrm>
          <a:prstGeom prst="rect">
            <a:avLst/>
          </a:prstGeom>
        </p:spPr>
        <p:txBody>
          <a:bodyPr anchor="t" rtlCol="false" tIns="0" lIns="0" bIns="0" rIns="0">
            <a:spAutoFit/>
          </a:bodyPr>
          <a:lstStyle/>
          <a:p>
            <a:pPr algn="l">
              <a:lnSpc>
                <a:spcPts val="2930"/>
              </a:lnSpc>
            </a:pPr>
            <a:r>
              <a:rPr lang="en-US" sz="2442" b="true">
                <a:solidFill>
                  <a:srgbClr val="000000"/>
                </a:solidFill>
                <a:latin typeface="Times New Roman Bold"/>
                <a:ea typeface="Times New Roman Bold"/>
                <a:cs typeface="Times New Roman Bold"/>
                <a:sym typeface="Times New Roman Bold"/>
              </a:rPr>
              <a:t>TEAM :</a:t>
            </a:r>
          </a:p>
          <a:p>
            <a:pPr algn="l">
              <a:lnSpc>
                <a:spcPts val="2930"/>
              </a:lnSpc>
            </a:pPr>
            <a:r>
              <a:rPr lang="en-US" sz="2442" b="true">
                <a:solidFill>
                  <a:srgbClr val="000000"/>
                </a:solidFill>
                <a:latin typeface="Times New Roman Bold"/>
                <a:ea typeface="Times New Roman Bold"/>
                <a:cs typeface="Times New Roman Bold"/>
                <a:sym typeface="Times New Roman Bold"/>
              </a:rPr>
              <a:t>1.THANWIN  S S                     (230391771052118)</a:t>
            </a:r>
          </a:p>
          <a:p>
            <a:pPr algn="l">
              <a:lnSpc>
                <a:spcPts val="2930"/>
              </a:lnSpc>
            </a:pPr>
            <a:r>
              <a:rPr lang="en-US" sz="2442" b="true">
                <a:solidFill>
                  <a:srgbClr val="000000"/>
                </a:solidFill>
                <a:latin typeface="Times New Roman Bold"/>
                <a:ea typeface="Times New Roman Bold"/>
                <a:cs typeface="Times New Roman Bold"/>
                <a:sym typeface="Times New Roman Bold"/>
              </a:rPr>
              <a:t>2.CHANDRU PM                     (2303917710521304)</a:t>
            </a:r>
          </a:p>
          <a:p>
            <a:pPr algn="l">
              <a:lnSpc>
                <a:spcPts val="2930"/>
              </a:lnSpc>
            </a:pPr>
            <a:r>
              <a:rPr lang="en-US" sz="2442" b="true">
                <a:solidFill>
                  <a:srgbClr val="000000"/>
                </a:solidFill>
                <a:latin typeface="Times New Roman Bold"/>
                <a:ea typeface="Times New Roman Bold"/>
                <a:cs typeface="Times New Roman Bold"/>
                <a:sym typeface="Times New Roman Bold"/>
              </a:rPr>
              <a:t>3.KUBERAESHWARAN S    (2303917710521307)</a:t>
            </a:r>
          </a:p>
          <a:p>
            <a:pPr algn="l">
              <a:lnSpc>
                <a:spcPts val="2930"/>
              </a:lnSpc>
            </a:pPr>
            <a:r>
              <a:rPr lang="en-US" sz="2442" b="true">
                <a:solidFill>
                  <a:srgbClr val="000000"/>
                </a:solidFill>
                <a:latin typeface="Times New Roman Bold"/>
                <a:ea typeface="Times New Roman Bold"/>
                <a:cs typeface="Times New Roman Bold"/>
                <a:sym typeface="Times New Roman Bold"/>
              </a:rPr>
              <a:t>4.MUKILAN A                        (2303917710521311)</a:t>
            </a:r>
          </a:p>
          <a:p>
            <a:pPr algn="l">
              <a:lnSpc>
                <a:spcPts val="2930"/>
              </a:lnSpc>
            </a:pPr>
          </a:p>
          <a:p>
            <a:pPr algn="l">
              <a:lnSpc>
                <a:spcPts val="2930"/>
              </a:lnSpc>
            </a:pPr>
          </a:p>
        </p:txBody>
      </p:sp>
      <p:sp>
        <p:nvSpPr>
          <p:cNvPr name="TextBox 30" id="30"/>
          <p:cNvSpPr txBox="true"/>
          <p:nvPr/>
        </p:nvSpPr>
        <p:spPr>
          <a:xfrm rot="0">
            <a:off x="10727595" y="7300124"/>
            <a:ext cx="4416217" cy="822722"/>
          </a:xfrm>
          <a:prstGeom prst="rect">
            <a:avLst/>
          </a:prstGeom>
        </p:spPr>
        <p:txBody>
          <a:bodyPr anchor="t" rtlCol="false" tIns="0" lIns="0" bIns="0" rIns="0">
            <a:spAutoFit/>
          </a:bodyPr>
          <a:lstStyle/>
          <a:p>
            <a:pPr algn="l">
              <a:lnSpc>
                <a:spcPts val="3240"/>
              </a:lnSpc>
            </a:pPr>
            <a:r>
              <a:rPr lang="en-US" sz="2700" b="true">
                <a:solidFill>
                  <a:srgbClr val="000000"/>
                </a:solidFill>
                <a:latin typeface="Times New Roman Bold"/>
                <a:ea typeface="Times New Roman Bold"/>
                <a:cs typeface="Times New Roman Bold"/>
                <a:sym typeface="Times New Roman Bold"/>
              </a:rPr>
              <a:t>DEPARTMENT</a:t>
            </a:r>
            <a:r>
              <a:rPr lang="en-US" sz="2700">
                <a:solidFill>
                  <a:srgbClr val="000000"/>
                </a:solidFill>
                <a:latin typeface="Times New Roman"/>
                <a:ea typeface="Times New Roman"/>
                <a:cs typeface="Times New Roman"/>
                <a:sym typeface="Times New Roman"/>
              </a:rPr>
              <a:t> : EEE</a:t>
            </a:r>
          </a:p>
          <a:p>
            <a:pPr algn="l">
              <a:lnSpc>
                <a:spcPts val="3240"/>
              </a:lnSpc>
            </a:pPr>
            <a:r>
              <a:rPr lang="en-US" sz="2700" b="true">
                <a:solidFill>
                  <a:srgbClr val="000000"/>
                </a:solidFill>
                <a:latin typeface="Times New Roman Bold"/>
                <a:ea typeface="Times New Roman Bold"/>
                <a:cs typeface="Times New Roman Bold"/>
                <a:sym typeface="Times New Roman Bold"/>
              </a:rPr>
              <a:t>DATE</a:t>
            </a:r>
            <a:r>
              <a:rPr lang="en-US" sz="2700">
                <a:solidFill>
                  <a:srgbClr val="000000"/>
                </a:solidFill>
                <a:latin typeface="Times New Roman"/>
                <a:ea typeface="Times New Roman"/>
                <a:cs typeface="Times New Roman"/>
                <a:sym typeface="Times New Roman"/>
              </a:rPr>
              <a:t> : 16/10/2026</a:t>
            </a:r>
          </a:p>
        </p:txBody>
      </p:sp>
      <p:sp>
        <p:nvSpPr>
          <p:cNvPr name="TextBox 31" id="31"/>
          <p:cNvSpPr txBox="true"/>
          <p:nvPr/>
        </p:nvSpPr>
        <p:spPr>
          <a:xfrm rot="0">
            <a:off x="6561548" y="5779175"/>
            <a:ext cx="5267815" cy="447675"/>
          </a:xfrm>
          <a:prstGeom prst="rect">
            <a:avLst/>
          </a:prstGeom>
        </p:spPr>
        <p:txBody>
          <a:bodyPr anchor="t" rtlCol="false" tIns="0" lIns="0" bIns="0" rIns="0">
            <a:spAutoFit/>
          </a:bodyPr>
          <a:lstStyle/>
          <a:p>
            <a:pPr algn="l">
              <a:lnSpc>
                <a:spcPts val="3240"/>
              </a:lnSpc>
            </a:pPr>
            <a:r>
              <a:rPr lang="en-US" sz="2700" b="true">
                <a:solidFill>
                  <a:srgbClr val="000000"/>
                </a:solidFill>
                <a:latin typeface="Times New Roman Bold"/>
                <a:ea typeface="Times New Roman Bold"/>
                <a:cs typeface="Times New Roman Bold"/>
                <a:sym typeface="Times New Roman Bold"/>
              </a:rPr>
              <a:t>GUIDE</a:t>
            </a:r>
            <a:r>
              <a:rPr lang="en-US" sz="2700">
                <a:solidFill>
                  <a:srgbClr val="000000"/>
                </a:solidFill>
                <a:latin typeface="Times New Roman"/>
                <a:ea typeface="Times New Roman"/>
                <a:cs typeface="Times New Roman"/>
                <a:sym typeface="Times New Roman"/>
              </a:rPr>
              <a:t> :DR.M.MEENAKSHI DEVI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7F2"/>
        </a:solidFill>
      </p:bgPr>
    </p:bg>
    <p:spTree>
      <p:nvGrpSpPr>
        <p:cNvPr id="1" name=""/>
        <p:cNvGrpSpPr/>
        <p:nvPr/>
      </p:nvGrpSpPr>
      <p:grpSpPr>
        <a:xfrm>
          <a:off x="0" y="0"/>
          <a:ext cx="0" cy="0"/>
          <a:chOff x="0" y="0"/>
          <a:chExt cx="0" cy="0"/>
        </a:xfrm>
      </p:grpSpPr>
      <p:grpSp>
        <p:nvGrpSpPr>
          <p:cNvPr name="Group 2" id="2"/>
          <p:cNvGrpSpPr/>
          <p:nvPr/>
        </p:nvGrpSpPr>
        <p:grpSpPr>
          <a:xfrm rot="0">
            <a:off x="1655647" y="370623"/>
            <a:ext cx="14948399" cy="92655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sp>
        <p:sp>
          <p:nvSpPr>
            <p:cNvPr name="TextBox 4" id="4"/>
            <p:cNvSpPr txBox="true"/>
            <p:nvPr/>
          </p:nvSpPr>
          <p:spPr>
            <a:xfrm>
              <a:off x="0" y="-9525"/>
              <a:ext cx="22145777" cy="1382192"/>
            </a:xfrm>
            <a:prstGeom prst="rect">
              <a:avLst/>
            </a:prstGeom>
          </p:spPr>
          <p:txBody>
            <a:bodyPr anchor="ctr" rtlCol="false" tIns="0" lIns="0" bIns="0" rIns="0"/>
            <a:lstStyle/>
            <a:p>
              <a:pPr algn="l">
                <a:lnSpc>
                  <a:spcPts val="5404"/>
                </a:lnSpc>
              </a:pPr>
              <a:r>
                <a:rPr lang="en-US" sz="4052" b="true">
                  <a:solidFill>
                    <a:srgbClr val="14342B"/>
                  </a:solidFill>
                  <a:latin typeface="Cambria Bold"/>
                  <a:ea typeface="Cambria Bold"/>
                  <a:cs typeface="Cambria Bold"/>
                  <a:sym typeface="Cambria Bold"/>
                </a:rPr>
                <a:t>How the system works, step by step</a:t>
              </a:r>
            </a:p>
          </p:txBody>
        </p:sp>
      </p:grpSp>
      <p:sp>
        <p:nvSpPr>
          <p:cNvPr name="TextBox 5" id="5"/>
          <p:cNvSpPr txBox="true"/>
          <p:nvPr/>
        </p:nvSpPr>
        <p:spPr>
          <a:xfrm rot="0">
            <a:off x="1696795" y="1250513"/>
            <a:ext cx="14866103" cy="503780"/>
          </a:xfrm>
          <a:prstGeom prst="rect">
            <a:avLst/>
          </a:prstGeom>
        </p:spPr>
        <p:txBody>
          <a:bodyPr anchor="t" rtlCol="false" tIns="0" lIns="0" bIns="0" rIns="0">
            <a:spAutoFit/>
          </a:bodyPr>
          <a:lstStyle/>
          <a:p>
            <a:pPr algn="l">
              <a:lnSpc>
                <a:spcPts val="2882"/>
              </a:lnSpc>
            </a:pPr>
            <a:r>
              <a:rPr lang="en-US" sz="2160">
                <a:solidFill>
                  <a:srgbClr val="5B6B62"/>
                </a:solidFill>
                <a:latin typeface="Calibri (MS)"/>
                <a:ea typeface="Calibri (MS)"/>
                <a:cs typeface="Calibri (MS)"/>
                <a:sym typeface="Calibri (MS)"/>
              </a:rPr>
              <a:t>From the sensor to the decision, in five steps</a:t>
            </a:r>
          </a:p>
        </p:txBody>
      </p:sp>
      <p:grpSp>
        <p:nvGrpSpPr>
          <p:cNvPr name="Group 6" id="6"/>
          <p:cNvGrpSpPr/>
          <p:nvPr/>
        </p:nvGrpSpPr>
        <p:grpSpPr>
          <a:xfrm rot="0">
            <a:off x="1655647" y="1914882"/>
            <a:ext cx="2841432" cy="1791335"/>
            <a:chOff x="0" y="0"/>
            <a:chExt cx="4209529" cy="2653830"/>
          </a:xfrm>
        </p:grpSpPr>
        <p:sp>
          <p:nvSpPr>
            <p:cNvPr name="Freeform 7" id="7"/>
            <p:cNvSpPr/>
            <p:nvPr/>
          </p:nvSpPr>
          <p:spPr>
            <a:xfrm flipH="false" flipV="false" rot="0">
              <a:off x="0" y="0"/>
              <a:ext cx="4209542" cy="2653919"/>
            </a:xfrm>
            <a:custGeom>
              <a:avLst/>
              <a:gdLst/>
              <a:ahLst/>
              <a:cxnLst/>
              <a:rect r="r" b="b" t="t" l="l"/>
              <a:pathLst>
                <a:path h="2653919" w="4209542">
                  <a:moveTo>
                    <a:pt x="0" y="159258"/>
                  </a:moveTo>
                  <a:cubicBezTo>
                    <a:pt x="0" y="71247"/>
                    <a:pt x="71247" y="0"/>
                    <a:pt x="159258" y="0"/>
                  </a:cubicBezTo>
                  <a:lnTo>
                    <a:pt x="4050284" y="0"/>
                  </a:lnTo>
                  <a:cubicBezTo>
                    <a:pt x="4138168" y="0"/>
                    <a:pt x="4209542" y="71247"/>
                    <a:pt x="4209542" y="159258"/>
                  </a:cubicBezTo>
                  <a:lnTo>
                    <a:pt x="4209542" y="2494661"/>
                  </a:lnTo>
                  <a:cubicBezTo>
                    <a:pt x="4209542" y="2582545"/>
                    <a:pt x="4138295" y="2653919"/>
                    <a:pt x="4050284" y="2653919"/>
                  </a:cubicBezTo>
                  <a:lnTo>
                    <a:pt x="159258" y="2653919"/>
                  </a:lnTo>
                  <a:cubicBezTo>
                    <a:pt x="71247" y="2653792"/>
                    <a:pt x="0" y="2582545"/>
                    <a:pt x="0" y="2494661"/>
                  </a:cubicBezTo>
                  <a:close/>
                </a:path>
              </a:pathLst>
            </a:custGeom>
            <a:solidFill>
              <a:srgbClr val="4E9A2E"/>
            </a:solidFill>
          </p:spPr>
        </p:sp>
      </p:grpSp>
      <p:sp>
        <p:nvSpPr>
          <p:cNvPr name="TextBox 8" id="8"/>
          <p:cNvSpPr txBox="true"/>
          <p:nvPr/>
        </p:nvSpPr>
        <p:spPr>
          <a:xfrm rot="0">
            <a:off x="1795626" y="1958472"/>
            <a:ext cx="2573824" cy="487647"/>
          </a:xfrm>
          <a:prstGeom prst="rect">
            <a:avLst/>
          </a:prstGeom>
        </p:spPr>
        <p:txBody>
          <a:bodyPr anchor="t" rtlCol="false" tIns="0" lIns="0" bIns="0" rIns="0">
            <a:spAutoFit/>
          </a:bodyPr>
          <a:lstStyle/>
          <a:p>
            <a:pPr algn="l">
              <a:lnSpc>
                <a:spcPts val="3062"/>
              </a:lnSpc>
            </a:pPr>
            <a:r>
              <a:rPr lang="en-US" sz="2295" b="true">
                <a:solidFill>
                  <a:srgbClr val="FFFFFF"/>
                </a:solidFill>
                <a:latin typeface="Calibri (MS) Bold"/>
                <a:ea typeface="Calibri (MS) Bold"/>
                <a:cs typeface="Calibri (MS) Bold"/>
                <a:sym typeface="Calibri (MS) Bold"/>
              </a:rPr>
              <a:t>1  Sense</a:t>
            </a:r>
          </a:p>
        </p:txBody>
      </p:sp>
      <p:sp>
        <p:nvSpPr>
          <p:cNvPr name="TextBox 9" id="9"/>
          <p:cNvSpPr txBox="true"/>
          <p:nvPr/>
        </p:nvSpPr>
        <p:spPr>
          <a:xfrm rot="0">
            <a:off x="1795626" y="2452635"/>
            <a:ext cx="2573824" cy="1228893"/>
          </a:xfrm>
          <a:prstGeom prst="rect">
            <a:avLst/>
          </a:prstGeom>
        </p:spPr>
        <p:txBody>
          <a:bodyPr anchor="t" rtlCol="false" tIns="0" lIns="0" bIns="0" rIns="0">
            <a:spAutoFit/>
          </a:bodyPr>
          <a:lstStyle/>
          <a:p>
            <a:pPr algn="l">
              <a:lnSpc>
                <a:spcPts val="2341"/>
              </a:lnSpc>
            </a:pPr>
            <a:r>
              <a:rPr lang="en-US" sz="1755">
                <a:solidFill>
                  <a:srgbClr val="FFFFFF"/>
                </a:solidFill>
                <a:latin typeface="Calibri (MS)"/>
                <a:ea typeface="Calibri (MS)"/>
                <a:cs typeface="Calibri (MS)"/>
                <a:sym typeface="Calibri (MS)"/>
              </a:rPr>
              <a:t>DHT11, soil probe and rain sensor read the field</a:t>
            </a:r>
          </a:p>
        </p:txBody>
      </p:sp>
      <p:sp>
        <p:nvSpPr>
          <p:cNvPr name="TextBox 10" id="10"/>
          <p:cNvSpPr txBox="true"/>
          <p:nvPr/>
        </p:nvSpPr>
        <p:spPr>
          <a:xfrm rot="0">
            <a:off x="4513512" y="2373725"/>
            <a:ext cx="164789" cy="628329"/>
          </a:xfrm>
          <a:prstGeom prst="rect">
            <a:avLst/>
          </a:prstGeom>
        </p:spPr>
        <p:txBody>
          <a:bodyPr anchor="t" rtlCol="false" tIns="0" lIns="0" bIns="0" rIns="0">
            <a:spAutoFit/>
          </a:bodyPr>
          <a:lstStyle/>
          <a:p>
            <a:pPr algn="l">
              <a:lnSpc>
                <a:spcPts val="3963"/>
              </a:lnSpc>
            </a:pPr>
            <a:r>
              <a:rPr lang="en-US" sz="2971" b="true">
                <a:solidFill>
                  <a:srgbClr val="5B6B62"/>
                </a:solidFill>
                <a:latin typeface="Calibri (MS) Bold"/>
                <a:ea typeface="Calibri (MS) Bold"/>
                <a:cs typeface="Calibri (MS) Bold"/>
                <a:sym typeface="Calibri (MS) Bold"/>
              </a:rPr>
              <a:t>&gt;</a:t>
            </a:r>
          </a:p>
        </p:txBody>
      </p:sp>
      <p:grpSp>
        <p:nvGrpSpPr>
          <p:cNvPr name="Group 11" id="11"/>
          <p:cNvGrpSpPr/>
          <p:nvPr/>
        </p:nvGrpSpPr>
        <p:grpSpPr>
          <a:xfrm rot="0">
            <a:off x="4682382" y="1914882"/>
            <a:ext cx="2841432" cy="1791335"/>
            <a:chOff x="0" y="0"/>
            <a:chExt cx="4209529" cy="2653830"/>
          </a:xfrm>
        </p:grpSpPr>
        <p:sp>
          <p:nvSpPr>
            <p:cNvPr name="Freeform 12" id="12"/>
            <p:cNvSpPr/>
            <p:nvPr/>
          </p:nvSpPr>
          <p:spPr>
            <a:xfrm flipH="false" flipV="false" rot="0">
              <a:off x="0" y="0"/>
              <a:ext cx="4209542" cy="2653919"/>
            </a:xfrm>
            <a:custGeom>
              <a:avLst/>
              <a:gdLst/>
              <a:ahLst/>
              <a:cxnLst/>
              <a:rect r="r" b="b" t="t" l="l"/>
              <a:pathLst>
                <a:path h="2653919" w="4209542">
                  <a:moveTo>
                    <a:pt x="0" y="159258"/>
                  </a:moveTo>
                  <a:cubicBezTo>
                    <a:pt x="0" y="71247"/>
                    <a:pt x="71247" y="0"/>
                    <a:pt x="159258" y="0"/>
                  </a:cubicBezTo>
                  <a:lnTo>
                    <a:pt x="4050284" y="0"/>
                  </a:lnTo>
                  <a:cubicBezTo>
                    <a:pt x="4138168" y="0"/>
                    <a:pt x="4209542" y="71247"/>
                    <a:pt x="4209542" y="159258"/>
                  </a:cubicBezTo>
                  <a:lnTo>
                    <a:pt x="4209542" y="2494661"/>
                  </a:lnTo>
                  <a:cubicBezTo>
                    <a:pt x="4209542" y="2582545"/>
                    <a:pt x="4138295" y="2653919"/>
                    <a:pt x="4050284" y="2653919"/>
                  </a:cubicBezTo>
                  <a:lnTo>
                    <a:pt x="159258" y="2653919"/>
                  </a:lnTo>
                  <a:cubicBezTo>
                    <a:pt x="71247" y="2653792"/>
                    <a:pt x="0" y="2582545"/>
                    <a:pt x="0" y="2494661"/>
                  </a:cubicBezTo>
                  <a:close/>
                </a:path>
              </a:pathLst>
            </a:custGeom>
            <a:solidFill>
              <a:srgbClr val="2D7FC1"/>
            </a:solidFill>
          </p:spPr>
        </p:sp>
      </p:grpSp>
      <p:sp>
        <p:nvSpPr>
          <p:cNvPr name="TextBox 13" id="13"/>
          <p:cNvSpPr txBox="true"/>
          <p:nvPr/>
        </p:nvSpPr>
        <p:spPr>
          <a:xfrm rot="0">
            <a:off x="4822362" y="1958472"/>
            <a:ext cx="2573824" cy="487647"/>
          </a:xfrm>
          <a:prstGeom prst="rect">
            <a:avLst/>
          </a:prstGeom>
        </p:spPr>
        <p:txBody>
          <a:bodyPr anchor="t" rtlCol="false" tIns="0" lIns="0" bIns="0" rIns="0">
            <a:spAutoFit/>
          </a:bodyPr>
          <a:lstStyle/>
          <a:p>
            <a:pPr algn="l">
              <a:lnSpc>
                <a:spcPts val="3062"/>
              </a:lnSpc>
            </a:pPr>
            <a:r>
              <a:rPr lang="en-US" sz="2295" b="true">
                <a:solidFill>
                  <a:srgbClr val="FFFFFF"/>
                </a:solidFill>
                <a:latin typeface="Calibri (MS) Bold"/>
                <a:ea typeface="Calibri (MS) Bold"/>
                <a:cs typeface="Calibri (MS) Bold"/>
                <a:sym typeface="Calibri (MS) Bold"/>
              </a:rPr>
              <a:t>2  Send</a:t>
            </a:r>
          </a:p>
        </p:txBody>
      </p:sp>
      <p:sp>
        <p:nvSpPr>
          <p:cNvPr name="TextBox 14" id="14"/>
          <p:cNvSpPr txBox="true"/>
          <p:nvPr/>
        </p:nvSpPr>
        <p:spPr>
          <a:xfrm rot="0">
            <a:off x="4822362" y="2452635"/>
            <a:ext cx="2573824" cy="1228893"/>
          </a:xfrm>
          <a:prstGeom prst="rect">
            <a:avLst/>
          </a:prstGeom>
        </p:spPr>
        <p:txBody>
          <a:bodyPr anchor="t" rtlCol="false" tIns="0" lIns="0" bIns="0" rIns="0">
            <a:spAutoFit/>
          </a:bodyPr>
          <a:lstStyle/>
          <a:p>
            <a:pPr algn="l">
              <a:lnSpc>
                <a:spcPts val="2341"/>
              </a:lnSpc>
            </a:pPr>
            <a:r>
              <a:rPr lang="en-US" sz="1755">
                <a:solidFill>
                  <a:srgbClr val="FFFFFF"/>
                </a:solidFill>
                <a:latin typeface="Calibri (MS)"/>
                <a:ea typeface="Calibri (MS)"/>
                <a:cs typeface="Calibri (MS)"/>
                <a:sym typeface="Calibri (MS)"/>
              </a:rPr>
              <a:t>ESP board sends one line per second over USB</a:t>
            </a:r>
          </a:p>
        </p:txBody>
      </p:sp>
      <p:sp>
        <p:nvSpPr>
          <p:cNvPr name="TextBox 15" id="15"/>
          <p:cNvSpPr txBox="true"/>
          <p:nvPr/>
        </p:nvSpPr>
        <p:spPr>
          <a:xfrm rot="0">
            <a:off x="7540256" y="2373725"/>
            <a:ext cx="164789" cy="628329"/>
          </a:xfrm>
          <a:prstGeom prst="rect">
            <a:avLst/>
          </a:prstGeom>
        </p:spPr>
        <p:txBody>
          <a:bodyPr anchor="t" rtlCol="false" tIns="0" lIns="0" bIns="0" rIns="0">
            <a:spAutoFit/>
          </a:bodyPr>
          <a:lstStyle/>
          <a:p>
            <a:pPr algn="l">
              <a:lnSpc>
                <a:spcPts val="3963"/>
              </a:lnSpc>
            </a:pPr>
            <a:r>
              <a:rPr lang="en-US" sz="2971" b="true">
                <a:solidFill>
                  <a:srgbClr val="5B6B62"/>
                </a:solidFill>
                <a:latin typeface="Calibri (MS) Bold"/>
                <a:ea typeface="Calibri (MS) Bold"/>
                <a:cs typeface="Calibri (MS) Bold"/>
                <a:sym typeface="Calibri (MS) Bold"/>
              </a:rPr>
              <a:t>&gt;</a:t>
            </a:r>
          </a:p>
        </p:txBody>
      </p:sp>
      <p:grpSp>
        <p:nvGrpSpPr>
          <p:cNvPr name="Group 16" id="16"/>
          <p:cNvGrpSpPr/>
          <p:nvPr/>
        </p:nvGrpSpPr>
        <p:grpSpPr>
          <a:xfrm rot="0">
            <a:off x="7709126" y="1914882"/>
            <a:ext cx="2841432" cy="1791335"/>
            <a:chOff x="0" y="0"/>
            <a:chExt cx="4209529" cy="2653830"/>
          </a:xfrm>
        </p:grpSpPr>
        <p:sp>
          <p:nvSpPr>
            <p:cNvPr name="Freeform 17" id="17"/>
            <p:cNvSpPr/>
            <p:nvPr/>
          </p:nvSpPr>
          <p:spPr>
            <a:xfrm flipH="false" flipV="false" rot="0">
              <a:off x="0" y="0"/>
              <a:ext cx="4209542" cy="2653919"/>
            </a:xfrm>
            <a:custGeom>
              <a:avLst/>
              <a:gdLst/>
              <a:ahLst/>
              <a:cxnLst/>
              <a:rect r="r" b="b" t="t" l="l"/>
              <a:pathLst>
                <a:path h="2653919" w="4209542">
                  <a:moveTo>
                    <a:pt x="0" y="159258"/>
                  </a:moveTo>
                  <a:cubicBezTo>
                    <a:pt x="0" y="71247"/>
                    <a:pt x="71247" y="0"/>
                    <a:pt x="159258" y="0"/>
                  </a:cubicBezTo>
                  <a:lnTo>
                    <a:pt x="4050284" y="0"/>
                  </a:lnTo>
                  <a:cubicBezTo>
                    <a:pt x="4138168" y="0"/>
                    <a:pt x="4209542" y="71247"/>
                    <a:pt x="4209542" y="159258"/>
                  </a:cubicBezTo>
                  <a:lnTo>
                    <a:pt x="4209542" y="2494661"/>
                  </a:lnTo>
                  <a:cubicBezTo>
                    <a:pt x="4209542" y="2582545"/>
                    <a:pt x="4138295" y="2653919"/>
                    <a:pt x="4050284" y="2653919"/>
                  </a:cubicBezTo>
                  <a:lnTo>
                    <a:pt x="159258" y="2653919"/>
                  </a:lnTo>
                  <a:cubicBezTo>
                    <a:pt x="71247" y="2653792"/>
                    <a:pt x="0" y="2582545"/>
                    <a:pt x="0" y="2494661"/>
                  </a:cubicBezTo>
                  <a:close/>
                </a:path>
              </a:pathLst>
            </a:custGeom>
            <a:solidFill>
              <a:srgbClr val="14342B"/>
            </a:solidFill>
          </p:spPr>
        </p:sp>
      </p:grpSp>
      <p:sp>
        <p:nvSpPr>
          <p:cNvPr name="TextBox 18" id="18"/>
          <p:cNvSpPr txBox="true"/>
          <p:nvPr/>
        </p:nvSpPr>
        <p:spPr>
          <a:xfrm rot="0">
            <a:off x="7849107" y="1958472"/>
            <a:ext cx="2573824" cy="487647"/>
          </a:xfrm>
          <a:prstGeom prst="rect">
            <a:avLst/>
          </a:prstGeom>
        </p:spPr>
        <p:txBody>
          <a:bodyPr anchor="t" rtlCol="false" tIns="0" lIns="0" bIns="0" rIns="0">
            <a:spAutoFit/>
          </a:bodyPr>
          <a:lstStyle/>
          <a:p>
            <a:pPr algn="l">
              <a:lnSpc>
                <a:spcPts val="3062"/>
              </a:lnSpc>
            </a:pPr>
            <a:r>
              <a:rPr lang="en-US" sz="2295" b="true">
                <a:solidFill>
                  <a:srgbClr val="FFFFFF"/>
                </a:solidFill>
                <a:latin typeface="Calibri (MS) Bold"/>
                <a:ea typeface="Calibri (MS) Bold"/>
                <a:cs typeface="Calibri (MS) Bold"/>
                <a:sym typeface="Calibri (MS) Bold"/>
              </a:rPr>
              <a:t>3  Decide</a:t>
            </a:r>
          </a:p>
        </p:txBody>
      </p:sp>
      <p:sp>
        <p:nvSpPr>
          <p:cNvPr name="TextBox 19" id="19"/>
          <p:cNvSpPr txBox="true"/>
          <p:nvPr/>
        </p:nvSpPr>
        <p:spPr>
          <a:xfrm rot="0">
            <a:off x="7849107" y="2452635"/>
            <a:ext cx="2573824" cy="1228893"/>
          </a:xfrm>
          <a:prstGeom prst="rect">
            <a:avLst/>
          </a:prstGeom>
        </p:spPr>
        <p:txBody>
          <a:bodyPr anchor="t" rtlCol="false" tIns="0" lIns="0" bIns="0" rIns="0">
            <a:spAutoFit/>
          </a:bodyPr>
          <a:lstStyle/>
          <a:p>
            <a:pPr algn="l">
              <a:lnSpc>
                <a:spcPts val="2341"/>
              </a:lnSpc>
            </a:pPr>
            <a:r>
              <a:rPr lang="en-US" sz="1755">
                <a:solidFill>
                  <a:srgbClr val="FFFFFF"/>
                </a:solidFill>
                <a:latin typeface="Calibri (MS)"/>
                <a:ea typeface="Calibri (MS)"/>
                <a:cs typeface="Calibri (MS)"/>
                <a:sym typeface="Calibri (MS)"/>
              </a:rPr>
              <a:t>MATLAB picks the best panel angle (rules + search)</a:t>
            </a:r>
          </a:p>
        </p:txBody>
      </p:sp>
      <p:sp>
        <p:nvSpPr>
          <p:cNvPr name="TextBox 20" id="20"/>
          <p:cNvSpPr txBox="true"/>
          <p:nvPr/>
        </p:nvSpPr>
        <p:spPr>
          <a:xfrm rot="0">
            <a:off x="10567000" y="2373725"/>
            <a:ext cx="164789" cy="628329"/>
          </a:xfrm>
          <a:prstGeom prst="rect">
            <a:avLst/>
          </a:prstGeom>
        </p:spPr>
        <p:txBody>
          <a:bodyPr anchor="t" rtlCol="false" tIns="0" lIns="0" bIns="0" rIns="0">
            <a:spAutoFit/>
          </a:bodyPr>
          <a:lstStyle/>
          <a:p>
            <a:pPr algn="l">
              <a:lnSpc>
                <a:spcPts val="3963"/>
              </a:lnSpc>
            </a:pPr>
            <a:r>
              <a:rPr lang="en-US" sz="2971" b="true">
                <a:solidFill>
                  <a:srgbClr val="5B6B62"/>
                </a:solidFill>
                <a:latin typeface="Calibri (MS) Bold"/>
                <a:ea typeface="Calibri (MS) Bold"/>
                <a:cs typeface="Calibri (MS) Bold"/>
                <a:sym typeface="Calibri (MS) Bold"/>
              </a:rPr>
              <a:t>&gt;</a:t>
            </a:r>
          </a:p>
        </p:txBody>
      </p:sp>
      <p:grpSp>
        <p:nvGrpSpPr>
          <p:cNvPr name="Group 21" id="21"/>
          <p:cNvGrpSpPr/>
          <p:nvPr/>
        </p:nvGrpSpPr>
        <p:grpSpPr>
          <a:xfrm rot="0">
            <a:off x="10735870" y="1914882"/>
            <a:ext cx="2841432" cy="1791335"/>
            <a:chOff x="0" y="0"/>
            <a:chExt cx="4209529" cy="2653830"/>
          </a:xfrm>
        </p:grpSpPr>
        <p:sp>
          <p:nvSpPr>
            <p:cNvPr name="Freeform 22" id="22"/>
            <p:cNvSpPr/>
            <p:nvPr/>
          </p:nvSpPr>
          <p:spPr>
            <a:xfrm flipH="false" flipV="false" rot="0">
              <a:off x="0" y="0"/>
              <a:ext cx="4209542" cy="2653919"/>
            </a:xfrm>
            <a:custGeom>
              <a:avLst/>
              <a:gdLst/>
              <a:ahLst/>
              <a:cxnLst/>
              <a:rect r="r" b="b" t="t" l="l"/>
              <a:pathLst>
                <a:path h="2653919" w="4209542">
                  <a:moveTo>
                    <a:pt x="0" y="159258"/>
                  </a:moveTo>
                  <a:cubicBezTo>
                    <a:pt x="0" y="71247"/>
                    <a:pt x="71247" y="0"/>
                    <a:pt x="159258" y="0"/>
                  </a:cubicBezTo>
                  <a:lnTo>
                    <a:pt x="4050284" y="0"/>
                  </a:lnTo>
                  <a:cubicBezTo>
                    <a:pt x="4138168" y="0"/>
                    <a:pt x="4209542" y="71247"/>
                    <a:pt x="4209542" y="159258"/>
                  </a:cubicBezTo>
                  <a:lnTo>
                    <a:pt x="4209542" y="2494661"/>
                  </a:lnTo>
                  <a:cubicBezTo>
                    <a:pt x="4209542" y="2582545"/>
                    <a:pt x="4138295" y="2653919"/>
                    <a:pt x="4050284" y="2653919"/>
                  </a:cubicBezTo>
                  <a:lnTo>
                    <a:pt x="159258" y="2653919"/>
                  </a:lnTo>
                  <a:cubicBezTo>
                    <a:pt x="71247" y="2653792"/>
                    <a:pt x="0" y="2582545"/>
                    <a:pt x="0" y="2494661"/>
                  </a:cubicBezTo>
                  <a:close/>
                </a:path>
              </a:pathLst>
            </a:custGeom>
            <a:solidFill>
              <a:srgbClr val="C07A00"/>
            </a:solidFill>
          </p:spPr>
        </p:sp>
      </p:grpSp>
      <p:sp>
        <p:nvSpPr>
          <p:cNvPr name="TextBox 23" id="23"/>
          <p:cNvSpPr txBox="true"/>
          <p:nvPr/>
        </p:nvSpPr>
        <p:spPr>
          <a:xfrm rot="0">
            <a:off x="10875851" y="1958472"/>
            <a:ext cx="2573824" cy="487647"/>
          </a:xfrm>
          <a:prstGeom prst="rect">
            <a:avLst/>
          </a:prstGeom>
        </p:spPr>
        <p:txBody>
          <a:bodyPr anchor="t" rtlCol="false" tIns="0" lIns="0" bIns="0" rIns="0">
            <a:spAutoFit/>
          </a:bodyPr>
          <a:lstStyle/>
          <a:p>
            <a:pPr algn="l">
              <a:lnSpc>
                <a:spcPts val="3062"/>
              </a:lnSpc>
            </a:pPr>
            <a:r>
              <a:rPr lang="en-US" sz="2295" b="true">
                <a:solidFill>
                  <a:srgbClr val="FFFFFF"/>
                </a:solidFill>
                <a:latin typeface="Calibri (MS) Bold"/>
                <a:ea typeface="Calibri (MS) Bold"/>
                <a:cs typeface="Calibri (MS) Bold"/>
                <a:sym typeface="Calibri (MS) Bold"/>
              </a:rPr>
              <a:t>4  Act</a:t>
            </a:r>
          </a:p>
        </p:txBody>
      </p:sp>
      <p:sp>
        <p:nvSpPr>
          <p:cNvPr name="TextBox 24" id="24"/>
          <p:cNvSpPr txBox="true"/>
          <p:nvPr/>
        </p:nvSpPr>
        <p:spPr>
          <a:xfrm rot="0">
            <a:off x="10875851" y="2452635"/>
            <a:ext cx="2573824" cy="1228893"/>
          </a:xfrm>
          <a:prstGeom prst="rect">
            <a:avLst/>
          </a:prstGeom>
        </p:spPr>
        <p:txBody>
          <a:bodyPr anchor="t" rtlCol="false" tIns="0" lIns="0" bIns="0" rIns="0">
            <a:spAutoFit/>
          </a:bodyPr>
          <a:lstStyle/>
          <a:p>
            <a:pPr algn="l">
              <a:lnSpc>
                <a:spcPts val="2341"/>
              </a:lnSpc>
            </a:pPr>
            <a:r>
              <a:rPr lang="en-US" sz="1755">
                <a:solidFill>
                  <a:srgbClr val="FFFFFF"/>
                </a:solidFill>
                <a:latin typeface="Calibri (MS)"/>
                <a:ea typeface="Calibri (MS)"/>
                <a:cs typeface="Calibri (MS)"/>
                <a:sym typeface="Calibri (MS)"/>
              </a:rPr>
              <a:t>Panel angle, irrigation pump and MPPT voltage</a:t>
            </a:r>
          </a:p>
        </p:txBody>
      </p:sp>
      <p:sp>
        <p:nvSpPr>
          <p:cNvPr name="TextBox 25" id="25"/>
          <p:cNvSpPr txBox="true"/>
          <p:nvPr/>
        </p:nvSpPr>
        <p:spPr>
          <a:xfrm rot="0">
            <a:off x="13593744" y="2373725"/>
            <a:ext cx="164789" cy="628329"/>
          </a:xfrm>
          <a:prstGeom prst="rect">
            <a:avLst/>
          </a:prstGeom>
        </p:spPr>
        <p:txBody>
          <a:bodyPr anchor="t" rtlCol="false" tIns="0" lIns="0" bIns="0" rIns="0">
            <a:spAutoFit/>
          </a:bodyPr>
          <a:lstStyle/>
          <a:p>
            <a:pPr algn="l">
              <a:lnSpc>
                <a:spcPts val="3963"/>
              </a:lnSpc>
            </a:pPr>
            <a:r>
              <a:rPr lang="en-US" sz="2971" b="true">
                <a:solidFill>
                  <a:srgbClr val="5B6B62"/>
                </a:solidFill>
                <a:latin typeface="Calibri (MS) Bold"/>
                <a:ea typeface="Calibri (MS) Bold"/>
                <a:cs typeface="Calibri (MS) Bold"/>
                <a:sym typeface="Calibri (MS) Bold"/>
              </a:rPr>
              <a:t>&gt;</a:t>
            </a:r>
          </a:p>
        </p:txBody>
      </p:sp>
      <p:grpSp>
        <p:nvGrpSpPr>
          <p:cNvPr name="Group 26" id="26"/>
          <p:cNvGrpSpPr/>
          <p:nvPr/>
        </p:nvGrpSpPr>
        <p:grpSpPr>
          <a:xfrm rot="0">
            <a:off x="13762614" y="1914882"/>
            <a:ext cx="2841432" cy="1791335"/>
            <a:chOff x="0" y="0"/>
            <a:chExt cx="4209529" cy="2653830"/>
          </a:xfrm>
        </p:grpSpPr>
        <p:sp>
          <p:nvSpPr>
            <p:cNvPr name="Freeform 27" id="27"/>
            <p:cNvSpPr/>
            <p:nvPr/>
          </p:nvSpPr>
          <p:spPr>
            <a:xfrm flipH="false" flipV="false" rot="0">
              <a:off x="0" y="0"/>
              <a:ext cx="4209542" cy="2653919"/>
            </a:xfrm>
            <a:custGeom>
              <a:avLst/>
              <a:gdLst/>
              <a:ahLst/>
              <a:cxnLst/>
              <a:rect r="r" b="b" t="t" l="l"/>
              <a:pathLst>
                <a:path h="2653919" w="4209542">
                  <a:moveTo>
                    <a:pt x="0" y="159258"/>
                  </a:moveTo>
                  <a:cubicBezTo>
                    <a:pt x="0" y="71247"/>
                    <a:pt x="71247" y="0"/>
                    <a:pt x="159258" y="0"/>
                  </a:cubicBezTo>
                  <a:lnTo>
                    <a:pt x="4050284" y="0"/>
                  </a:lnTo>
                  <a:cubicBezTo>
                    <a:pt x="4138168" y="0"/>
                    <a:pt x="4209542" y="71247"/>
                    <a:pt x="4209542" y="159258"/>
                  </a:cubicBezTo>
                  <a:lnTo>
                    <a:pt x="4209542" y="2494661"/>
                  </a:lnTo>
                  <a:cubicBezTo>
                    <a:pt x="4209542" y="2582545"/>
                    <a:pt x="4138295" y="2653919"/>
                    <a:pt x="4050284" y="2653919"/>
                  </a:cubicBezTo>
                  <a:lnTo>
                    <a:pt x="159258" y="2653919"/>
                  </a:lnTo>
                  <a:cubicBezTo>
                    <a:pt x="71247" y="2653792"/>
                    <a:pt x="0" y="2582545"/>
                    <a:pt x="0" y="2494661"/>
                  </a:cubicBezTo>
                  <a:close/>
                </a:path>
              </a:pathLst>
            </a:custGeom>
            <a:solidFill>
              <a:srgbClr val="5B6B62"/>
            </a:solidFill>
          </p:spPr>
        </p:sp>
      </p:grpSp>
      <p:sp>
        <p:nvSpPr>
          <p:cNvPr name="TextBox 28" id="28"/>
          <p:cNvSpPr txBox="true"/>
          <p:nvPr/>
        </p:nvSpPr>
        <p:spPr>
          <a:xfrm rot="0">
            <a:off x="13902594" y="1958472"/>
            <a:ext cx="2573824" cy="487647"/>
          </a:xfrm>
          <a:prstGeom prst="rect">
            <a:avLst/>
          </a:prstGeom>
        </p:spPr>
        <p:txBody>
          <a:bodyPr anchor="t" rtlCol="false" tIns="0" lIns="0" bIns="0" rIns="0">
            <a:spAutoFit/>
          </a:bodyPr>
          <a:lstStyle/>
          <a:p>
            <a:pPr algn="l">
              <a:lnSpc>
                <a:spcPts val="3062"/>
              </a:lnSpc>
            </a:pPr>
            <a:r>
              <a:rPr lang="en-US" sz="2295" b="true">
                <a:solidFill>
                  <a:srgbClr val="FFFFFF"/>
                </a:solidFill>
                <a:latin typeface="Calibri (MS) Bold"/>
                <a:ea typeface="Calibri (MS) Bold"/>
                <a:cs typeface="Calibri (MS) Bold"/>
                <a:sym typeface="Calibri (MS) Bold"/>
              </a:rPr>
              <a:t>5  Show</a:t>
            </a:r>
          </a:p>
        </p:txBody>
      </p:sp>
      <p:sp>
        <p:nvSpPr>
          <p:cNvPr name="TextBox 29" id="29"/>
          <p:cNvSpPr txBox="true"/>
          <p:nvPr/>
        </p:nvSpPr>
        <p:spPr>
          <a:xfrm rot="0">
            <a:off x="13902594" y="2452635"/>
            <a:ext cx="2573824" cy="1228893"/>
          </a:xfrm>
          <a:prstGeom prst="rect">
            <a:avLst/>
          </a:prstGeom>
        </p:spPr>
        <p:txBody>
          <a:bodyPr anchor="t" rtlCol="false" tIns="0" lIns="0" bIns="0" rIns="0">
            <a:spAutoFit/>
          </a:bodyPr>
          <a:lstStyle/>
          <a:p>
            <a:pPr algn="l">
              <a:lnSpc>
                <a:spcPts val="2341"/>
              </a:lnSpc>
            </a:pPr>
            <a:r>
              <a:rPr lang="en-US" sz="1755">
                <a:solidFill>
                  <a:srgbClr val="FFFFFF"/>
                </a:solidFill>
                <a:latin typeface="Calibri (MS)"/>
                <a:ea typeface="Calibri (MS)"/>
                <a:cs typeface="Calibri (MS)"/>
                <a:sym typeface="Calibri (MS)"/>
              </a:rPr>
              <a:t>Dashboard shows numbers, graphs and the reason in words</a:t>
            </a:r>
          </a:p>
        </p:txBody>
      </p:sp>
      <p:graphicFrame>
        <p:nvGraphicFramePr>
          <p:cNvPr name="Table 30" id="30"/>
          <p:cNvGraphicFramePr>
            <a:graphicFrameLocks noGrp="true"/>
          </p:cNvGraphicFramePr>
          <p:nvPr/>
        </p:nvGraphicFramePr>
        <p:xfrm>
          <a:off x="1655642" y="3953296"/>
          <a:ext cx="14927811" cy="3723370"/>
        </p:xfrm>
        <a:graphic>
          <a:graphicData uri="http://schemas.openxmlformats.org/drawingml/2006/table">
            <a:tbl>
              <a:tblPr/>
              <a:tblGrid>
                <a:gridCol w="3084258"/>
                <a:gridCol w="3701110"/>
                <a:gridCol w="1110333"/>
                <a:gridCol w="7032110"/>
              </a:tblGrid>
              <a:tr h="531910">
                <a:tc>
                  <a:txBody>
                    <a:bodyPr anchor="t" rtlCol="false"/>
                    <a:lstStyle/>
                    <a:p>
                      <a:pPr algn="l">
                        <a:lnSpc>
                          <a:spcPts val="2251"/>
                        </a:lnSpc>
                        <a:defRPr/>
                      </a:pPr>
                      <a:r>
                        <a:rPr lang="en-US" sz="1688" b="true">
                          <a:solidFill>
                            <a:srgbClr val="FFFFFF"/>
                          </a:solidFill>
                          <a:latin typeface="Calibri (MS) Bold"/>
                          <a:ea typeface="Calibri (MS) Bold"/>
                          <a:cs typeface="Calibri (MS) Bold"/>
                          <a:sym typeface="Calibri (MS) Bold"/>
                        </a:rPr>
                        <a:t>Input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251"/>
                        </a:lnSpc>
                        <a:defRPr/>
                      </a:pPr>
                      <a:r>
                        <a:rPr lang="en-US" sz="1688" b="true">
                          <a:solidFill>
                            <a:srgbClr val="FFFFFF"/>
                          </a:solidFill>
                          <a:latin typeface="Calibri (MS) Bold"/>
                          <a:ea typeface="Calibri (MS) Bold"/>
                          <a:cs typeface="Calibri (MS) Bold"/>
                          <a:sym typeface="Calibri (MS) Bold"/>
                        </a:rPr>
                        <a:t>Where it comes from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251"/>
                        </a:lnSpc>
                        <a:defRPr/>
                      </a:pPr>
                      <a:r>
                        <a:rPr lang="en-US" sz="1688" b="true">
                          <a:solidFill>
                            <a:srgbClr val="FFFFFF"/>
                          </a:solidFill>
                          <a:latin typeface="Calibri (MS) Bold"/>
                          <a:ea typeface="Calibri (MS) Bold"/>
                          <a:cs typeface="Calibri (MS) Bold"/>
                          <a:sym typeface="Calibri (MS) Bold"/>
                        </a:rPr>
                        <a:t>Status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251"/>
                        </a:lnSpc>
                        <a:defRPr/>
                      </a:pPr>
                      <a:r>
                        <a:rPr lang="en-US" sz="1688" b="true">
                          <a:solidFill>
                            <a:srgbClr val="FFFFFF"/>
                          </a:solidFill>
                          <a:latin typeface="Calibri (MS) Bold"/>
                          <a:ea typeface="Calibri (MS) Bold"/>
                          <a:cs typeface="Calibri (MS) Bold"/>
                          <a:sym typeface="Calibri (MS) Bold"/>
                        </a:rPr>
                        <a:t>Proof / how</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r>
              <a:tr h="531910">
                <a:tc>
                  <a:txBody>
                    <a:bodyPr anchor="t" rtlCol="false"/>
                    <a:lstStyle/>
                    <a:p>
                      <a:pPr algn="l">
                        <a:lnSpc>
                          <a:spcPts val="2251"/>
                        </a:lnSpc>
                        <a:defRPr/>
                      </a:pPr>
                      <a:r>
                        <a:rPr lang="en-US" sz="1688" b="true">
                          <a:solidFill>
                            <a:srgbClr val="1B2A22"/>
                          </a:solidFill>
                          <a:latin typeface="Calibri (MS) Bold"/>
                          <a:ea typeface="Calibri (MS) Bold"/>
                          <a:cs typeface="Calibri (MS) Bold"/>
                          <a:sym typeface="Calibri (MS) Bold"/>
                        </a:rPr>
                        <a:t>Air temperature, humidity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DHT11 on the ESP board</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688" b="true">
                          <a:solidFill>
                            <a:srgbClr val="4E9A2E"/>
                          </a:solidFill>
                          <a:latin typeface="Calibri (MS) Bold"/>
                          <a:ea typeface="Calibri (MS) Bold"/>
                          <a:cs typeface="Calibri (MS) Bold"/>
                          <a:sym typeface="Calibri (MS) Bold"/>
                        </a:rPr>
                        <a:t>REAL</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datasheet accuracy: 2 C and 5 % RH; checked against a thermometer on the day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31910">
                <a:tc>
                  <a:txBody>
                    <a:bodyPr anchor="t" rtlCol="false"/>
                    <a:lstStyle/>
                    <a:p>
                      <a:pPr algn="l">
                        <a:lnSpc>
                          <a:spcPts val="2251"/>
                        </a:lnSpc>
                        <a:defRPr/>
                      </a:pPr>
                      <a:r>
                        <a:rPr lang="en-US" sz="1688" b="true">
                          <a:solidFill>
                            <a:srgbClr val="1B2A22"/>
                          </a:solidFill>
                          <a:latin typeface="Calibri (MS) Bold"/>
                          <a:ea typeface="Calibri (MS) Bold"/>
                          <a:cs typeface="Calibri (MS) Bold"/>
                          <a:sym typeface="Calibri (MS) Bold"/>
                        </a:rPr>
                        <a:t>Soil moisture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soil probe -&gt; analog pin</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688" b="true">
                          <a:solidFill>
                            <a:srgbClr val="4E9A2E"/>
                          </a:solidFill>
                          <a:latin typeface="Calibri (MS) Bold"/>
                          <a:ea typeface="Calibri (MS) Bold"/>
                          <a:cs typeface="Calibri (MS) Bold"/>
                          <a:sym typeface="Calibri (MS) Bold"/>
                        </a:rPr>
                        <a:t>REAL</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two-point calibration: dry in air = 0 %, wet in water = 100 %</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r h="531910">
                <a:tc>
                  <a:txBody>
                    <a:bodyPr anchor="t" rtlCol="false"/>
                    <a:lstStyle/>
                    <a:p>
                      <a:pPr algn="l">
                        <a:lnSpc>
                          <a:spcPts val="2251"/>
                        </a:lnSpc>
                        <a:defRPr/>
                      </a:pPr>
                      <a:r>
                        <a:rPr lang="en-US" sz="1688" b="true">
                          <a:solidFill>
                            <a:srgbClr val="1B2A22"/>
                          </a:solidFill>
                          <a:latin typeface="Calibri (MS) Bold"/>
                          <a:ea typeface="Calibri (MS) Bold"/>
                          <a:cs typeface="Calibri (MS) Bold"/>
                          <a:sym typeface="Calibri (MS) Bold"/>
                        </a:rPr>
                        <a:t>Rain</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rain sensor module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688" b="true">
                          <a:solidFill>
                            <a:srgbClr val="4E9A2E"/>
                          </a:solidFill>
                          <a:latin typeface="Calibri (MS) Bold"/>
                          <a:ea typeface="Calibri (MS) Bold"/>
                          <a:cs typeface="Calibri (MS) Bold"/>
                          <a:sym typeface="Calibri (MS) Bold"/>
                        </a:rPr>
                        <a:t>REAL</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wet plate gives rain = 1; sets the 3 degree slope for harvesting</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31910">
                <a:tc>
                  <a:txBody>
                    <a:bodyPr anchor="t" rtlCol="false"/>
                    <a:lstStyle/>
                    <a:p>
                      <a:pPr algn="l">
                        <a:lnSpc>
                          <a:spcPts val="2251"/>
                        </a:lnSpc>
                        <a:defRPr/>
                      </a:pPr>
                      <a:r>
                        <a:rPr lang="en-US" sz="1688" b="true">
                          <a:solidFill>
                            <a:srgbClr val="1B2A22"/>
                          </a:solidFill>
                          <a:latin typeface="Calibri (MS) Bold"/>
                          <a:ea typeface="Calibri (MS) Bold"/>
                          <a:cs typeface="Calibri (MS) Bold"/>
                          <a:sym typeface="Calibri (MS) Bold"/>
                        </a:rPr>
                        <a:t>Sunlight (pyranometer)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scroll bar, or sun model</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688" b="true">
                          <a:solidFill>
                            <a:srgbClr val="C07A00"/>
                          </a:solidFill>
                          <a:latin typeface="Calibri (MS) Bold"/>
                          <a:ea typeface="Calibri (MS) Bold"/>
                          <a:cs typeface="Calibri (MS) Bold"/>
                          <a:sym typeface="Calibri (MS) Bold"/>
                        </a:rPr>
                        <a:t>SIM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sun position from date, time and latitude; clearness index  from NASA POWER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r h="531910">
                <a:tc>
                  <a:txBody>
                    <a:bodyPr anchor="t" rtlCol="false"/>
                    <a:lstStyle/>
                    <a:p>
                      <a:pPr algn="l">
                        <a:lnSpc>
                          <a:spcPts val="2251"/>
                        </a:lnSpc>
                        <a:defRPr/>
                      </a:pPr>
                      <a:r>
                        <a:rPr lang="en-US" sz="1688" b="true">
                          <a:solidFill>
                            <a:srgbClr val="1B2A22"/>
                          </a:solidFill>
                          <a:latin typeface="Calibri (MS) Bold"/>
                          <a:ea typeface="Calibri (MS) Bold"/>
                          <a:cs typeface="Calibri (MS) Bold"/>
                          <a:sym typeface="Calibri (MS) Bold"/>
                        </a:rPr>
                        <a:t>Plant light (PAR)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scroll bar, or 0.45 x 4.57 x sunlight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688" b="true">
                          <a:solidFill>
                            <a:srgbClr val="C07A00"/>
                          </a:solidFill>
                          <a:latin typeface="Calibri (MS) Bold"/>
                          <a:ea typeface="Calibri (MS) Bold"/>
                          <a:cs typeface="Calibri (MS) Bold"/>
                          <a:sym typeface="Calibri (MS) Bold"/>
                        </a:rPr>
                        <a:t>SIM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about 45 % of sunlight is PAR; 4.57 micromol per joule (standard conversion)</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531910">
                <a:tc>
                  <a:txBody>
                    <a:bodyPr anchor="t" rtlCol="false"/>
                    <a:lstStyle/>
                    <a:p>
                      <a:pPr algn="l">
                        <a:lnSpc>
                          <a:spcPts val="2251"/>
                        </a:lnSpc>
                        <a:defRPr/>
                      </a:pPr>
                      <a:r>
                        <a:rPr lang="en-US" sz="1688" b="true">
                          <a:solidFill>
                            <a:srgbClr val="1B2A22"/>
                          </a:solidFill>
                          <a:latin typeface="Calibri (MS) Bold"/>
                          <a:ea typeface="Calibri (MS) Bold"/>
                          <a:cs typeface="Calibri (MS) Bold"/>
                          <a:sym typeface="Calibri (MS) Bold"/>
                        </a:rPr>
                        <a:t>Wind</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scroll bar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688" b="true">
                          <a:solidFill>
                            <a:srgbClr val="C07A00"/>
                          </a:solidFill>
                          <a:latin typeface="Calibri (MS) Bold"/>
                          <a:ea typeface="Calibri (MS) Bold"/>
                          <a:cs typeface="Calibri (MS) Bold"/>
                          <a:sym typeface="Calibri (MS) Bold"/>
                        </a:rPr>
                        <a:t>SIM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safety rule: 15 m/s or more turns the panels edge-on (90 degrees)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bl>
          </a:graphicData>
        </a:graphic>
      </p:graphicFrame>
      <p:grpSp>
        <p:nvGrpSpPr>
          <p:cNvPr name="Group 2" id="2"/>
          <p:cNvGrpSpPr/>
          <p:nvPr/>
        </p:nvGrpSpPr>
        <p:grpSpPr>
          <a:xfrm rot="0">
            <a:off x="2286000" y="9601200"/>
            <a:ext cx="13716000" cy="685800"/>
            <a:chOff x="0" y="0"/>
            <a:chExt cx="13004800" cy="650240"/>
          </a:xfrm>
        </p:grpSpPr>
        <p:sp>
          <p:nvSpPr>
            <p:cNvPr name="Freeform 3" id="3"/>
            <p:cNvSpPr/>
            <p:nvPr/>
          </p:nvSpPr>
          <p:spPr>
            <a:xfrm flipH="false" flipV="false" rot="0">
              <a:off x="0" y="0"/>
              <a:ext cx="13004800" cy="650240"/>
            </a:xfrm>
            <a:custGeom>
              <a:avLst/>
              <a:gdLst/>
              <a:ahLst/>
              <a:cxnLst/>
              <a:rect r="r" b="b" t="t" l="l"/>
              <a:pathLst>
                <a:path h="650240" w="13004800">
                  <a:moveTo>
                    <a:pt x="0" y="0"/>
                  </a:moveTo>
                  <a:lnTo>
                    <a:pt x="13004800" y="0"/>
                  </a:lnTo>
                  <a:lnTo>
                    <a:pt x="13004800" y="650240"/>
                  </a:lnTo>
                  <a:lnTo>
                    <a:pt x="0" y="650240"/>
                  </a:lnTo>
                  <a:close/>
                </a:path>
              </a:pathLst>
            </a:custGeom>
            <a:solidFill>
              <a:srgbClr val="BD582C"/>
            </a:solidFill>
          </p:spPr>
        </p:sp>
      </p:grpSp>
      <p:grpSp>
        <p:nvGrpSpPr>
          <p:cNvPr name="Group 4" id="4"/>
          <p:cNvGrpSpPr/>
          <p:nvPr/>
        </p:nvGrpSpPr>
        <p:grpSpPr>
          <a:xfrm rot="0">
            <a:off x="2286000" y="9501478"/>
            <a:ext cx="13716000" cy="98986"/>
            <a:chOff x="0" y="0"/>
            <a:chExt cx="13004800" cy="93853"/>
          </a:xfrm>
        </p:grpSpPr>
        <p:sp>
          <p:nvSpPr>
            <p:cNvPr name="Freeform 5" id="5"/>
            <p:cNvSpPr/>
            <p:nvPr/>
          </p:nvSpPr>
          <p:spPr>
            <a:xfrm flipH="false" flipV="false" rot="0">
              <a:off x="0" y="0"/>
              <a:ext cx="13004800" cy="93853"/>
            </a:xfrm>
            <a:custGeom>
              <a:avLst/>
              <a:gdLst/>
              <a:ahLst/>
              <a:cxnLst/>
              <a:rect r="r" b="b" t="t" l="l"/>
              <a:pathLst>
                <a:path h="93853" w="13004800">
                  <a:moveTo>
                    <a:pt x="0" y="0"/>
                  </a:moveTo>
                  <a:lnTo>
                    <a:pt x="13004800" y="0"/>
                  </a:lnTo>
                  <a:lnTo>
                    <a:pt x="13004800" y="93853"/>
                  </a:lnTo>
                  <a:lnTo>
                    <a:pt x="0" y="93853"/>
                  </a:lnTo>
                  <a:close/>
                </a:path>
              </a:pathLst>
            </a:custGeom>
            <a:solidFill>
              <a:srgbClr val="E48312"/>
            </a:solidFill>
          </p:spPr>
        </p:sp>
      </p:grpSp>
      <p:grpSp>
        <p:nvGrpSpPr>
          <p:cNvPr name="Group 7" id="7"/>
          <p:cNvGrpSpPr/>
          <p:nvPr/>
        </p:nvGrpSpPr>
        <p:grpSpPr>
          <a:xfrm rot="0">
            <a:off x="2289576" y="9601200"/>
            <a:ext cx="13712383" cy="685800"/>
            <a:chOff x="0" y="0"/>
            <a:chExt cx="13001371" cy="650240"/>
          </a:xfrm>
        </p:grpSpPr>
        <p:sp>
          <p:nvSpPr>
            <p:cNvPr name="Freeform 8" id="8"/>
            <p:cNvSpPr/>
            <p:nvPr/>
          </p:nvSpPr>
          <p:spPr>
            <a:xfrm flipH="false" flipV="false" rot="0">
              <a:off x="0" y="0"/>
              <a:ext cx="13001371" cy="650240"/>
            </a:xfrm>
            <a:custGeom>
              <a:avLst/>
              <a:gdLst/>
              <a:ahLst/>
              <a:cxnLst/>
              <a:rect r="r" b="b" t="t" l="l"/>
              <a:pathLst>
                <a:path h="650240" w="13001371">
                  <a:moveTo>
                    <a:pt x="0" y="0"/>
                  </a:moveTo>
                  <a:lnTo>
                    <a:pt x="13001371" y="0"/>
                  </a:lnTo>
                  <a:lnTo>
                    <a:pt x="13001371" y="650240"/>
                  </a:lnTo>
                  <a:lnTo>
                    <a:pt x="0" y="650240"/>
                  </a:lnTo>
                  <a:close/>
                </a:path>
              </a:pathLst>
            </a:custGeom>
            <a:solidFill>
              <a:srgbClr val="BD582C"/>
            </a:solidFill>
          </p:spPr>
        </p:sp>
      </p:grpSp>
      <p:grpSp>
        <p:nvGrpSpPr>
          <p:cNvPr name="Group 9" id="9"/>
          <p:cNvGrpSpPr/>
          <p:nvPr/>
        </p:nvGrpSpPr>
        <p:grpSpPr>
          <a:xfrm rot="0">
            <a:off x="2286013" y="9501478"/>
            <a:ext cx="13712383" cy="96039"/>
            <a:chOff x="0" y="0"/>
            <a:chExt cx="13001371" cy="91059"/>
          </a:xfrm>
        </p:grpSpPr>
        <p:sp>
          <p:nvSpPr>
            <p:cNvPr name="Freeform 10" id="10"/>
            <p:cNvSpPr/>
            <p:nvPr/>
          </p:nvSpPr>
          <p:spPr>
            <a:xfrm flipH="false" flipV="false" rot="0">
              <a:off x="0" y="0"/>
              <a:ext cx="13001371" cy="91059"/>
            </a:xfrm>
            <a:custGeom>
              <a:avLst/>
              <a:gdLst/>
              <a:ahLst/>
              <a:cxnLst/>
              <a:rect r="r" b="b" t="t" l="l"/>
              <a:pathLst>
                <a:path h="91059" w="13001371">
                  <a:moveTo>
                    <a:pt x="0" y="0"/>
                  </a:moveTo>
                  <a:lnTo>
                    <a:pt x="13001371" y="0"/>
                  </a:lnTo>
                  <a:lnTo>
                    <a:pt x="13001371" y="91059"/>
                  </a:lnTo>
                  <a:lnTo>
                    <a:pt x="0" y="91059"/>
                  </a:lnTo>
                  <a:close/>
                </a:path>
              </a:pathLst>
            </a:custGeom>
            <a:solidFill>
              <a:srgbClr val="E48312"/>
            </a:solidFill>
          </p:spPr>
        </p:sp>
      </p:grpSp>
      <p:grpSp>
        <p:nvGrpSpPr>
          <p:cNvPr name="Group 17" id="17"/>
          <p:cNvGrpSpPr/>
          <p:nvPr/>
        </p:nvGrpSpPr>
        <p:grpSpPr>
          <a:xfrm rot="0">
            <a:off x="6432960" y="9689684"/>
            <a:ext cx="5425656" cy="547689"/>
            <a:chOff x="0" y="0"/>
            <a:chExt cx="5144326" cy="519290"/>
          </a:xfrm>
        </p:grpSpPr>
        <p:sp>
          <p:nvSpPr>
            <p:cNvPr name="Freeform 18" id="18"/>
            <p:cNvSpPr/>
            <p:nvPr/>
          </p:nvSpPr>
          <p:spPr>
            <a:xfrm flipH="false" flipV="false" rot="0">
              <a:off x="0" y="0"/>
              <a:ext cx="5144262" cy="519303"/>
            </a:xfrm>
            <a:custGeom>
              <a:avLst/>
              <a:gdLst/>
              <a:ahLst/>
              <a:cxnLst/>
              <a:rect r="r" b="b" t="t" l="l"/>
              <a:pathLst>
                <a:path h="519303" w="5144262">
                  <a:moveTo>
                    <a:pt x="0" y="0"/>
                  </a:moveTo>
                  <a:lnTo>
                    <a:pt x="5144262" y="0"/>
                  </a:lnTo>
                  <a:lnTo>
                    <a:pt x="5144262" y="519303"/>
                  </a:lnTo>
                  <a:lnTo>
                    <a:pt x="0" y="519303"/>
                  </a:lnTo>
                  <a:close/>
                </a:path>
              </a:pathLst>
            </a:custGeom>
            <a:blipFill>
              <a:blip r:embed="rId3">
                <a:alphaModFix amt="0"/>
              </a:blip>
              <a:stretch>
                <a:fillRect l="0" t="-142890" r="-1" b="-142885"/>
              </a:stretch>
            </a:blipFill>
          </p:spPr>
        </p:sp>
      </p:grpSp>
      <p:grpSp>
        <p:nvGrpSpPr>
          <p:cNvPr name="Group 19" id="19"/>
          <p:cNvGrpSpPr/>
          <p:nvPr/>
        </p:nvGrpSpPr>
        <p:grpSpPr>
          <a:xfrm rot="0">
            <a:off x="6432960" y="9669592"/>
            <a:ext cx="5425656" cy="567781"/>
            <a:chOff x="0" y="0"/>
            <a:chExt cx="5144326" cy="538341"/>
          </a:xfrm>
        </p:grpSpPr>
        <p:sp>
          <p:nvSpPr>
            <p:cNvPr name="Freeform 20" id="20"/>
            <p:cNvSpPr/>
            <p:nvPr/>
          </p:nvSpPr>
          <p:spPr>
            <a:xfrm flipH="false" flipV="false" rot="0">
              <a:off x="0" y="0"/>
              <a:ext cx="5144326" cy="538341"/>
            </a:xfrm>
            <a:custGeom>
              <a:avLst/>
              <a:gdLst/>
              <a:ahLst/>
              <a:cxnLst/>
              <a:rect r="r" b="b" t="t" l="l"/>
              <a:pathLst>
                <a:path h="538341" w="5144326">
                  <a:moveTo>
                    <a:pt x="0" y="0"/>
                  </a:moveTo>
                  <a:lnTo>
                    <a:pt x="5144326" y="0"/>
                  </a:lnTo>
                  <a:lnTo>
                    <a:pt x="5144326" y="538341"/>
                  </a:lnTo>
                  <a:lnTo>
                    <a:pt x="0" y="538341"/>
                  </a:lnTo>
                  <a:close/>
                </a:path>
              </a:pathLst>
            </a:custGeom>
            <a:blipFill>
              <a:blip r:embed="rId4">
                <a:alphaModFix amt="0"/>
              </a:blip>
              <a:stretch>
                <a:fillRect l="0" t="-136196" r="0" b="-136196"/>
              </a:stretch>
            </a:blipFill>
          </p:spPr>
        </p:sp>
        <p:sp>
          <p:nvSpPr>
            <p:cNvPr name="TextBox 21" id="21"/>
            <p:cNvSpPr txBox="true"/>
            <p:nvPr/>
          </p:nvSpPr>
          <p:spPr>
            <a:xfrm>
              <a:off x="0" y="-28575"/>
              <a:ext cx="5144326" cy="566916"/>
            </a:xfrm>
            <a:prstGeom prst="rect">
              <a:avLst/>
            </a:prstGeom>
          </p:spPr>
          <p:txBody>
            <a:bodyPr anchor="ctr" rtlCol="false" tIns="0" lIns="0" bIns="0" rIns="0"/>
            <a:lstStyle/>
            <a:p>
              <a:pPr algn="ctr">
                <a:lnSpc>
                  <a:spcPts val="1620"/>
                </a:lnSpc>
              </a:pPr>
              <a:r>
                <a:rPr lang="en-US" sz="1350">
                  <a:solidFill>
                    <a:srgbClr val="FFFFFF"/>
                  </a:solidFill>
                  <a:latin typeface="Calibri (MS)"/>
                  <a:ea typeface="Calibri (MS)"/>
                  <a:cs typeface="Calibri (MS)"/>
                  <a:sym typeface="Calibri (MS)"/>
                </a:rPr>
                <a:t>TCE - EEE - 22EE690 - Project </a:t>
              </a:r>
            </a:p>
          </p:txBody>
        </p:sp>
      </p:grpSp>
      <p:grpSp>
        <p:nvGrpSpPr>
          <p:cNvPr name="Group 22" id="22"/>
          <p:cNvGrpSpPr/>
          <p:nvPr/>
        </p:nvGrpSpPr>
        <p:grpSpPr>
          <a:xfrm rot="0">
            <a:off x="13424022" y="9689684"/>
            <a:ext cx="1476024" cy="547689"/>
            <a:chOff x="0" y="0"/>
            <a:chExt cx="1399489" cy="519290"/>
          </a:xfrm>
        </p:grpSpPr>
        <p:sp>
          <p:nvSpPr>
            <p:cNvPr name="Freeform 23" id="23"/>
            <p:cNvSpPr/>
            <p:nvPr/>
          </p:nvSpPr>
          <p:spPr>
            <a:xfrm flipH="false" flipV="false" rot="0">
              <a:off x="0" y="0"/>
              <a:ext cx="1399540" cy="519303"/>
            </a:xfrm>
            <a:custGeom>
              <a:avLst/>
              <a:gdLst/>
              <a:ahLst/>
              <a:cxnLst/>
              <a:rect r="r" b="b" t="t" l="l"/>
              <a:pathLst>
                <a:path h="519303" w="1399540">
                  <a:moveTo>
                    <a:pt x="0" y="0"/>
                  </a:moveTo>
                  <a:lnTo>
                    <a:pt x="1399540" y="0"/>
                  </a:lnTo>
                  <a:lnTo>
                    <a:pt x="1399540" y="519303"/>
                  </a:lnTo>
                  <a:lnTo>
                    <a:pt x="0" y="519303"/>
                  </a:lnTo>
                  <a:close/>
                </a:path>
              </a:pathLst>
            </a:custGeom>
            <a:blipFill>
              <a:blip r:embed="rId3">
                <a:alphaModFix amt="0"/>
              </a:blip>
              <a:stretch>
                <a:fillRect l="0" t="-2474" r="3" b="-2474"/>
              </a:stretch>
            </a:blipFill>
          </p:spPr>
        </p:sp>
      </p:grpSp>
      <p:grpSp>
        <p:nvGrpSpPr>
          <p:cNvPr name="Group 24" id="24"/>
          <p:cNvGrpSpPr/>
          <p:nvPr/>
        </p:nvGrpSpPr>
        <p:grpSpPr>
          <a:xfrm rot="0">
            <a:off x="13424022" y="9659547"/>
            <a:ext cx="1476024" cy="577827"/>
            <a:chOff x="0" y="0"/>
            <a:chExt cx="1399489" cy="547865"/>
          </a:xfrm>
        </p:grpSpPr>
        <p:sp>
          <p:nvSpPr>
            <p:cNvPr name="Freeform 25" id="25"/>
            <p:cNvSpPr/>
            <p:nvPr/>
          </p:nvSpPr>
          <p:spPr>
            <a:xfrm flipH="false" flipV="false" rot="0">
              <a:off x="0" y="0"/>
              <a:ext cx="1399489" cy="547866"/>
            </a:xfrm>
            <a:custGeom>
              <a:avLst/>
              <a:gdLst/>
              <a:ahLst/>
              <a:cxnLst/>
              <a:rect r="r" b="b" t="t" l="l"/>
              <a:pathLst>
                <a:path h="547866" w="1399489">
                  <a:moveTo>
                    <a:pt x="0" y="0"/>
                  </a:moveTo>
                  <a:lnTo>
                    <a:pt x="1399489" y="0"/>
                  </a:lnTo>
                  <a:lnTo>
                    <a:pt x="1399489" y="547866"/>
                  </a:lnTo>
                  <a:lnTo>
                    <a:pt x="0" y="547866"/>
                  </a:lnTo>
                  <a:close/>
                </a:path>
              </a:pathLst>
            </a:custGeom>
            <a:blipFill>
              <a:blip r:embed="rId4">
                <a:alphaModFix amt="0"/>
              </a:blip>
              <a:stretch>
                <a:fillRect l="-227" t="0" r="-227" b="0"/>
              </a:stretch>
            </a:blipFill>
          </p:spPr>
        </p:sp>
        <p:sp>
          <p:nvSpPr>
            <p:cNvPr name="TextBox 26" id="26"/>
            <p:cNvSpPr txBox="true"/>
            <p:nvPr/>
          </p:nvSpPr>
          <p:spPr>
            <a:xfrm>
              <a:off x="0" y="-19050"/>
              <a:ext cx="1399489" cy="566915"/>
            </a:xfrm>
            <a:prstGeom prst="rect">
              <a:avLst/>
            </a:prstGeom>
          </p:spPr>
          <p:txBody>
            <a:bodyPr anchor="ctr" rtlCol="false" tIns="0" lIns="0" bIns="0" rIns="0"/>
            <a:lstStyle/>
            <a:p>
              <a:pPr algn="r">
                <a:lnSpc>
                  <a:spcPts val="1889"/>
                </a:lnSpc>
              </a:pPr>
              <a:r>
                <a:rPr lang="en-US" sz="1575">
                  <a:solidFill>
                    <a:srgbClr val="FFFFFF"/>
                  </a:solidFill>
                  <a:latin typeface="Calibri (MS)"/>
                  <a:ea typeface="Calibri (MS)"/>
                  <a:cs typeface="Calibri (MS)"/>
                  <a:sym typeface="Calibri (M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7F2"/>
        </a:solidFill>
      </p:bgPr>
    </p:bg>
    <p:spTree>
      <p:nvGrpSpPr>
        <p:cNvPr id="1" name=""/>
        <p:cNvGrpSpPr/>
        <p:nvPr/>
      </p:nvGrpSpPr>
      <p:grpSpPr>
        <a:xfrm>
          <a:off x="0" y="0"/>
          <a:ext cx="0" cy="0"/>
          <a:chOff x="0" y="0"/>
          <a:chExt cx="0" cy="0"/>
        </a:xfrm>
      </p:grpSpPr>
      <p:grpSp>
        <p:nvGrpSpPr>
          <p:cNvPr name="Group 2" id="2"/>
          <p:cNvGrpSpPr/>
          <p:nvPr/>
        </p:nvGrpSpPr>
        <p:grpSpPr>
          <a:xfrm rot="0">
            <a:off x="1655647" y="370623"/>
            <a:ext cx="14948399" cy="92655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sp>
        <p:sp>
          <p:nvSpPr>
            <p:cNvPr name="TextBox 4" id="4"/>
            <p:cNvSpPr txBox="true"/>
            <p:nvPr/>
          </p:nvSpPr>
          <p:spPr>
            <a:xfrm>
              <a:off x="0" y="0"/>
              <a:ext cx="22145777" cy="1372667"/>
            </a:xfrm>
            <a:prstGeom prst="rect">
              <a:avLst/>
            </a:prstGeom>
          </p:spPr>
          <p:txBody>
            <a:bodyPr anchor="ctr" rtlCol="false" tIns="0" lIns="0" bIns="0" rIns="0"/>
            <a:lstStyle/>
            <a:p>
              <a:pPr algn="l">
                <a:lnSpc>
                  <a:spcPts val="4683"/>
                </a:lnSpc>
              </a:pPr>
              <a:r>
                <a:rPr lang="en-US" sz="3512" b="true">
                  <a:solidFill>
                    <a:srgbClr val="14342B"/>
                  </a:solidFill>
                  <a:latin typeface="Cambria Bold"/>
                  <a:ea typeface="Cambria Bold"/>
                  <a:cs typeface="Cambria Bold"/>
                  <a:sym typeface="Cambria Bold"/>
                </a:rPr>
                <a:t>The two simulated sensors: scroll bars, and can we trust them?</a:t>
              </a:r>
            </a:p>
          </p:txBody>
        </p:sp>
      </p:grpSp>
      <p:sp>
        <p:nvSpPr>
          <p:cNvPr name="TextBox 5" id="5"/>
          <p:cNvSpPr txBox="true"/>
          <p:nvPr/>
        </p:nvSpPr>
        <p:spPr>
          <a:xfrm rot="0">
            <a:off x="1696795" y="1250513"/>
            <a:ext cx="14866103" cy="503780"/>
          </a:xfrm>
          <a:prstGeom prst="rect">
            <a:avLst/>
          </a:prstGeom>
        </p:spPr>
        <p:txBody>
          <a:bodyPr anchor="t" rtlCol="false" tIns="0" lIns="0" bIns="0" rIns="0">
            <a:spAutoFit/>
          </a:bodyPr>
          <a:lstStyle/>
          <a:p>
            <a:pPr algn="l">
              <a:lnSpc>
                <a:spcPts val="2882"/>
              </a:lnSpc>
            </a:pPr>
            <a:r>
              <a:rPr lang="en-US" sz="2160">
                <a:solidFill>
                  <a:srgbClr val="5B6B62"/>
                </a:solidFill>
                <a:latin typeface="Calibri (MS)"/>
                <a:ea typeface="Calibri (MS)"/>
                <a:cs typeface="Calibri (MS)"/>
                <a:sym typeface="Calibri (MS)"/>
              </a:rPr>
              <a:t>Move the scroll bar and watch the angle, the electricity and the irrigation react</a:t>
            </a:r>
          </a:p>
        </p:txBody>
      </p:sp>
      <p:grpSp>
        <p:nvGrpSpPr>
          <p:cNvPr name="Group 6" id="6"/>
          <p:cNvGrpSpPr/>
          <p:nvPr/>
        </p:nvGrpSpPr>
        <p:grpSpPr>
          <a:xfrm rot="0">
            <a:off x="1655647" y="1946394"/>
            <a:ext cx="7906597" cy="4322657"/>
            <a:chOff x="0" y="0"/>
            <a:chExt cx="11713477" cy="6403937"/>
          </a:xfrm>
        </p:grpSpPr>
        <p:sp>
          <p:nvSpPr>
            <p:cNvPr name="Freeform 7" id="7" descr="dashboard_v2_manual_cloudy.png"/>
            <p:cNvSpPr/>
            <p:nvPr/>
          </p:nvSpPr>
          <p:spPr>
            <a:xfrm flipH="false" flipV="false" rot="0">
              <a:off x="0" y="0"/>
              <a:ext cx="11713464" cy="6403975"/>
            </a:xfrm>
            <a:custGeom>
              <a:avLst/>
              <a:gdLst/>
              <a:ahLst/>
              <a:cxnLst/>
              <a:rect r="r" b="b" t="t" l="l"/>
              <a:pathLst>
                <a:path h="6403975" w="11713464">
                  <a:moveTo>
                    <a:pt x="0" y="0"/>
                  </a:moveTo>
                  <a:lnTo>
                    <a:pt x="11713464" y="0"/>
                  </a:lnTo>
                  <a:lnTo>
                    <a:pt x="11713464" y="6403975"/>
                  </a:lnTo>
                  <a:lnTo>
                    <a:pt x="0" y="6403975"/>
                  </a:lnTo>
                  <a:lnTo>
                    <a:pt x="0" y="0"/>
                  </a:lnTo>
                  <a:close/>
                </a:path>
              </a:pathLst>
            </a:custGeom>
            <a:blipFill>
              <a:blip r:embed="rId4"/>
              <a:stretch>
                <a:fillRect l="0" t="0" r="0" b="0"/>
              </a:stretch>
            </a:blipFill>
          </p:spPr>
        </p:sp>
      </p:grpSp>
      <p:grpSp>
        <p:nvGrpSpPr>
          <p:cNvPr name="Group 8" id="8"/>
          <p:cNvGrpSpPr/>
          <p:nvPr/>
        </p:nvGrpSpPr>
        <p:grpSpPr>
          <a:xfrm rot="0">
            <a:off x="1644922" y="6784002"/>
            <a:ext cx="7928045" cy="2121633"/>
            <a:chOff x="0" y="0"/>
            <a:chExt cx="11745252" cy="3143161"/>
          </a:xfrm>
        </p:grpSpPr>
        <p:sp>
          <p:nvSpPr>
            <p:cNvPr name="Freeform 9" id="9"/>
            <p:cNvSpPr/>
            <p:nvPr/>
          </p:nvSpPr>
          <p:spPr>
            <a:xfrm flipH="false" flipV="false" rot="0">
              <a:off x="0" y="0"/>
              <a:ext cx="11745213" cy="3143123"/>
            </a:xfrm>
            <a:custGeom>
              <a:avLst/>
              <a:gdLst/>
              <a:ahLst/>
              <a:cxnLst/>
              <a:rect r="r" b="b" t="t" l="l"/>
              <a:pathLst>
                <a:path h="3143123" w="11745213">
                  <a:moveTo>
                    <a:pt x="0" y="188595"/>
                  </a:moveTo>
                  <a:cubicBezTo>
                    <a:pt x="0" y="84455"/>
                    <a:pt x="84455" y="0"/>
                    <a:pt x="188595" y="0"/>
                  </a:cubicBezTo>
                  <a:lnTo>
                    <a:pt x="11556619" y="0"/>
                  </a:lnTo>
                  <a:cubicBezTo>
                    <a:pt x="11660759" y="0"/>
                    <a:pt x="11745213" y="84455"/>
                    <a:pt x="11745213" y="188595"/>
                  </a:cubicBezTo>
                  <a:lnTo>
                    <a:pt x="11745213" y="2954528"/>
                  </a:lnTo>
                  <a:cubicBezTo>
                    <a:pt x="11745213" y="3058668"/>
                    <a:pt x="11660759" y="3143123"/>
                    <a:pt x="11556619" y="3143123"/>
                  </a:cubicBezTo>
                  <a:lnTo>
                    <a:pt x="188595" y="3143123"/>
                  </a:lnTo>
                  <a:cubicBezTo>
                    <a:pt x="84455" y="3143123"/>
                    <a:pt x="0" y="3058668"/>
                    <a:pt x="0" y="2954528"/>
                  </a:cubicBezTo>
                  <a:close/>
                </a:path>
              </a:pathLst>
            </a:custGeom>
            <a:solidFill>
              <a:srgbClr val="FFF6DC"/>
            </a:solidFill>
            <a:ln w="23831" cap="sq">
              <a:solidFill>
                <a:srgbClr val="E8A317"/>
              </a:solidFill>
              <a:prstDash val="solid"/>
              <a:miter/>
            </a:ln>
          </p:spPr>
        </p:sp>
      </p:grpSp>
      <p:sp>
        <p:nvSpPr>
          <p:cNvPr name="TextBox 10" id="10"/>
          <p:cNvSpPr txBox="true"/>
          <p:nvPr/>
        </p:nvSpPr>
        <p:spPr>
          <a:xfrm rot="0">
            <a:off x="1845039" y="6859251"/>
            <a:ext cx="7527803" cy="355536"/>
          </a:xfrm>
          <a:prstGeom prst="rect">
            <a:avLst/>
          </a:prstGeom>
        </p:spPr>
        <p:txBody>
          <a:bodyPr anchor="t" rtlCol="false" tIns="0" lIns="0" bIns="0" rIns="0">
            <a:spAutoFit/>
          </a:bodyPr>
          <a:lstStyle/>
          <a:p>
            <a:pPr algn="l">
              <a:lnSpc>
                <a:spcPts val="2251"/>
              </a:lnSpc>
            </a:pPr>
            <a:r>
              <a:rPr lang="en-US" sz="1688" b="true">
                <a:solidFill>
                  <a:srgbClr val="8A5A00"/>
                </a:solidFill>
                <a:latin typeface="Calibri (MS) Bold"/>
                <a:ea typeface="Calibri (MS) Bold"/>
                <a:cs typeface="Calibri (MS) Bold"/>
                <a:sym typeface="Calibri (MS) Bold"/>
              </a:rPr>
              <a:t>PROOF: how it works and where it comes from</a:t>
            </a:r>
          </a:p>
        </p:txBody>
      </p:sp>
      <p:sp>
        <p:nvSpPr>
          <p:cNvPr name="TextBox 11" id="11"/>
          <p:cNvSpPr txBox="true"/>
          <p:nvPr/>
        </p:nvSpPr>
        <p:spPr>
          <a:xfrm rot="0">
            <a:off x="1886187" y="7271040"/>
            <a:ext cx="7445507" cy="1533312"/>
          </a:xfrm>
          <a:prstGeom prst="rect">
            <a:avLst/>
          </a:prstGeom>
        </p:spPr>
        <p:txBody>
          <a:bodyPr anchor="t" rtlCol="false" tIns="0" lIns="0" bIns="0" rIns="0">
            <a:spAutoFit/>
          </a:bodyPr>
          <a:lstStyle/>
          <a:p>
            <a:pPr algn="l">
              <a:lnSpc>
                <a:spcPts val="2161"/>
              </a:lnSpc>
            </a:pPr>
            <a:r>
              <a:rPr lang="en-US" sz="1620">
                <a:solidFill>
                  <a:srgbClr val="1B2A22"/>
                </a:solidFill>
                <a:latin typeface="Calibri (MS)"/>
                <a:ea typeface="Calibri (MS)"/>
                <a:cs typeface="Calibri (MS)"/>
                <a:sym typeface="Calibri (MS)"/>
              </a:rPr>
              <a:t>•  Sun position: standard solar equations; sky clearness for TCE: NASA POWER monthly data</a:t>
            </a:r>
          </a:p>
          <a:p>
            <a:pPr algn="l">
              <a:lnSpc>
                <a:spcPts val="2161"/>
              </a:lnSpc>
            </a:pPr>
            <a:r>
              <a:rPr lang="en-US" sz="1620">
                <a:solidFill>
                  <a:srgbClr val="1B2A22"/>
                </a:solidFill>
                <a:latin typeface="Calibri (MS)"/>
                <a:ea typeface="Calibri (MS)"/>
                <a:cs typeface="Calibri (MS)"/>
                <a:sym typeface="Calibri (MS)"/>
              </a:rPr>
              <a:t>•  PAR = 0.45 x 4.57 x sunlight (standard conversion); the dashboard flags it if PAR / sunlight is far from 2.06</a:t>
            </a:r>
          </a:p>
          <a:p>
            <a:pPr algn="l">
              <a:lnSpc>
                <a:spcPts val="2161"/>
              </a:lnSpc>
            </a:pPr>
            <a:r>
              <a:rPr lang="en-US" sz="1620">
                <a:solidFill>
                  <a:srgbClr val="1B2A22"/>
                </a:solidFill>
                <a:latin typeface="Calibri (MS)"/>
                <a:ea typeface="Calibri (MS)"/>
                <a:cs typeface="Calibri (MS)"/>
                <a:sym typeface="Calibri (MS)"/>
              </a:rPr>
              <a:t>•  Same equations were checked against the PVGIS service: +5.0 % per year</a:t>
            </a:r>
          </a:p>
        </p:txBody>
      </p:sp>
      <p:sp>
        <p:nvSpPr>
          <p:cNvPr name="TextBox 12" id="12"/>
          <p:cNvSpPr txBox="true"/>
          <p:nvPr/>
        </p:nvSpPr>
        <p:spPr>
          <a:xfrm rot="0">
            <a:off x="10015155" y="1851394"/>
            <a:ext cx="6568369" cy="2863772"/>
          </a:xfrm>
          <a:prstGeom prst="rect">
            <a:avLst/>
          </a:prstGeom>
        </p:spPr>
        <p:txBody>
          <a:bodyPr anchor="t" rtlCol="false" tIns="0" lIns="0" bIns="0" rIns="0">
            <a:spAutoFit/>
          </a:bodyPr>
          <a:lstStyle/>
          <a:p>
            <a:pPr algn="l">
              <a:lnSpc>
                <a:spcPts val="2521"/>
              </a:lnSpc>
            </a:pPr>
            <a:r>
              <a:rPr lang="en-US" sz="1890" b="true">
                <a:solidFill>
                  <a:srgbClr val="1B2A22"/>
                </a:solidFill>
                <a:latin typeface="Calibri (MS) Bold"/>
                <a:ea typeface="Calibri (MS) Bold"/>
                <a:cs typeface="Calibri (MS) Bold"/>
                <a:sym typeface="Calibri (MS) Bold"/>
              </a:rPr>
              <a:t>•  Dim sky (300 W/m2): </a:t>
            </a:r>
            <a:r>
              <a:rPr lang="en-US" sz="1890">
                <a:solidFill>
                  <a:srgbClr val="1B2A22"/>
                </a:solidFill>
                <a:latin typeface="Calibri (MS)"/>
                <a:ea typeface="Calibri (MS)"/>
                <a:cs typeface="Calibri (MS)"/>
                <a:sym typeface="Calibri (MS)"/>
              </a:rPr>
              <a:t>panels go steep (55.5 degrees) to give crops light; electricity 36 W/m2</a:t>
            </a:r>
          </a:p>
          <a:p>
            <a:pPr algn="l">
              <a:lnSpc>
                <a:spcPts val="2521"/>
              </a:lnSpc>
            </a:pPr>
            <a:r>
              <a:rPr lang="en-US" sz="1890" b="true">
                <a:solidFill>
                  <a:srgbClr val="1B2A22"/>
                </a:solidFill>
                <a:latin typeface="Calibri (MS) Bold"/>
                <a:ea typeface="Calibri (MS) Bold"/>
                <a:cs typeface="Calibri (MS) Bold"/>
                <a:sym typeface="Calibri (MS) Bold"/>
              </a:rPr>
              <a:t>•  Bright sky (1000 W/m2): </a:t>
            </a:r>
            <a:r>
              <a:rPr lang="en-US" sz="1890">
                <a:solidFill>
                  <a:srgbClr val="1B2A22"/>
                </a:solidFill>
                <a:latin typeface="Calibri (MS)"/>
                <a:ea typeface="Calibri (MS)"/>
                <a:cs typeface="Calibri (MS)"/>
                <a:sym typeface="Calibri (MS)"/>
              </a:rPr>
              <a:t>flatter (39.5 degrees); electricity 124 W/m2</a:t>
            </a:r>
          </a:p>
          <a:p>
            <a:pPr algn="l">
              <a:lnSpc>
                <a:spcPts val="2521"/>
              </a:lnSpc>
            </a:pPr>
            <a:r>
              <a:rPr lang="en-US" sz="1890" b="true">
                <a:solidFill>
                  <a:srgbClr val="1B2A22"/>
                </a:solidFill>
                <a:latin typeface="Calibri (MS) Bold"/>
                <a:ea typeface="Calibri (MS) Bold"/>
                <a:cs typeface="Calibri (MS) Bold"/>
                <a:sym typeface="Calibri (MS) Bold"/>
              </a:rPr>
              <a:t>•  Real sensors later: </a:t>
            </a:r>
            <a:r>
              <a:rPr lang="en-US" sz="1890">
                <a:solidFill>
                  <a:srgbClr val="1B2A22"/>
                </a:solidFill>
                <a:latin typeface="Calibri (MS)"/>
                <a:ea typeface="Calibri (MS)"/>
                <a:cs typeface="Calibri (MS)"/>
                <a:sym typeface="Calibri (MS)"/>
              </a:rPr>
              <a:t>the serial line takes two extra numbers and replaces the simulated ones</a:t>
            </a:r>
          </a:p>
        </p:txBody>
      </p:sp>
      <p:pic>
        <p:nvPicPr>
          <p:cNvPr name="Picture 13" id="13"/>
          <p:cNvPicPr>
            <a:picLocks noChangeAspect="true"/>
          </p:cNvPicPr>
          <p:nvPr/>
        </p:nvPicPr>
        <p:blipFill>
          <a:blip r:embed="rId5"/>
          <a:stretch>
            <a:fillRect/>
          </a:stretch>
        </p:blipFill>
        <p:spPr>
          <a:xfrm rot="0">
            <a:off x="9259561" y="4083013"/>
            <a:ext cx="8079550" cy="5485199"/>
          </a:xfrm>
          <a:prstGeom prst="rect">
            <a:avLst/>
          </a:prstGeom>
        </p:spPr>
      </p:pic>
      <p:grpSp>
        <p:nvGrpSpPr>
          <p:cNvPr name="Group 2" id="2"/>
          <p:cNvGrpSpPr/>
          <p:nvPr/>
        </p:nvGrpSpPr>
        <p:grpSpPr>
          <a:xfrm rot="0">
            <a:off x="2286000" y="9601200"/>
            <a:ext cx="13716000" cy="685800"/>
            <a:chOff x="0" y="0"/>
            <a:chExt cx="13004800" cy="650240"/>
          </a:xfrm>
        </p:grpSpPr>
        <p:sp>
          <p:nvSpPr>
            <p:cNvPr name="Freeform 3" id="3"/>
            <p:cNvSpPr/>
            <p:nvPr/>
          </p:nvSpPr>
          <p:spPr>
            <a:xfrm flipH="false" flipV="false" rot="0">
              <a:off x="0" y="0"/>
              <a:ext cx="13004800" cy="650240"/>
            </a:xfrm>
            <a:custGeom>
              <a:avLst/>
              <a:gdLst/>
              <a:ahLst/>
              <a:cxnLst/>
              <a:rect r="r" b="b" t="t" l="l"/>
              <a:pathLst>
                <a:path h="650240" w="13004800">
                  <a:moveTo>
                    <a:pt x="0" y="0"/>
                  </a:moveTo>
                  <a:lnTo>
                    <a:pt x="13004800" y="0"/>
                  </a:lnTo>
                  <a:lnTo>
                    <a:pt x="13004800" y="650240"/>
                  </a:lnTo>
                  <a:lnTo>
                    <a:pt x="0" y="650240"/>
                  </a:lnTo>
                  <a:close/>
                </a:path>
              </a:pathLst>
            </a:custGeom>
            <a:solidFill>
              <a:srgbClr val="BD582C"/>
            </a:solidFill>
          </p:spPr>
        </p:sp>
      </p:grpSp>
      <p:grpSp>
        <p:nvGrpSpPr>
          <p:cNvPr name="Group 4" id="4"/>
          <p:cNvGrpSpPr/>
          <p:nvPr/>
        </p:nvGrpSpPr>
        <p:grpSpPr>
          <a:xfrm rot="0">
            <a:off x="2286000" y="9501478"/>
            <a:ext cx="13716000" cy="98986"/>
            <a:chOff x="0" y="0"/>
            <a:chExt cx="13004800" cy="93853"/>
          </a:xfrm>
        </p:grpSpPr>
        <p:sp>
          <p:nvSpPr>
            <p:cNvPr name="Freeform 5" id="5"/>
            <p:cNvSpPr/>
            <p:nvPr/>
          </p:nvSpPr>
          <p:spPr>
            <a:xfrm flipH="false" flipV="false" rot="0">
              <a:off x="0" y="0"/>
              <a:ext cx="13004800" cy="93853"/>
            </a:xfrm>
            <a:custGeom>
              <a:avLst/>
              <a:gdLst/>
              <a:ahLst/>
              <a:cxnLst/>
              <a:rect r="r" b="b" t="t" l="l"/>
              <a:pathLst>
                <a:path h="93853" w="13004800">
                  <a:moveTo>
                    <a:pt x="0" y="0"/>
                  </a:moveTo>
                  <a:lnTo>
                    <a:pt x="13004800" y="0"/>
                  </a:lnTo>
                  <a:lnTo>
                    <a:pt x="13004800" y="93853"/>
                  </a:lnTo>
                  <a:lnTo>
                    <a:pt x="0" y="93853"/>
                  </a:lnTo>
                  <a:close/>
                </a:path>
              </a:pathLst>
            </a:custGeom>
            <a:solidFill>
              <a:srgbClr val="E48312"/>
            </a:solidFill>
          </p:spPr>
        </p:sp>
      </p:grpSp>
      <p:grpSp>
        <p:nvGrpSpPr>
          <p:cNvPr name="Group 7" id="7"/>
          <p:cNvGrpSpPr/>
          <p:nvPr/>
        </p:nvGrpSpPr>
        <p:grpSpPr>
          <a:xfrm rot="0">
            <a:off x="2289576" y="9601200"/>
            <a:ext cx="13712383" cy="685800"/>
            <a:chOff x="0" y="0"/>
            <a:chExt cx="13001371" cy="650240"/>
          </a:xfrm>
        </p:grpSpPr>
        <p:sp>
          <p:nvSpPr>
            <p:cNvPr name="Freeform 8" id="8"/>
            <p:cNvSpPr/>
            <p:nvPr/>
          </p:nvSpPr>
          <p:spPr>
            <a:xfrm flipH="false" flipV="false" rot="0">
              <a:off x="0" y="0"/>
              <a:ext cx="13001371" cy="650240"/>
            </a:xfrm>
            <a:custGeom>
              <a:avLst/>
              <a:gdLst/>
              <a:ahLst/>
              <a:cxnLst/>
              <a:rect r="r" b="b" t="t" l="l"/>
              <a:pathLst>
                <a:path h="650240" w="13001371">
                  <a:moveTo>
                    <a:pt x="0" y="0"/>
                  </a:moveTo>
                  <a:lnTo>
                    <a:pt x="13001371" y="0"/>
                  </a:lnTo>
                  <a:lnTo>
                    <a:pt x="13001371" y="650240"/>
                  </a:lnTo>
                  <a:lnTo>
                    <a:pt x="0" y="650240"/>
                  </a:lnTo>
                  <a:close/>
                </a:path>
              </a:pathLst>
            </a:custGeom>
            <a:solidFill>
              <a:srgbClr val="BD582C"/>
            </a:solidFill>
          </p:spPr>
        </p:sp>
      </p:grpSp>
      <p:grpSp>
        <p:nvGrpSpPr>
          <p:cNvPr name="Group 9" id="9"/>
          <p:cNvGrpSpPr/>
          <p:nvPr/>
        </p:nvGrpSpPr>
        <p:grpSpPr>
          <a:xfrm rot="0">
            <a:off x="2286013" y="9501478"/>
            <a:ext cx="13712383" cy="96039"/>
            <a:chOff x="0" y="0"/>
            <a:chExt cx="13001371" cy="91059"/>
          </a:xfrm>
        </p:grpSpPr>
        <p:sp>
          <p:nvSpPr>
            <p:cNvPr name="Freeform 10" id="10"/>
            <p:cNvSpPr/>
            <p:nvPr/>
          </p:nvSpPr>
          <p:spPr>
            <a:xfrm flipH="false" flipV="false" rot="0">
              <a:off x="0" y="0"/>
              <a:ext cx="13001371" cy="91059"/>
            </a:xfrm>
            <a:custGeom>
              <a:avLst/>
              <a:gdLst/>
              <a:ahLst/>
              <a:cxnLst/>
              <a:rect r="r" b="b" t="t" l="l"/>
              <a:pathLst>
                <a:path h="91059" w="13001371">
                  <a:moveTo>
                    <a:pt x="0" y="0"/>
                  </a:moveTo>
                  <a:lnTo>
                    <a:pt x="13001371" y="0"/>
                  </a:lnTo>
                  <a:lnTo>
                    <a:pt x="13001371" y="91059"/>
                  </a:lnTo>
                  <a:lnTo>
                    <a:pt x="0" y="91059"/>
                  </a:lnTo>
                  <a:close/>
                </a:path>
              </a:pathLst>
            </a:custGeom>
            <a:solidFill>
              <a:srgbClr val="E48312"/>
            </a:solidFill>
          </p:spPr>
        </p:sp>
      </p:grpSp>
      <p:grpSp>
        <p:nvGrpSpPr>
          <p:cNvPr name="Group 17" id="17"/>
          <p:cNvGrpSpPr/>
          <p:nvPr/>
        </p:nvGrpSpPr>
        <p:grpSpPr>
          <a:xfrm rot="0">
            <a:off x="6432960" y="9689684"/>
            <a:ext cx="5425656" cy="547689"/>
            <a:chOff x="0" y="0"/>
            <a:chExt cx="5144326" cy="519290"/>
          </a:xfrm>
        </p:grpSpPr>
        <p:sp>
          <p:nvSpPr>
            <p:cNvPr name="Freeform 18" id="18"/>
            <p:cNvSpPr/>
            <p:nvPr/>
          </p:nvSpPr>
          <p:spPr>
            <a:xfrm flipH="false" flipV="false" rot="0">
              <a:off x="0" y="0"/>
              <a:ext cx="5144262" cy="519303"/>
            </a:xfrm>
            <a:custGeom>
              <a:avLst/>
              <a:gdLst/>
              <a:ahLst/>
              <a:cxnLst/>
              <a:rect r="r" b="b" t="t" l="l"/>
              <a:pathLst>
                <a:path h="519303" w="5144262">
                  <a:moveTo>
                    <a:pt x="0" y="0"/>
                  </a:moveTo>
                  <a:lnTo>
                    <a:pt x="5144262" y="0"/>
                  </a:lnTo>
                  <a:lnTo>
                    <a:pt x="5144262" y="519303"/>
                  </a:lnTo>
                  <a:lnTo>
                    <a:pt x="0" y="519303"/>
                  </a:lnTo>
                  <a:close/>
                </a:path>
              </a:pathLst>
            </a:custGeom>
            <a:blipFill>
              <a:blip r:embed="rId3">
                <a:alphaModFix amt="0"/>
              </a:blip>
              <a:stretch>
                <a:fillRect l="0" t="-142890" r="-1" b="-142885"/>
              </a:stretch>
            </a:blipFill>
          </p:spPr>
        </p:sp>
      </p:grpSp>
      <p:grpSp>
        <p:nvGrpSpPr>
          <p:cNvPr name="Group 19" id="19"/>
          <p:cNvGrpSpPr/>
          <p:nvPr/>
        </p:nvGrpSpPr>
        <p:grpSpPr>
          <a:xfrm rot="0">
            <a:off x="6432960" y="9669592"/>
            <a:ext cx="5425656" cy="567781"/>
            <a:chOff x="0" y="0"/>
            <a:chExt cx="5144326" cy="538341"/>
          </a:xfrm>
        </p:grpSpPr>
        <p:sp>
          <p:nvSpPr>
            <p:cNvPr name="Freeform 20" id="20"/>
            <p:cNvSpPr/>
            <p:nvPr/>
          </p:nvSpPr>
          <p:spPr>
            <a:xfrm flipH="false" flipV="false" rot="0">
              <a:off x="0" y="0"/>
              <a:ext cx="5144326" cy="538341"/>
            </a:xfrm>
            <a:custGeom>
              <a:avLst/>
              <a:gdLst/>
              <a:ahLst/>
              <a:cxnLst/>
              <a:rect r="r" b="b" t="t" l="l"/>
              <a:pathLst>
                <a:path h="538341" w="5144326">
                  <a:moveTo>
                    <a:pt x="0" y="0"/>
                  </a:moveTo>
                  <a:lnTo>
                    <a:pt x="5144326" y="0"/>
                  </a:lnTo>
                  <a:lnTo>
                    <a:pt x="5144326" y="538341"/>
                  </a:lnTo>
                  <a:lnTo>
                    <a:pt x="0" y="538341"/>
                  </a:lnTo>
                  <a:close/>
                </a:path>
              </a:pathLst>
            </a:custGeom>
            <a:blipFill>
              <a:blip r:embed="rId4">
                <a:alphaModFix amt="0"/>
              </a:blip>
              <a:stretch>
                <a:fillRect l="0" t="-136196" r="0" b="-136196"/>
              </a:stretch>
            </a:blipFill>
          </p:spPr>
        </p:sp>
        <p:sp>
          <p:nvSpPr>
            <p:cNvPr name="TextBox 21" id="21"/>
            <p:cNvSpPr txBox="true"/>
            <p:nvPr/>
          </p:nvSpPr>
          <p:spPr>
            <a:xfrm>
              <a:off x="0" y="-28575"/>
              <a:ext cx="5144326" cy="566916"/>
            </a:xfrm>
            <a:prstGeom prst="rect">
              <a:avLst/>
            </a:prstGeom>
          </p:spPr>
          <p:txBody>
            <a:bodyPr anchor="ctr" rtlCol="false" tIns="0" lIns="0" bIns="0" rIns="0"/>
            <a:lstStyle/>
            <a:p>
              <a:pPr algn="ctr">
                <a:lnSpc>
                  <a:spcPts val="1620"/>
                </a:lnSpc>
              </a:pPr>
              <a:r>
                <a:rPr lang="en-US" sz="1350">
                  <a:solidFill>
                    <a:srgbClr val="FFFFFF"/>
                  </a:solidFill>
                  <a:latin typeface="Calibri (MS)"/>
                  <a:ea typeface="Calibri (MS)"/>
                  <a:cs typeface="Calibri (MS)"/>
                  <a:sym typeface="Calibri (MS)"/>
                </a:rPr>
                <a:t>TCE - EEE - 22EE690 - Project </a:t>
              </a:r>
            </a:p>
          </p:txBody>
        </p:sp>
      </p:grpSp>
      <p:grpSp>
        <p:nvGrpSpPr>
          <p:cNvPr name="Group 22" id="22"/>
          <p:cNvGrpSpPr/>
          <p:nvPr/>
        </p:nvGrpSpPr>
        <p:grpSpPr>
          <a:xfrm rot="0">
            <a:off x="13424022" y="9689684"/>
            <a:ext cx="1476024" cy="547689"/>
            <a:chOff x="0" y="0"/>
            <a:chExt cx="1399489" cy="519290"/>
          </a:xfrm>
        </p:grpSpPr>
        <p:sp>
          <p:nvSpPr>
            <p:cNvPr name="Freeform 23" id="23"/>
            <p:cNvSpPr/>
            <p:nvPr/>
          </p:nvSpPr>
          <p:spPr>
            <a:xfrm flipH="false" flipV="false" rot="0">
              <a:off x="0" y="0"/>
              <a:ext cx="1399540" cy="519303"/>
            </a:xfrm>
            <a:custGeom>
              <a:avLst/>
              <a:gdLst/>
              <a:ahLst/>
              <a:cxnLst/>
              <a:rect r="r" b="b" t="t" l="l"/>
              <a:pathLst>
                <a:path h="519303" w="1399540">
                  <a:moveTo>
                    <a:pt x="0" y="0"/>
                  </a:moveTo>
                  <a:lnTo>
                    <a:pt x="1399540" y="0"/>
                  </a:lnTo>
                  <a:lnTo>
                    <a:pt x="1399540" y="519303"/>
                  </a:lnTo>
                  <a:lnTo>
                    <a:pt x="0" y="519303"/>
                  </a:lnTo>
                  <a:close/>
                </a:path>
              </a:pathLst>
            </a:custGeom>
            <a:blipFill>
              <a:blip r:embed="rId3">
                <a:alphaModFix amt="0"/>
              </a:blip>
              <a:stretch>
                <a:fillRect l="0" t="-2474" r="3" b="-2474"/>
              </a:stretch>
            </a:blipFill>
          </p:spPr>
        </p:sp>
      </p:grpSp>
      <p:grpSp>
        <p:nvGrpSpPr>
          <p:cNvPr name="Group 24" id="24"/>
          <p:cNvGrpSpPr/>
          <p:nvPr/>
        </p:nvGrpSpPr>
        <p:grpSpPr>
          <a:xfrm rot="0">
            <a:off x="13424022" y="9659547"/>
            <a:ext cx="1476024" cy="577827"/>
            <a:chOff x="0" y="0"/>
            <a:chExt cx="1399489" cy="547865"/>
          </a:xfrm>
        </p:grpSpPr>
        <p:sp>
          <p:nvSpPr>
            <p:cNvPr name="Freeform 25" id="25"/>
            <p:cNvSpPr/>
            <p:nvPr/>
          </p:nvSpPr>
          <p:spPr>
            <a:xfrm flipH="false" flipV="false" rot="0">
              <a:off x="0" y="0"/>
              <a:ext cx="1399489" cy="547866"/>
            </a:xfrm>
            <a:custGeom>
              <a:avLst/>
              <a:gdLst/>
              <a:ahLst/>
              <a:cxnLst/>
              <a:rect r="r" b="b" t="t" l="l"/>
              <a:pathLst>
                <a:path h="547866" w="1399489">
                  <a:moveTo>
                    <a:pt x="0" y="0"/>
                  </a:moveTo>
                  <a:lnTo>
                    <a:pt x="1399489" y="0"/>
                  </a:lnTo>
                  <a:lnTo>
                    <a:pt x="1399489" y="547866"/>
                  </a:lnTo>
                  <a:lnTo>
                    <a:pt x="0" y="547866"/>
                  </a:lnTo>
                  <a:close/>
                </a:path>
              </a:pathLst>
            </a:custGeom>
            <a:blipFill>
              <a:blip r:embed="rId4">
                <a:alphaModFix amt="0"/>
              </a:blip>
              <a:stretch>
                <a:fillRect l="-227" t="0" r="-227" b="0"/>
              </a:stretch>
            </a:blipFill>
          </p:spPr>
        </p:sp>
        <p:sp>
          <p:nvSpPr>
            <p:cNvPr name="TextBox 26" id="26"/>
            <p:cNvSpPr txBox="true"/>
            <p:nvPr/>
          </p:nvSpPr>
          <p:spPr>
            <a:xfrm>
              <a:off x="0" y="-19050"/>
              <a:ext cx="1399489" cy="566915"/>
            </a:xfrm>
            <a:prstGeom prst="rect">
              <a:avLst/>
            </a:prstGeom>
          </p:spPr>
          <p:txBody>
            <a:bodyPr anchor="ctr" rtlCol="false" tIns="0" lIns="0" bIns="0" rIns="0"/>
            <a:lstStyle/>
            <a:p>
              <a:pPr algn="r">
                <a:lnSpc>
                  <a:spcPts val="1889"/>
                </a:lnSpc>
              </a:pPr>
              <a:r>
                <a:rPr lang="en-US" sz="1575">
                  <a:solidFill>
                    <a:srgbClr val="FFFFFF"/>
                  </a:solidFill>
                  <a:latin typeface="Calibri (MS)"/>
                  <a:ea typeface="Calibri (MS)"/>
                  <a:cs typeface="Calibri (MS)"/>
                  <a:sym typeface="Calibri (MS)"/>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7F2"/>
        </a:solidFill>
      </p:bgPr>
    </p:bg>
    <p:spTree>
      <p:nvGrpSpPr>
        <p:cNvPr id="1" name=""/>
        <p:cNvGrpSpPr/>
        <p:nvPr/>
      </p:nvGrpSpPr>
      <p:grpSpPr>
        <a:xfrm>
          <a:off x="0" y="0"/>
          <a:ext cx="0" cy="0"/>
          <a:chOff x="0" y="0"/>
          <a:chExt cx="0" cy="0"/>
        </a:xfrm>
      </p:grpSpPr>
      <p:grpSp>
        <p:nvGrpSpPr>
          <p:cNvPr name="Group 2" id="2"/>
          <p:cNvGrpSpPr/>
          <p:nvPr/>
        </p:nvGrpSpPr>
        <p:grpSpPr>
          <a:xfrm rot="0">
            <a:off x="1655647" y="370623"/>
            <a:ext cx="14948399" cy="92655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sp>
        <p:sp>
          <p:nvSpPr>
            <p:cNvPr name="TextBox 4" id="4"/>
            <p:cNvSpPr txBox="true"/>
            <p:nvPr/>
          </p:nvSpPr>
          <p:spPr>
            <a:xfrm>
              <a:off x="0" y="-9525"/>
              <a:ext cx="22145777" cy="1382192"/>
            </a:xfrm>
            <a:prstGeom prst="rect">
              <a:avLst/>
            </a:prstGeom>
          </p:spPr>
          <p:txBody>
            <a:bodyPr anchor="ctr" rtlCol="false" tIns="0" lIns="0" bIns="0" rIns="0"/>
            <a:lstStyle/>
            <a:p>
              <a:pPr algn="l">
                <a:lnSpc>
                  <a:spcPts val="5404"/>
                </a:lnSpc>
              </a:pPr>
              <a:r>
                <a:rPr lang="en-US" sz="4052" b="true">
                  <a:solidFill>
                    <a:srgbClr val="14342B"/>
                  </a:solidFill>
                  <a:latin typeface="Cambria Bold"/>
                  <a:ea typeface="Cambria Bold"/>
                  <a:cs typeface="Cambria Bold"/>
                  <a:sym typeface="Cambria Bold"/>
                </a:rPr>
                <a:t>How the controller chooses the tilt angle</a:t>
              </a:r>
            </a:p>
          </p:txBody>
        </p:sp>
      </p:grpSp>
      <p:sp>
        <p:nvSpPr>
          <p:cNvPr name="TextBox 5" id="5"/>
          <p:cNvSpPr txBox="true"/>
          <p:nvPr/>
        </p:nvSpPr>
        <p:spPr>
          <a:xfrm rot="0">
            <a:off x="1696795" y="1250513"/>
            <a:ext cx="14866103" cy="503780"/>
          </a:xfrm>
          <a:prstGeom prst="rect">
            <a:avLst/>
          </a:prstGeom>
        </p:spPr>
        <p:txBody>
          <a:bodyPr anchor="t" rtlCol="false" tIns="0" lIns="0" bIns="0" rIns="0">
            <a:spAutoFit/>
          </a:bodyPr>
          <a:lstStyle/>
          <a:p>
            <a:pPr algn="l">
              <a:lnSpc>
                <a:spcPts val="2882"/>
              </a:lnSpc>
            </a:pPr>
            <a:r>
              <a:rPr lang="en-US" sz="2160">
                <a:solidFill>
                  <a:srgbClr val="5B6B62"/>
                </a:solidFill>
                <a:latin typeface="Calibri (MS)"/>
                <a:ea typeface="Calibri (MS)"/>
                <a:cs typeface="Calibri (MS)"/>
                <a:sym typeface="Calibri (MS)"/>
              </a:rPr>
              <a:t>It tries every angle from 15 to 60 degrees and keeps the one with the best combined score</a:t>
            </a:r>
          </a:p>
        </p:txBody>
      </p:sp>
      <p:grpSp>
        <p:nvGrpSpPr>
          <p:cNvPr name="Group 6" id="6"/>
          <p:cNvGrpSpPr/>
          <p:nvPr/>
        </p:nvGrpSpPr>
        <p:grpSpPr>
          <a:xfrm rot="0">
            <a:off x="1655647" y="1902795"/>
            <a:ext cx="14948399" cy="4224545"/>
            <a:chOff x="0" y="0"/>
            <a:chExt cx="22145777" cy="6258585"/>
          </a:xfrm>
        </p:grpSpPr>
        <p:sp>
          <p:nvSpPr>
            <p:cNvPr name="Freeform 7" id="7" descr="explain_top.png"/>
            <p:cNvSpPr/>
            <p:nvPr/>
          </p:nvSpPr>
          <p:spPr>
            <a:xfrm flipH="false" flipV="false" rot="0">
              <a:off x="0" y="0"/>
              <a:ext cx="22145752" cy="6258560"/>
            </a:xfrm>
            <a:custGeom>
              <a:avLst/>
              <a:gdLst/>
              <a:ahLst/>
              <a:cxnLst/>
              <a:rect r="r" b="b" t="t" l="l"/>
              <a:pathLst>
                <a:path h="6258560" w="22145752">
                  <a:moveTo>
                    <a:pt x="0" y="0"/>
                  </a:moveTo>
                  <a:lnTo>
                    <a:pt x="22145752" y="0"/>
                  </a:lnTo>
                  <a:lnTo>
                    <a:pt x="22145752" y="6258560"/>
                  </a:lnTo>
                  <a:lnTo>
                    <a:pt x="0" y="6258560"/>
                  </a:lnTo>
                  <a:lnTo>
                    <a:pt x="0" y="0"/>
                  </a:lnTo>
                  <a:close/>
                </a:path>
              </a:pathLst>
            </a:custGeom>
            <a:blipFill>
              <a:blip r:embed="rId4"/>
              <a:stretch>
                <a:fillRect l="0" t="0" r="0" b="0"/>
              </a:stretch>
            </a:blipFill>
          </p:spPr>
        </p:sp>
      </p:grpSp>
      <p:grpSp>
        <p:nvGrpSpPr>
          <p:cNvPr name="Group 8" id="8"/>
          <p:cNvGrpSpPr/>
          <p:nvPr/>
        </p:nvGrpSpPr>
        <p:grpSpPr>
          <a:xfrm rot="0">
            <a:off x="1644922" y="6265134"/>
            <a:ext cx="4901301" cy="1874556"/>
            <a:chOff x="0" y="0"/>
            <a:chExt cx="7261187" cy="2777122"/>
          </a:xfrm>
        </p:grpSpPr>
        <p:sp>
          <p:nvSpPr>
            <p:cNvPr name="Freeform 9" id="9"/>
            <p:cNvSpPr/>
            <p:nvPr/>
          </p:nvSpPr>
          <p:spPr>
            <a:xfrm flipH="false" flipV="false" rot="0">
              <a:off x="0" y="0"/>
              <a:ext cx="7261225" cy="2777109"/>
            </a:xfrm>
            <a:custGeom>
              <a:avLst/>
              <a:gdLst/>
              <a:ahLst/>
              <a:cxnLst/>
              <a:rect r="r" b="b" t="t" l="l"/>
              <a:pathLst>
                <a:path h="2777109" w="7261225">
                  <a:moveTo>
                    <a:pt x="0" y="166624"/>
                  </a:moveTo>
                  <a:cubicBezTo>
                    <a:pt x="0" y="74549"/>
                    <a:pt x="74549" y="0"/>
                    <a:pt x="166624" y="0"/>
                  </a:cubicBezTo>
                  <a:lnTo>
                    <a:pt x="7094601" y="0"/>
                  </a:lnTo>
                  <a:cubicBezTo>
                    <a:pt x="7186676" y="0"/>
                    <a:pt x="7261225" y="74549"/>
                    <a:pt x="7261225" y="166624"/>
                  </a:cubicBezTo>
                  <a:lnTo>
                    <a:pt x="7261225" y="2610485"/>
                  </a:lnTo>
                  <a:cubicBezTo>
                    <a:pt x="7261225" y="2702560"/>
                    <a:pt x="7186676" y="2777109"/>
                    <a:pt x="7094601" y="2777109"/>
                  </a:cubicBezTo>
                  <a:lnTo>
                    <a:pt x="166624" y="2777109"/>
                  </a:lnTo>
                  <a:cubicBezTo>
                    <a:pt x="74549" y="2777109"/>
                    <a:pt x="0" y="2702560"/>
                    <a:pt x="0" y="2610485"/>
                  </a:cubicBezTo>
                  <a:close/>
                </a:path>
              </a:pathLst>
            </a:custGeom>
            <a:solidFill>
              <a:srgbClr val="FFFFFF"/>
            </a:solidFill>
            <a:ln w="23831" cap="sq">
              <a:solidFill>
                <a:srgbClr val="E6EEE0"/>
              </a:solidFill>
              <a:prstDash val="solid"/>
              <a:miter/>
            </a:ln>
          </p:spPr>
        </p:sp>
      </p:grpSp>
      <p:sp>
        <p:nvSpPr>
          <p:cNvPr name="TextBox 10" id="10"/>
          <p:cNvSpPr txBox="true"/>
          <p:nvPr/>
        </p:nvSpPr>
        <p:spPr>
          <a:xfrm rot="0">
            <a:off x="1820332" y="6290963"/>
            <a:ext cx="4550472" cy="355536"/>
          </a:xfrm>
          <a:prstGeom prst="rect">
            <a:avLst/>
          </a:prstGeom>
        </p:spPr>
        <p:txBody>
          <a:bodyPr anchor="t" rtlCol="false" tIns="0" lIns="0" bIns="0" rIns="0">
            <a:spAutoFit/>
          </a:bodyPr>
          <a:lstStyle/>
          <a:p>
            <a:pPr algn="l">
              <a:lnSpc>
                <a:spcPts val="2431"/>
              </a:lnSpc>
            </a:pPr>
            <a:r>
              <a:rPr lang="en-US" sz="1823" b="true">
                <a:solidFill>
                  <a:srgbClr val="14342B"/>
                </a:solidFill>
                <a:latin typeface="Calibri (MS) Bold"/>
                <a:ea typeface="Calibri (MS) Bold"/>
                <a:cs typeface="Calibri (MS) Bold"/>
                <a:sym typeface="Calibri (MS) Bold"/>
              </a:rPr>
              <a:t>Rules first (safety and water)</a:t>
            </a:r>
          </a:p>
        </p:txBody>
      </p:sp>
      <p:sp>
        <p:nvSpPr>
          <p:cNvPr name="TextBox 11" id="11"/>
          <p:cNvSpPr txBox="true"/>
          <p:nvPr/>
        </p:nvSpPr>
        <p:spPr>
          <a:xfrm rot="0">
            <a:off x="1861480" y="6678045"/>
            <a:ext cx="4468176" cy="1434479"/>
          </a:xfrm>
          <a:prstGeom prst="rect">
            <a:avLst/>
          </a:prstGeom>
        </p:spPr>
        <p:txBody>
          <a:bodyPr anchor="t" rtlCol="false" tIns="0" lIns="0" bIns="0" rIns="0">
            <a:spAutoFit/>
          </a:bodyPr>
          <a:lstStyle/>
          <a:p>
            <a:pPr algn="l">
              <a:lnSpc>
                <a:spcPts val="2071"/>
              </a:lnSpc>
            </a:pPr>
            <a:r>
              <a:rPr lang="en-US" sz="1553">
                <a:solidFill>
                  <a:srgbClr val="1B2A22"/>
                </a:solidFill>
                <a:latin typeface="Calibri (MS)"/>
                <a:ea typeface="Calibri (MS)"/>
                <a:cs typeface="Calibri (MS)"/>
                <a:sym typeface="Calibri (MS)"/>
              </a:rPr>
              <a:t>•  Wind 15 m/s or more: panels edge-on (90 degrees)</a:t>
            </a:r>
          </a:p>
          <a:p>
            <a:pPr algn="l">
              <a:lnSpc>
                <a:spcPts val="2071"/>
              </a:lnSpc>
            </a:pPr>
            <a:r>
              <a:rPr lang="en-US" sz="1553">
                <a:solidFill>
                  <a:srgbClr val="1B2A22"/>
                </a:solidFill>
                <a:latin typeface="Calibri (MS)"/>
                <a:ea typeface="Calibri (MS)"/>
                <a:cs typeface="Calibri (MS)"/>
                <a:sym typeface="Calibri (MS)"/>
              </a:rPr>
              <a:t>•  Rain detected: 3 degree slope, rain goes to the tank</a:t>
            </a:r>
          </a:p>
          <a:p>
            <a:pPr algn="l">
              <a:lnSpc>
                <a:spcPts val="2071"/>
              </a:lnSpc>
            </a:pPr>
            <a:r>
              <a:rPr lang="en-US" sz="1553">
                <a:solidFill>
                  <a:srgbClr val="1B2A22"/>
                </a:solidFill>
                <a:latin typeface="Calibri (MS)"/>
                <a:ea typeface="Calibri (MS)"/>
                <a:cs typeface="Calibri (MS)"/>
                <a:sym typeface="Calibri (MS)"/>
              </a:rPr>
              <a:t>•  Night: rest at 15 degrees</a:t>
            </a:r>
          </a:p>
        </p:txBody>
      </p:sp>
      <p:grpSp>
        <p:nvGrpSpPr>
          <p:cNvPr name="Group 12" id="12"/>
          <p:cNvGrpSpPr/>
          <p:nvPr/>
        </p:nvGrpSpPr>
        <p:grpSpPr>
          <a:xfrm rot="0">
            <a:off x="6710078" y="6265134"/>
            <a:ext cx="4901301" cy="1874556"/>
            <a:chOff x="0" y="0"/>
            <a:chExt cx="7261187" cy="2777122"/>
          </a:xfrm>
        </p:grpSpPr>
        <p:sp>
          <p:nvSpPr>
            <p:cNvPr name="Freeform 13" id="13"/>
            <p:cNvSpPr/>
            <p:nvPr/>
          </p:nvSpPr>
          <p:spPr>
            <a:xfrm flipH="false" flipV="false" rot="0">
              <a:off x="0" y="0"/>
              <a:ext cx="7261225" cy="2777109"/>
            </a:xfrm>
            <a:custGeom>
              <a:avLst/>
              <a:gdLst/>
              <a:ahLst/>
              <a:cxnLst/>
              <a:rect r="r" b="b" t="t" l="l"/>
              <a:pathLst>
                <a:path h="2777109" w="7261225">
                  <a:moveTo>
                    <a:pt x="0" y="166624"/>
                  </a:moveTo>
                  <a:cubicBezTo>
                    <a:pt x="0" y="74549"/>
                    <a:pt x="74549" y="0"/>
                    <a:pt x="166624" y="0"/>
                  </a:cubicBezTo>
                  <a:lnTo>
                    <a:pt x="7094601" y="0"/>
                  </a:lnTo>
                  <a:cubicBezTo>
                    <a:pt x="7186676" y="0"/>
                    <a:pt x="7261225" y="74549"/>
                    <a:pt x="7261225" y="166624"/>
                  </a:cubicBezTo>
                  <a:lnTo>
                    <a:pt x="7261225" y="2610485"/>
                  </a:lnTo>
                  <a:cubicBezTo>
                    <a:pt x="7261225" y="2702560"/>
                    <a:pt x="7186676" y="2777109"/>
                    <a:pt x="7094601" y="2777109"/>
                  </a:cubicBezTo>
                  <a:lnTo>
                    <a:pt x="166624" y="2777109"/>
                  </a:lnTo>
                  <a:cubicBezTo>
                    <a:pt x="74549" y="2777109"/>
                    <a:pt x="0" y="2702560"/>
                    <a:pt x="0" y="2610485"/>
                  </a:cubicBezTo>
                  <a:close/>
                </a:path>
              </a:pathLst>
            </a:custGeom>
            <a:solidFill>
              <a:srgbClr val="FFFFFF"/>
            </a:solidFill>
            <a:ln w="23831" cap="sq">
              <a:solidFill>
                <a:srgbClr val="E6EEE0"/>
              </a:solidFill>
              <a:prstDash val="solid"/>
              <a:miter/>
            </a:ln>
          </p:spPr>
        </p:sp>
      </p:grpSp>
      <p:sp>
        <p:nvSpPr>
          <p:cNvPr name="TextBox 14" id="14"/>
          <p:cNvSpPr txBox="true"/>
          <p:nvPr/>
        </p:nvSpPr>
        <p:spPr>
          <a:xfrm rot="0">
            <a:off x="6885489" y="6290963"/>
            <a:ext cx="4550472" cy="355536"/>
          </a:xfrm>
          <a:prstGeom prst="rect">
            <a:avLst/>
          </a:prstGeom>
        </p:spPr>
        <p:txBody>
          <a:bodyPr anchor="t" rtlCol="false" tIns="0" lIns="0" bIns="0" rIns="0">
            <a:spAutoFit/>
          </a:bodyPr>
          <a:lstStyle/>
          <a:p>
            <a:pPr algn="l">
              <a:lnSpc>
                <a:spcPts val="2431"/>
              </a:lnSpc>
            </a:pPr>
            <a:r>
              <a:rPr lang="en-US" sz="1823" b="true">
                <a:solidFill>
                  <a:srgbClr val="14342B"/>
                </a:solidFill>
                <a:latin typeface="Calibri (MS) Bold"/>
                <a:ea typeface="Calibri (MS) Bold"/>
                <a:cs typeface="Calibri (MS) Bold"/>
                <a:sym typeface="Calibri (MS) Bold"/>
              </a:rPr>
              <a:t>Then the search (graph 1)</a:t>
            </a:r>
          </a:p>
        </p:txBody>
      </p:sp>
      <p:sp>
        <p:nvSpPr>
          <p:cNvPr name="TextBox 15" id="15"/>
          <p:cNvSpPr txBox="true"/>
          <p:nvPr/>
        </p:nvSpPr>
        <p:spPr>
          <a:xfrm rot="0">
            <a:off x="6926637" y="6678045"/>
            <a:ext cx="4468176" cy="1434479"/>
          </a:xfrm>
          <a:prstGeom prst="rect">
            <a:avLst/>
          </a:prstGeom>
        </p:spPr>
        <p:txBody>
          <a:bodyPr anchor="t" rtlCol="false" tIns="0" lIns="0" bIns="0" rIns="0">
            <a:spAutoFit/>
          </a:bodyPr>
          <a:lstStyle/>
          <a:p>
            <a:pPr algn="l">
              <a:lnSpc>
                <a:spcPts val="2071"/>
              </a:lnSpc>
            </a:pPr>
            <a:r>
              <a:rPr lang="en-US" sz="1553">
                <a:solidFill>
                  <a:srgbClr val="1B2A22"/>
                </a:solidFill>
                <a:latin typeface="Calibri (MS)"/>
                <a:ea typeface="Calibri (MS)"/>
                <a:cs typeface="Calibri (MS)"/>
                <a:sym typeface="Calibri (MS)"/>
              </a:rPr>
              <a:t>•  Amber line: electricity at each angle</a:t>
            </a:r>
          </a:p>
          <a:p>
            <a:pPr algn="l">
              <a:lnSpc>
                <a:spcPts val="2071"/>
              </a:lnSpc>
            </a:pPr>
            <a:r>
              <a:rPr lang="en-US" sz="1553">
                <a:solidFill>
                  <a:srgbClr val="1B2A22"/>
                </a:solidFill>
                <a:latin typeface="Calibri (MS)"/>
                <a:ea typeface="Calibri (MS)"/>
                <a:cs typeface="Calibri (MS)"/>
                <a:sym typeface="Calibri (MS)"/>
              </a:rPr>
              <a:t>•  Green line: light that reaches the crops</a:t>
            </a:r>
          </a:p>
          <a:p>
            <a:pPr algn="l">
              <a:lnSpc>
                <a:spcPts val="2071"/>
              </a:lnSpc>
            </a:pPr>
            <a:r>
              <a:rPr lang="en-US" sz="1553">
                <a:solidFill>
                  <a:srgbClr val="1B2A22"/>
                </a:solidFill>
                <a:latin typeface="Calibri (MS)"/>
                <a:ea typeface="Calibri (MS)"/>
                <a:cs typeface="Calibri (MS)"/>
                <a:sym typeface="Calibri (MS)"/>
              </a:rPr>
              <a:t>•  Blue line: combined score = 0.5 x electricity + 0.5 x crop light; red star = the angle chosen</a:t>
            </a:r>
          </a:p>
        </p:txBody>
      </p:sp>
      <p:grpSp>
        <p:nvGrpSpPr>
          <p:cNvPr name="Group 16" id="16"/>
          <p:cNvGrpSpPr/>
          <p:nvPr/>
        </p:nvGrpSpPr>
        <p:grpSpPr>
          <a:xfrm rot="0">
            <a:off x="11775243" y="6265134"/>
            <a:ext cx="4901301" cy="1874556"/>
            <a:chOff x="0" y="0"/>
            <a:chExt cx="7261187" cy="2777122"/>
          </a:xfrm>
        </p:grpSpPr>
        <p:sp>
          <p:nvSpPr>
            <p:cNvPr name="Freeform 17" id="17"/>
            <p:cNvSpPr/>
            <p:nvPr/>
          </p:nvSpPr>
          <p:spPr>
            <a:xfrm flipH="false" flipV="false" rot="0">
              <a:off x="0" y="0"/>
              <a:ext cx="7261225" cy="2777109"/>
            </a:xfrm>
            <a:custGeom>
              <a:avLst/>
              <a:gdLst/>
              <a:ahLst/>
              <a:cxnLst/>
              <a:rect r="r" b="b" t="t" l="l"/>
              <a:pathLst>
                <a:path h="2777109" w="7261225">
                  <a:moveTo>
                    <a:pt x="0" y="166624"/>
                  </a:moveTo>
                  <a:cubicBezTo>
                    <a:pt x="0" y="74549"/>
                    <a:pt x="74549" y="0"/>
                    <a:pt x="166624" y="0"/>
                  </a:cubicBezTo>
                  <a:lnTo>
                    <a:pt x="7094601" y="0"/>
                  </a:lnTo>
                  <a:cubicBezTo>
                    <a:pt x="7186676" y="0"/>
                    <a:pt x="7261225" y="74549"/>
                    <a:pt x="7261225" y="166624"/>
                  </a:cubicBezTo>
                  <a:lnTo>
                    <a:pt x="7261225" y="2610485"/>
                  </a:lnTo>
                  <a:cubicBezTo>
                    <a:pt x="7261225" y="2702560"/>
                    <a:pt x="7186676" y="2777109"/>
                    <a:pt x="7094601" y="2777109"/>
                  </a:cubicBezTo>
                  <a:lnTo>
                    <a:pt x="166624" y="2777109"/>
                  </a:lnTo>
                  <a:cubicBezTo>
                    <a:pt x="74549" y="2777109"/>
                    <a:pt x="0" y="2702560"/>
                    <a:pt x="0" y="2610485"/>
                  </a:cubicBezTo>
                  <a:close/>
                </a:path>
              </a:pathLst>
            </a:custGeom>
            <a:solidFill>
              <a:srgbClr val="FFFFFF"/>
            </a:solidFill>
            <a:ln w="23831" cap="sq">
              <a:solidFill>
                <a:srgbClr val="E6EEE0"/>
              </a:solidFill>
              <a:prstDash val="solid"/>
              <a:miter/>
            </a:ln>
          </p:spPr>
        </p:sp>
      </p:grpSp>
      <p:sp>
        <p:nvSpPr>
          <p:cNvPr name="TextBox 18" id="18"/>
          <p:cNvSpPr txBox="true"/>
          <p:nvPr/>
        </p:nvSpPr>
        <p:spPr>
          <a:xfrm rot="0">
            <a:off x="11950653" y="6290963"/>
            <a:ext cx="4550472" cy="355536"/>
          </a:xfrm>
          <a:prstGeom prst="rect">
            <a:avLst/>
          </a:prstGeom>
        </p:spPr>
        <p:txBody>
          <a:bodyPr anchor="t" rtlCol="false" tIns="0" lIns="0" bIns="0" rIns="0">
            <a:spAutoFit/>
          </a:bodyPr>
          <a:lstStyle/>
          <a:p>
            <a:pPr algn="l">
              <a:lnSpc>
                <a:spcPts val="2431"/>
              </a:lnSpc>
            </a:pPr>
            <a:r>
              <a:rPr lang="en-US" sz="1823" b="true">
                <a:solidFill>
                  <a:srgbClr val="14342B"/>
                </a:solidFill>
                <a:latin typeface="Calibri (MS) Bold"/>
                <a:ea typeface="Calibri (MS) Bold"/>
                <a:cs typeface="Calibri (MS) Bold"/>
                <a:sym typeface="Calibri (MS) Bold"/>
              </a:rPr>
              <a:t>Stress changes the need</a:t>
            </a:r>
          </a:p>
        </p:txBody>
      </p:sp>
      <p:sp>
        <p:nvSpPr>
          <p:cNvPr name="TextBox 19" id="19"/>
          <p:cNvSpPr txBox="true"/>
          <p:nvPr/>
        </p:nvSpPr>
        <p:spPr>
          <a:xfrm rot="0">
            <a:off x="11991801" y="6678045"/>
            <a:ext cx="4468176" cy="1434479"/>
          </a:xfrm>
          <a:prstGeom prst="rect">
            <a:avLst/>
          </a:prstGeom>
        </p:spPr>
        <p:txBody>
          <a:bodyPr anchor="t" rtlCol="false" tIns="0" lIns="0" bIns="0" rIns="0">
            <a:spAutoFit/>
          </a:bodyPr>
          <a:lstStyle/>
          <a:p>
            <a:pPr algn="l">
              <a:lnSpc>
                <a:spcPts val="2071"/>
              </a:lnSpc>
            </a:pPr>
            <a:r>
              <a:rPr lang="en-US" sz="1553">
                <a:solidFill>
                  <a:srgbClr val="1B2A22"/>
                </a:solidFill>
                <a:latin typeface="Calibri (MS)"/>
                <a:ea typeface="Calibri (MS)"/>
                <a:cs typeface="Calibri (MS)"/>
                <a:sym typeface="Calibri (MS)"/>
              </a:rPr>
              <a:t>•  Hot, dry air (VPD above 2.5 kPa) or dry soil: crops need less light</a:t>
            </a:r>
          </a:p>
          <a:p>
            <a:pPr algn="l">
              <a:lnSpc>
                <a:spcPts val="2071"/>
              </a:lnSpc>
            </a:pPr>
            <a:r>
              <a:rPr lang="en-US" sz="1553">
                <a:solidFill>
                  <a:srgbClr val="1B2A22"/>
                </a:solidFill>
                <a:latin typeface="Calibri (MS)"/>
                <a:ea typeface="Calibri (MS)"/>
                <a:cs typeface="Calibri (MS)"/>
                <a:sym typeface="Calibri (MS)"/>
              </a:rPr>
              <a:t>•  The panels can then shade more and make more electricity</a:t>
            </a:r>
          </a:p>
          <a:p>
            <a:pPr algn="l">
              <a:lnSpc>
                <a:spcPts val="2071"/>
              </a:lnSpc>
            </a:pPr>
            <a:r>
              <a:rPr lang="en-US" sz="1553">
                <a:solidFill>
                  <a:srgbClr val="1B2A22"/>
                </a:solidFill>
                <a:latin typeface="Calibri (MS)"/>
                <a:ea typeface="Calibri (MS)"/>
                <a:cs typeface="Calibri (MS)"/>
                <a:sym typeface="Calibri (MS)"/>
              </a:rPr>
              <a:t>•  Dry soil: pump on below 35 %, off at 55 %</a:t>
            </a:r>
          </a:p>
        </p:txBody>
      </p:sp>
      <p:grpSp>
        <p:nvGrpSpPr>
          <p:cNvPr name="Group 20" id="20"/>
          <p:cNvGrpSpPr/>
          <p:nvPr/>
        </p:nvGrpSpPr>
        <p:grpSpPr>
          <a:xfrm rot="0">
            <a:off x="1644922" y="8167654"/>
            <a:ext cx="14969848" cy="1009772"/>
            <a:chOff x="0" y="0"/>
            <a:chExt cx="22177553" cy="1495958"/>
          </a:xfrm>
        </p:grpSpPr>
        <p:sp>
          <p:nvSpPr>
            <p:cNvPr name="Freeform 21" id="21"/>
            <p:cNvSpPr/>
            <p:nvPr/>
          </p:nvSpPr>
          <p:spPr>
            <a:xfrm flipH="false" flipV="false" rot="0">
              <a:off x="0" y="0"/>
              <a:ext cx="22177629" cy="1495933"/>
            </a:xfrm>
            <a:custGeom>
              <a:avLst/>
              <a:gdLst/>
              <a:ahLst/>
              <a:cxnLst/>
              <a:rect r="r" b="b" t="t" l="l"/>
              <a:pathLst>
                <a:path h="1495933" w="22177629">
                  <a:moveTo>
                    <a:pt x="0" y="89789"/>
                  </a:moveTo>
                  <a:cubicBezTo>
                    <a:pt x="0" y="40132"/>
                    <a:pt x="40132" y="0"/>
                    <a:pt x="89789" y="0"/>
                  </a:cubicBezTo>
                  <a:lnTo>
                    <a:pt x="22087839" y="0"/>
                  </a:lnTo>
                  <a:cubicBezTo>
                    <a:pt x="22137370" y="0"/>
                    <a:pt x="22177629" y="40132"/>
                    <a:pt x="22177629" y="89789"/>
                  </a:cubicBezTo>
                  <a:lnTo>
                    <a:pt x="22177629" y="1406144"/>
                  </a:lnTo>
                  <a:cubicBezTo>
                    <a:pt x="22177629" y="1455674"/>
                    <a:pt x="22137497" y="1495933"/>
                    <a:pt x="22087839" y="1495933"/>
                  </a:cubicBezTo>
                  <a:lnTo>
                    <a:pt x="89789" y="1495933"/>
                  </a:lnTo>
                  <a:cubicBezTo>
                    <a:pt x="40259" y="1495933"/>
                    <a:pt x="0" y="1455801"/>
                    <a:pt x="0" y="1406144"/>
                  </a:cubicBezTo>
                  <a:close/>
                </a:path>
              </a:pathLst>
            </a:custGeom>
            <a:solidFill>
              <a:srgbClr val="FFF6DC"/>
            </a:solidFill>
            <a:ln w="23831" cap="sq">
              <a:solidFill>
                <a:srgbClr val="E8A317"/>
              </a:solidFill>
              <a:prstDash val="solid"/>
              <a:miter/>
            </a:ln>
          </p:spPr>
        </p:sp>
      </p:grpSp>
      <p:sp>
        <p:nvSpPr>
          <p:cNvPr name="TextBox 22" id="22"/>
          <p:cNvSpPr txBox="true"/>
          <p:nvPr/>
        </p:nvSpPr>
        <p:spPr>
          <a:xfrm rot="0">
            <a:off x="1845039" y="8242904"/>
            <a:ext cx="14569606" cy="355536"/>
          </a:xfrm>
          <a:prstGeom prst="rect">
            <a:avLst/>
          </a:prstGeom>
        </p:spPr>
        <p:txBody>
          <a:bodyPr anchor="t" rtlCol="false" tIns="0" lIns="0" bIns="0" rIns="0">
            <a:spAutoFit/>
          </a:bodyPr>
          <a:lstStyle/>
          <a:p>
            <a:pPr algn="l">
              <a:lnSpc>
                <a:spcPts val="2251"/>
              </a:lnSpc>
            </a:pPr>
            <a:r>
              <a:rPr lang="en-US" sz="1688" b="true">
                <a:solidFill>
                  <a:srgbClr val="8A5A00"/>
                </a:solidFill>
                <a:latin typeface="Calibri (MS) Bold"/>
                <a:ea typeface="Calibri (MS) Bold"/>
                <a:cs typeface="Calibri (MS) Bold"/>
                <a:sym typeface="Calibri (MS) Bold"/>
              </a:rPr>
              <a:t>PROOF</a:t>
            </a:r>
          </a:p>
        </p:txBody>
      </p:sp>
      <p:sp>
        <p:nvSpPr>
          <p:cNvPr name="TextBox 23" id="23"/>
          <p:cNvSpPr txBox="true"/>
          <p:nvPr/>
        </p:nvSpPr>
        <p:spPr>
          <a:xfrm rot="0">
            <a:off x="1886187" y="8671838"/>
            <a:ext cx="14487310" cy="404305"/>
          </a:xfrm>
          <a:prstGeom prst="rect">
            <a:avLst/>
          </a:prstGeom>
        </p:spPr>
        <p:txBody>
          <a:bodyPr anchor="t" rtlCol="false" tIns="0" lIns="0" bIns="0" rIns="0">
            <a:spAutoFit/>
          </a:bodyPr>
          <a:lstStyle/>
          <a:p>
            <a:pPr algn="l">
              <a:lnSpc>
                <a:spcPts val="1891"/>
              </a:lnSpc>
            </a:pPr>
            <a:r>
              <a:rPr lang="en-US" sz="1418">
                <a:solidFill>
                  <a:srgbClr val="1B2A22"/>
                </a:solidFill>
                <a:latin typeface="Calibri (MS)"/>
                <a:ea typeface="Calibri (MS)"/>
                <a:cs typeface="Calibri (MS)"/>
                <a:sym typeface="Calibri (MS)"/>
              </a:rPr>
              <a:t>•  Accuracy point A: the chosen angle is compared with a full search of every 0.5 degree step. Clear noon: difference 0.0 degrees. Worst case tested: 3 degrees, with the score within 0.02 % (a flat top).  Light and shadow come from the same equations checked against Blender 3-D ray tracing (mean difference 0.010).</a:t>
            </a:r>
          </a:p>
        </p:txBody>
      </p:sp>
      <p:grpSp>
        <p:nvGrpSpPr>
          <p:cNvPr name="Group 2" id="2"/>
          <p:cNvGrpSpPr/>
          <p:nvPr/>
        </p:nvGrpSpPr>
        <p:grpSpPr>
          <a:xfrm rot="0">
            <a:off x="2286000" y="9601200"/>
            <a:ext cx="13716000" cy="685800"/>
            <a:chOff x="0" y="0"/>
            <a:chExt cx="13004800" cy="650240"/>
          </a:xfrm>
        </p:grpSpPr>
        <p:sp>
          <p:nvSpPr>
            <p:cNvPr name="Freeform 3" id="3"/>
            <p:cNvSpPr/>
            <p:nvPr/>
          </p:nvSpPr>
          <p:spPr>
            <a:xfrm flipH="false" flipV="false" rot="0">
              <a:off x="0" y="0"/>
              <a:ext cx="13004800" cy="650240"/>
            </a:xfrm>
            <a:custGeom>
              <a:avLst/>
              <a:gdLst/>
              <a:ahLst/>
              <a:cxnLst/>
              <a:rect r="r" b="b" t="t" l="l"/>
              <a:pathLst>
                <a:path h="650240" w="13004800">
                  <a:moveTo>
                    <a:pt x="0" y="0"/>
                  </a:moveTo>
                  <a:lnTo>
                    <a:pt x="13004800" y="0"/>
                  </a:lnTo>
                  <a:lnTo>
                    <a:pt x="13004800" y="650240"/>
                  </a:lnTo>
                  <a:lnTo>
                    <a:pt x="0" y="650240"/>
                  </a:lnTo>
                  <a:close/>
                </a:path>
              </a:pathLst>
            </a:custGeom>
            <a:solidFill>
              <a:srgbClr val="BD582C"/>
            </a:solidFill>
          </p:spPr>
        </p:sp>
      </p:grpSp>
      <p:grpSp>
        <p:nvGrpSpPr>
          <p:cNvPr name="Group 4" id="4"/>
          <p:cNvGrpSpPr/>
          <p:nvPr/>
        </p:nvGrpSpPr>
        <p:grpSpPr>
          <a:xfrm rot="0">
            <a:off x="2286000" y="9501478"/>
            <a:ext cx="13716000" cy="98986"/>
            <a:chOff x="0" y="0"/>
            <a:chExt cx="13004800" cy="93853"/>
          </a:xfrm>
        </p:grpSpPr>
        <p:sp>
          <p:nvSpPr>
            <p:cNvPr name="Freeform 5" id="5"/>
            <p:cNvSpPr/>
            <p:nvPr/>
          </p:nvSpPr>
          <p:spPr>
            <a:xfrm flipH="false" flipV="false" rot="0">
              <a:off x="0" y="0"/>
              <a:ext cx="13004800" cy="93853"/>
            </a:xfrm>
            <a:custGeom>
              <a:avLst/>
              <a:gdLst/>
              <a:ahLst/>
              <a:cxnLst/>
              <a:rect r="r" b="b" t="t" l="l"/>
              <a:pathLst>
                <a:path h="93853" w="13004800">
                  <a:moveTo>
                    <a:pt x="0" y="0"/>
                  </a:moveTo>
                  <a:lnTo>
                    <a:pt x="13004800" y="0"/>
                  </a:lnTo>
                  <a:lnTo>
                    <a:pt x="13004800" y="93853"/>
                  </a:lnTo>
                  <a:lnTo>
                    <a:pt x="0" y="93853"/>
                  </a:lnTo>
                  <a:close/>
                </a:path>
              </a:pathLst>
            </a:custGeom>
            <a:solidFill>
              <a:srgbClr val="E48312"/>
            </a:solidFill>
          </p:spPr>
        </p:sp>
      </p:grpSp>
      <p:grpSp>
        <p:nvGrpSpPr>
          <p:cNvPr name="Group 7" id="7"/>
          <p:cNvGrpSpPr/>
          <p:nvPr/>
        </p:nvGrpSpPr>
        <p:grpSpPr>
          <a:xfrm rot="0">
            <a:off x="2289576" y="9601200"/>
            <a:ext cx="13712383" cy="685800"/>
            <a:chOff x="0" y="0"/>
            <a:chExt cx="13001371" cy="650240"/>
          </a:xfrm>
        </p:grpSpPr>
        <p:sp>
          <p:nvSpPr>
            <p:cNvPr name="Freeform 8" id="8"/>
            <p:cNvSpPr/>
            <p:nvPr/>
          </p:nvSpPr>
          <p:spPr>
            <a:xfrm flipH="false" flipV="false" rot="0">
              <a:off x="0" y="0"/>
              <a:ext cx="13001371" cy="650240"/>
            </a:xfrm>
            <a:custGeom>
              <a:avLst/>
              <a:gdLst/>
              <a:ahLst/>
              <a:cxnLst/>
              <a:rect r="r" b="b" t="t" l="l"/>
              <a:pathLst>
                <a:path h="650240" w="13001371">
                  <a:moveTo>
                    <a:pt x="0" y="0"/>
                  </a:moveTo>
                  <a:lnTo>
                    <a:pt x="13001371" y="0"/>
                  </a:lnTo>
                  <a:lnTo>
                    <a:pt x="13001371" y="650240"/>
                  </a:lnTo>
                  <a:lnTo>
                    <a:pt x="0" y="650240"/>
                  </a:lnTo>
                  <a:close/>
                </a:path>
              </a:pathLst>
            </a:custGeom>
            <a:solidFill>
              <a:srgbClr val="BD582C"/>
            </a:solidFill>
          </p:spPr>
        </p:sp>
      </p:grpSp>
      <p:grpSp>
        <p:nvGrpSpPr>
          <p:cNvPr name="Group 9" id="9"/>
          <p:cNvGrpSpPr/>
          <p:nvPr/>
        </p:nvGrpSpPr>
        <p:grpSpPr>
          <a:xfrm rot="0">
            <a:off x="2286013" y="9501478"/>
            <a:ext cx="13712383" cy="96039"/>
            <a:chOff x="0" y="0"/>
            <a:chExt cx="13001371" cy="91059"/>
          </a:xfrm>
        </p:grpSpPr>
        <p:sp>
          <p:nvSpPr>
            <p:cNvPr name="Freeform 10" id="10"/>
            <p:cNvSpPr/>
            <p:nvPr/>
          </p:nvSpPr>
          <p:spPr>
            <a:xfrm flipH="false" flipV="false" rot="0">
              <a:off x="0" y="0"/>
              <a:ext cx="13001371" cy="91059"/>
            </a:xfrm>
            <a:custGeom>
              <a:avLst/>
              <a:gdLst/>
              <a:ahLst/>
              <a:cxnLst/>
              <a:rect r="r" b="b" t="t" l="l"/>
              <a:pathLst>
                <a:path h="91059" w="13001371">
                  <a:moveTo>
                    <a:pt x="0" y="0"/>
                  </a:moveTo>
                  <a:lnTo>
                    <a:pt x="13001371" y="0"/>
                  </a:lnTo>
                  <a:lnTo>
                    <a:pt x="13001371" y="91059"/>
                  </a:lnTo>
                  <a:lnTo>
                    <a:pt x="0" y="91059"/>
                  </a:lnTo>
                  <a:close/>
                </a:path>
              </a:pathLst>
            </a:custGeom>
            <a:solidFill>
              <a:srgbClr val="E48312"/>
            </a:solidFill>
          </p:spPr>
        </p:sp>
      </p:grpSp>
      <p:grpSp>
        <p:nvGrpSpPr>
          <p:cNvPr name="Group 17" id="17"/>
          <p:cNvGrpSpPr/>
          <p:nvPr/>
        </p:nvGrpSpPr>
        <p:grpSpPr>
          <a:xfrm rot="0">
            <a:off x="6432960" y="9689684"/>
            <a:ext cx="5425656" cy="547689"/>
            <a:chOff x="0" y="0"/>
            <a:chExt cx="5144326" cy="519290"/>
          </a:xfrm>
        </p:grpSpPr>
        <p:sp>
          <p:nvSpPr>
            <p:cNvPr name="Freeform 18" id="18"/>
            <p:cNvSpPr/>
            <p:nvPr/>
          </p:nvSpPr>
          <p:spPr>
            <a:xfrm flipH="false" flipV="false" rot="0">
              <a:off x="0" y="0"/>
              <a:ext cx="5144262" cy="519303"/>
            </a:xfrm>
            <a:custGeom>
              <a:avLst/>
              <a:gdLst/>
              <a:ahLst/>
              <a:cxnLst/>
              <a:rect r="r" b="b" t="t" l="l"/>
              <a:pathLst>
                <a:path h="519303" w="5144262">
                  <a:moveTo>
                    <a:pt x="0" y="0"/>
                  </a:moveTo>
                  <a:lnTo>
                    <a:pt x="5144262" y="0"/>
                  </a:lnTo>
                  <a:lnTo>
                    <a:pt x="5144262" y="519303"/>
                  </a:lnTo>
                  <a:lnTo>
                    <a:pt x="0" y="519303"/>
                  </a:lnTo>
                  <a:close/>
                </a:path>
              </a:pathLst>
            </a:custGeom>
            <a:blipFill>
              <a:blip r:embed="rId3">
                <a:alphaModFix amt="0"/>
              </a:blip>
              <a:stretch>
                <a:fillRect l="0" t="-142890" r="-1" b="-142885"/>
              </a:stretch>
            </a:blipFill>
          </p:spPr>
        </p:sp>
      </p:grpSp>
      <p:grpSp>
        <p:nvGrpSpPr>
          <p:cNvPr name="Group 19" id="19"/>
          <p:cNvGrpSpPr/>
          <p:nvPr/>
        </p:nvGrpSpPr>
        <p:grpSpPr>
          <a:xfrm rot="0">
            <a:off x="6432960" y="9669592"/>
            <a:ext cx="5425656" cy="567781"/>
            <a:chOff x="0" y="0"/>
            <a:chExt cx="5144326" cy="538341"/>
          </a:xfrm>
        </p:grpSpPr>
        <p:sp>
          <p:nvSpPr>
            <p:cNvPr name="Freeform 20" id="20"/>
            <p:cNvSpPr/>
            <p:nvPr/>
          </p:nvSpPr>
          <p:spPr>
            <a:xfrm flipH="false" flipV="false" rot="0">
              <a:off x="0" y="0"/>
              <a:ext cx="5144326" cy="538341"/>
            </a:xfrm>
            <a:custGeom>
              <a:avLst/>
              <a:gdLst/>
              <a:ahLst/>
              <a:cxnLst/>
              <a:rect r="r" b="b" t="t" l="l"/>
              <a:pathLst>
                <a:path h="538341" w="5144326">
                  <a:moveTo>
                    <a:pt x="0" y="0"/>
                  </a:moveTo>
                  <a:lnTo>
                    <a:pt x="5144326" y="0"/>
                  </a:lnTo>
                  <a:lnTo>
                    <a:pt x="5144326" y="538341"/>
                  </a:lnTo>
                  <a:lnTo>
                    <a:pt x="0" y="538341"/>
                  </a:lnTo>
                  <a:close/>
                </a:path>
              </a:pathLst>
            </a:custGeom>
            <a:blipFill>
              <a:blip r:embed="rId4">
                <a:alphaModFix amt="0"/>
              </a:blip>
              <a:stretch>
                <a:fillRect l="0" t="-136196" r="0" b="-136196"/>
              </a:stretch>
            </a:blipFill>
          </p:spPr>
        </p:sp>
        <p:sp>
          <p:nvSpPr>
            <p:cNvPr name="TextBox 21" id="21"/>
            <p:cNvSpPr txBox="true"/>
            <p:nvPr/>
          </p:nvSpPr>
          <p:spPr>
            <a:xfrm>
              <a:off x="0" y="-28575"/>
              <a:ext cx="5144326" cy="566916"/>
            </a:xfrm>
            <a:prstGeom prst="rect">
              <a:avLst/>
            </a:prstGeom>
          </p:spPr>
          <p:txBody>
            <a:bodyPr anchor="ctr" rtlCol="false" tIns="0" lIns="0" bIns="0" rIns="0"/>
            <a:lstStyle/>
            <a:p>
              <a:pPr algn="ctr">
                <a:lnSpc>
                  <a:spcPts val="1620"/>
                </a:lnSpc>
              </a:pPr>
              <a:r>
                <a:rPr lang="en-US" sz="1350">
                  <a:solidFill>
                    <a:srgbClr val="FFFFFF"/>
                  </a:solidFill>
                  <a:latin typeface="Calibri (MS)"/>
                  <a:ea typeface="Calibri (MS)"/>
                  <a:cs typeface="Calibri (MS)"/>
                  <a:sym typeface="Calibri (MS)"/>
                </a:rPr>
                <a:t>TCE - EEE - 22EE690 - Project </a:t>
              </a:r>
            </a:p>
          </p:txBody>
        </p:sp>
      </p:grpSp>
      <p:grpSp>
        <p:nvGrpSpPr>
          <p:cNvPr name="Group 22" id="22"/>
          <p:cNvGrpSpPr/>
          <p:nvPr/>
        </p:nvGrpSpPr>
        <p:grpSpPr>
          <a:xfrm rot="0">
            <a:off x="13424022" y="9689684"/>
            <a:ext cx="1476024" cy="547689"/>
            <a:chOff x="0" y="0"/>
            <a:chExt cx="1399489" cy="519290"/>
          </a:xfrm>
        </p:grpSpPr>
        <p:sp>
          <p:nvSpPr>
            <p:cNvPr name="Freeform 23" id="23"/>
            <p:cNvSpPr/>
            <p:nvPr/>
          </p:nvSpPr>
          <p:spPr>
            <a:xfrm flipH="false" flipV="false" rot="0">
              <a:off x="0" y="0"/>
              <a:ext cx="1399540" cy="519303"/>
            </a:xfrm>
            <a:custGeom>
              <a:avLst/>
              <a:gdLst/>
              <a:ahLst/>
              <a:cxnLst/>
              <a:rect r="r" b="b" t="t" l="l"/>
              <a:pathLst>
                <a:path h="519303" w="1399540">
                  <a:moveTo>
                    <a:pt x="0" y="0"/>
                  </a:moveTo>
                  <a:lnTo>
                    <a:pt x="1399540" y="0"/>
                  </a:lnTo>
                  <a:lnTo>
                    <a:pt x="1399540" y="519303"/>
                  </a:lnTo>
                  <a:lnTo>
                    <a:pt x="0" y="519303"/>
                  </a:lnTo>
                  <a:close/>
                </a:path>
              </a:pathLst>
            </a:custGeom>
            <a:blipFill>
              <a:blip r:embed="rId3">
                <a:alphaModFix amt="0"/>
              </a:blip>
              <a:stretch>
                <a:fillRect l="0" t="-2474" r="3" b="-2474"/>
              </a:stretch>
            </a:blipFill>
          </p:spPr>
        </p:sp>
      </p:grpSp>
      <p:grpSp>
        <p:nvGrpSpPr>
          <p:cNvPr name="Group 24" id="24"/>
          <p:cNvGrpSpPr/>
          <p:nvPr/>
        </p:nvGrpSpPr>
        <p:grpSpPr>
          <a:xfrm rot="0">
            <a:off x="13424022" y="9659547"/>
            <a:ext cx="1476024" cy="577827"/>
            <a:chOff x="0" y="0"/>
            <a:chExt cx="1399489" cy="547865"/>
          </a:xfrm>
        </p:grpSpPr>
        <p:sp>
          <p:nvSpPr>
            <p:cNvPr name="Freeform 25" id="25"/>
            <p:cNvSpPr/>
            <p:nvPr/>
          </p:nvSpPr>
          <p:spPr>
            <a:xfrm flipH="false" flipV="false" rot="0">
              <a:off x="0" y="0"/>
              <a:ext cx="1399489" cy="547866"/>
            </a:xfrm>
            <a:custGeom>
              <a:avLst/>
              <a:gdLst/>
              <a:ahLst/>
              <a:cxnLst/>
              <a:rect r="r" b="b" t="t" l="l"/>
              <a:pathLst>
                <a:path h="547866" w="1399489">
                  <a:moveTo>
                    <a:pt x="0" y="0"/>
                  </a:moveTo>
                  <a:lnTo>
                    <a:pt x="1399489" y="0"/>
                  </a:lnTo>
                  <a:lnTo>
                    <a:pt x="1399489" y="547866"/>
                  </a:lnTo>
                  <a:lnTo>
                    <a:pt x="0" y="547866"/>
                  </a:lnTo>
                  <a:close/>
                </a:path>
              </a:pathLst>
            </a:custGeom>
            <a:blipFill>
              <a:blip r:embed="rId4">
                <a:alphaModFix amt="0"/>
              </a:blip>
              <a:stretch>
                <a:fillRect l="-227" t="0" r="-227" b="0"/>
              </a:stretch>
            </a:blipFill>
          </p:spPr>
        </p:sp>
        <p:sp>
          <p:nvSpPr>
            <p:cNvPr name="TextBox 26" id="26"/>
            <p:cNvSpPr txBox="true"/>
            <p:nvPr/>
          </p:nvSpPr>
          <p:spPr>
            <a:xfrm>
              <a:off x="0" y="-19050"/>
              <a:ext cx="1399489" cy="566915"/>
            </a:xfrm>
            <a:prstGeom prst="rect">
              <a:avLst/>
            </a:prstGeom>
          </p:spPr>
          <p:txBody>
            <a:bodyPr anchor="ctr" rtlCol="false" tIns="0" lIns="0" bIns="0" rIns="0"/>
            <a:lstStyle/>
            <a:p>
              <a:pPr algn="r">
                <a:lnSpc>
                  <a:spcPts val="1889"/>
                </a:lnSpc>
              </a:pPr>
              <a:r>
                <a:rPr lang="en-US" sz="1575">
                  <a:solidFill>
                    <a:srgbClr val="FFFFFF"/>
                  </a:solidFill>
                  <a:latin typeface="Calibri (MS)"/>
                  <a:ea typeface="Calibri (MS)"/>
                  <a:cs typeface="Calibri (MS)"/>
                  <a:sym typeface="Calibri (MS)"/>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7F2"/>
        </a:solidFill>
      </p:bgPr>
    </p:bg>
    <p:spTree>
      <p:nvGrpSpPr>
        <p:cNvPr id="1" name=""/>
        <p:cNvGrpSpPr/>
        <p:nvPr/>
      </p:nvGrpSpPr>
      <p:grpSpPr>
        <a:xfrm>
          <a:off x="0" y="0"/>
          <a:ext cx="0" cy="0"/>
          <a:chOff x="0" y="0"/>
          <a:chExt cx="0" cy="0"/>
        </a:xfrm>
      </p:grpSpPr>
      <p:grpSp>
        <p:nvGrpSpPr>
          <p:cNvPr name="Group 2" id="2"/>
          <p:cNvGrpSpPr/>
          <p:nvPr/>
        </p:nvGrpSpPr>
        <p:grpSpPr>
          <a:xfrm rot="0">
            <a:off x="1655647" y="370623"/>
            <a:ext cx="14948399" cy="92655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sp>
        <p:sp>
          <p:nvSpPr>
            <p:cNvPr name="TextBox 4" id="4"/>
            <p:cNvSpPr txBox="true"/>
            <p:nvPr/>
          </p:nvSpPr>
          <p:spPr>
            <a:xfrm>
              <a:off x="0" y="0"/>
              <a:ext cx="22145777" cy="1372667"/>
            </a:xfrm>
            <a:prstGeom prst="rect">
              <a:avLst/>
            </a:prstGeom>
          </p:spPr>
          <p:txBody>
            <a:bodyPr anchor="ctr" rtlCol="false" tIns="0" lIns="0" bIns="0" rIns="0"/>
            <a:lstStyle/>
            <a:p>
              <a:pPr algn="l">
                <a:lnSpc>
                  <a:spcPts val="4683"/>
                </a:lnSpc>
              </a:pPr>
              <a:r>
                <a:rPr lang="en-US" sz="3512" b="true">
                  <a:solidFill>
                    <a:srgbClr val="14342B"/>
                  </a:solidFill>
                  <a:latin typeface="Cambria Bold"/>
                  <a:ea typeface="Cambria Bold"/>
                  <a:cs typeface="Cambria Bold"/>
                  <a:sym typeface="Cambria Bold"/>
                </a:rPr>
                <a:t>Result: electricity and crop light together (clear day)</a:t>
              </a:r>
            </a:p>
          </p:txBody>
        </p:sp>
      </p:grpSp>
      <p:sp>
        <p:nvSpPr>
          <p:cNvPr name="TextBox 5" id="5"/>
          <p:cNvSpPr txBox="true"/>
          <p:nvPr/>
        </p:nvSpPr>
        <p:spPr>
          <a:xfrm rot="0">
            <a:off x="1696795" y="1250513"/>
            <a:ext cx="14866103" cy="503780"/>
          </a:xfrm>
          <a:prstGeom prst="rect">
            <a:avLst/>
          </a:prstGeom>
        </p:spPr>
        <p:txBody>
          <a:bodyPr anchor="t" rtlCol="false" tIns="0" lIns="0" bIns="0" rIns="0">
            <a:spAutoFit/>
          </a:bodyPr>
          <a:lstStyle/>
          <a:p>
            <a:pPr algn="l">
              <a:lnSpc>
                <a:spcPts val="2882"/>
              </a:lnSpc>
            </a:pPr>
            <a:r>
              <a:rPr lang="en-US" sz="2160">
                <a:solidFill>
                  <a:srgbClr val="5B6B62"/>
                </a:solidFill>
                <a:latin typeface="Calibri (MS)"/>
                <a:ea typeface="Calibri (MS)"/>
                <a:cs typeface="Calibri (MS)"/>
                <a:sym typeface="Calibri (MS)"/>
              </a:rPr>
              <a:t>Each bar is a percentage of the best way for that quantity; simulated day, 6 to 18 h</a:t>
            </a:r>
          </a:p>
        </p:txBody>
      </p:sp>
      <p:pic>
        <p:nvPicPr>
          <p:cNvPr name="Picture 6" id="6"/>
          <p:cNvPicPr>
            <a:picLocks noChangeAspect="true"/>
          </p:cNvPicPr>
          <p:nvPr/>
        </p:nvPicPr>
        <p:blipFill>
          <a:blip r:embed="rId4"/>
          <a:stretch>
            <a:fillRect/>
          </a:stretch>
        </p:blipFill>
        <p:spPr>
          <a:xfrm rot="0">
            <a:off x="741442" y="938907"/>
            <a:ext cx="10970397" cy="6770020"/>
          </a:xfrm>
          <a:prstGeom prst="rect">
            <a:avLst/>
          </a:prstGeom>
        </p:spPr>
      </p:pic>
      <p:grpSp>
        <p:nvGrpSpPr>
          <p:cNvPr name="Group 7" id="7"/>
          <p:cNvGrpSpPr/>
          <p:nvPr/>
        </p:nvGrpSpPr>
        <p:grpSpPr>
          <a:xfrm rot="0">
            <a:off x="11157543" y="1842384"/>
            <a:ext cx="5519001" cy="4963066"/>
            <a:chOff x="0" y="0"/>
            <a:chExt cx="8176298" cy="7352690"/>
          </a:xfrm>
        </p:grpSpPr>
        <p:sp>
          <p:nvSpPr>
            <p:cNvPr name="Freeform 8" id="8"/>
            <p:cNvSpPr/>
            <p:nvPr/>
          </p:nvSpPr>
          <p:spPr>
            <a:xfrm flipH="false" flipV="false" rot="0">
              <a:off x="0" y="0"/>
              <a:ext cx="8176387" cy="7352792"/>
            </a:xfrm>
            <a:custGeom>
              <a:avLst/>
              <a:gdLst/>
              <a:ahLst/>
              <a:cxnLst/>
              <a:rect r="r" b="b" t="t" l="l"/>
              <a:pathLst>
                <a:path h="7352792" w="8176387">
                  <a:moveTo>
                    <a:pt x="0" y="441198"/>
                  </a:moveTo>
                  <a:cubicBezTo>
                    <a:pt x="0" y="197485"/>
                    <a:pt x="197485" y="0"/>
                    <a:pt x="441198" y="0"/>
                  </a:cubicBezTo>
                  <a:lnTo>
                    <a:pt x="7735189" y="0"/>
                  </a:lnTo>
                  <a:cubicBezTo>
                    <a:pt x="7978775" y="0"/>
                    <a:pt x="8176387" y="197485"/>
                    <a:pt x="8176387" y="441198"/>
                  </a:cubicBezTo>
                  <a:lnTo>
                    <a:pt x="8176387" y="6911594"/>
                  </a:lnTo>
                  <a:cubicBezTo>
                    <a:pt x="8176387" y="7155180"/>
                    <a:pt x="7978902" y="7352792"/>
                    <a:pt x="7735189" y="7352792"/>
                  </a:cubicBezTo>
                  <a:lnTo>
                    <a:pt x="441198" y="7352792"/>
                  </a:lnTo>
                  <a:cubicBezTo>
                    <a:pt x="197485" y="7352665"/>
                    <a:pt x="0" y="7155180"/>
                    <a:pt x="0" y="6911594"/>
                  </a:cubicBezTo>
                  <a:close/>
                </a:path>
              </a:pathLst>
            </a:custGeom>
            <a:solidFill>
              <a:srgbClr val="FFFFFF"/>
            </a:solidFill>
            <a:ln w="23831" cap="sq">
              <a:solidFill>
                <a:srgbClr val="E6EEE0"/>
              </a:solidFill>
              <a:prstDash val="solid"/>
              <a:miter/>
            </a:ln>
          </p:spPr>
        </p:sp>
      </p:grpSp>
      <p:sp>
        <p:nvSpPr>
          <p:cNvPr name="TextBox 9" id="9"/>
          <p:cNvSpPr txBox="true"/>
          <p:nvPr/>
        </p:nvSpPr>
        <p:spPr>
          <a:xfrm rot="0">
            <a:off x="11394718" y="1896708"/>
            <a:ext cx="5106406" cy="487647"/>
          </a:xfrm>
          <a:prstGeom prst="rect">
            <a:avLst/>
          </a:prstGeom>
        </p:spPr>
        <p:txBody>
          <a:bodyPr anchor="t" rtlCol="false" tIns="0" lIns="0" bIns="0" rIns="0">
            <a:spAutoFit/>
          </a:bodyPr>
          <a:lstStyle/>
          <a:p>
            <a:pPr algn="l">
              <a:lnSpc>
                <a:spcPts val="3062"/>
              </a:lnSpc>
            </a:pPr>
            <a:r>
              <a:rPr lang="en-US" sz="2295" b="true">
                <a:solidFill>
                  <a:srgbClr val="14342B"/>
                </a:solidFill>
                <a:latin typeface="Calibri (MS) Bold"/>
                <a:ea typeface="Calibri (MS) Bold"/>
                <a:cs typeface="Calibri (MS) Bold"/>
                <a:sym typeface="Calibri (MS) Bold"/>
              </a:rPr>
              <a:t>In simple words</a:t>
            </a:r>
          </a:p>
        </p:txBody>
      </p:sp>
      <p:sp>
        <p:nvSpPr>
          <p:cNvPr name="TextBox 10" id="10"/>
          <p:cNvSpPr txBox="true"/>
          <p:nvPr/>
        </p:nvSpPr>
        <p:spPr>
          <a:xfrm rot="0">
            <a:off x="11435866" y="2469094"/>
            <a:ext cx="5024110" cy="4284484"/>
          </a:xfrm>
          <a:prstGeom prst="rect">
            <a:avLst/>
          </a:prstGeom>
        </p:spPr>
        <p:txBody>
          <a:bodyPr anchor="t" rtlCol="false" tIns="0" lIns="0" bIns="0" rIns="0">
            <a:spAutoFit/>
          </a:bodyPr>
          <a:lstStyle/>
          <a:p>
            <a:pPr algn="l">
              <a:lnSpc>
                <a:spcPts val="2521"/>
              </a:lnSpc>
            </a:pPr>
            <a:r>
              <a:rPr lang="en-US" sz="1890" b="true">
                <a:solidFill>
                  <a:srgbClr val="1B2A22"/>
                </a:solidFill>
                <a:latin typeface="Calibri (MS) Bold"/>
                <a:ea typeface="Calibri (MS) Bold"/>
                <a:cs typeface="Calibri (MS) Bold"/>
                <a:sym typeface="Calibri (MS) Bold"/>
              </a:rPr>
              <a:t>•  Sun tracking: </a:t>
            </a:r>
            <a:r>
              <a:rPr lang="en-US" sz="1890">
                <a:solidFill>
                  <a:srgbClr val="1B2A22"/>
                </a:solidFill>
                <a:latin typeface="Calibri (MS)"/>
                <a:ea typeface="Calibri (MS)"/>
                <a:cs typeface="Calibri (MS)"/>
                <a:sym typeface="Calibri (MS)"/>
              </a:rPr>
              <a:t>most electricity, but the crops get only 27 % of the light they need.</a:t>
            </a:r>
          </a:p>
          <a:p>
            <a:pPr algn="l">
              <a:lnSpc>
                <a:spcPts val="2521"/>
              </a:lnSpc>
            </a:pPr>
            <a:r>
              <a:rPr lang="en-US" sz="1890" b="true">
                <a:solidFill>
                  <a:srgbClr val="1B2A22"/>
                </a:solidFill>
                <a:latin typeface="Calibri (MS) Bold"/>
                <a:ea typeface="Calibri (MS) Bold"/>
                <a:cs typeface="Calibri (MS) Bold"/>
                <a:sym typeface="Calibri (MS) Bold"/>
              </a:rPr>
              <a:t>•  Fixed 45 degrees: </a:t>
            </a:r>
            <a:r>
              <a:rPr lang="en-US" sz="1890">
                <a:solidFill>
                  <a:srgbClr val="1B2A22"/>
                </a:solidFill>
                <a:latin typeface="Calibri (MS)"/>
                <a:ea typeface="Calibri (MS)"/>
                <a:cs typeface="Calibri (MS)"/>
                <a:sym typeface="Calibri (MS)"/>
              </a:rPr>
              <a:t>crops fine, electricity 74 % of best.</a:t>
            </a:r>
          </a:p>
          <a:p>
            <a:pPr algn="l">
              <a:lnSpc>
                <a:spcPts val="2521"/>
              </a:lnSpc>
            </a:pPr>
            <a:r>
              <a:rPr lang="en-US" sz="1890" b="true">
                <a:solidFill>
                  <a:srgbClr val="1B2A22"/>
                </a:solidFill>
                <a:latin typeface="Calibri (MS) Bold"/>
                <a:ea typeface="Calibri (MS) Bold"/>
                <a:cs typeface="Calibri (MS) Bold"/>
                <a:sym typeface="Calibri (MS) Bold"/>
              </a:rPr>
              <a:t>•  SRMC controller: </a:t>
            </a:r>
            <a:r>
              <a:rPr lang="en-US" sz="1890">
                <a:solidFill>
                  <a:srgbClr val="1B2A22"/>
                </a:solidFill>
                <a:latin typeface="Calibri (MS)"/>
                <a:ea typeface="Calibri (MS)"/>
                <a:cs typeface="Calibri (MS)"/>
                <a:sym typeface="Calibri (MS)"/>
              </a:rPr>
              <a:t>75 % of the best electricity and 89 % of the best crop light.</a:t>
            </a:r>
          </a:p>
          <a:p>
            <a:pPr algn="l">
              <a:lnSpc>
                <a:spcPts val="2521"/>
              </a:lnSpc>
            </a:pPr>
            <a:r>
              <a:rPr lang="en-US" sz="1890" b="true">
                <a:solidFill>
                  <a:srgbClr val="1B2A22"/>
                </a:solidFill>
                <a:latin typeface="Calibri (MS) Bold"/>
                <a:ea typeface="Calibri (MS) Bold"/>
                <a:cs typeface="Calibri (MS) Bold"/>
                <a:sym typeface="Calibri (MS) Bold"/>
              </a:rPr>
              <a:t>•  Against fixed 45 degrees: </a:t>
            </a:r>
            <a:r>
              <a:rPr lang="en-US" sz="1890">
                <a:solidFill>
                  <a:srgbClr val="1B2A22"/>
                </a:solidFill>
                <a:latin typeface="Calibri (MS)"/>
                <a:ea typeface="Calibri (MS)"/>
                <a:cs typeface="Calibri (MS)"/>
                <a:sym typeface="Calibri (MS)"/>
              </a:rPr>
              <a:t>electricity +2.5 %, crop light +9.7 %.</a:t>
            </a:r>
          </a:p>
        </p:txBody>
      </p:sp>
      <p:graphicFrame>
        <p:nvGraphicFramePr>
          <p:cNvPr name="Table 11" id="11"/>
          <p:cNvGraphicFramePr>
            <a:graphicFrameLocks noGrp="true"/>
          </p:cNvGraphicFramePr>
          <p:nvPr/>
        </p:nvGraphicFramePr>
        <p:xfrm>
          <a:off x="1655642" y="6980039"/>
          <a:ext cx="9128271" cy="1286877"/>
        </p:xfrm>
        <a:graphic>
          <a:graphicData uri="http://schemas.openxmlformats.org/drawingml/2006/table">
            <a:tbl>
              <a:tblPr/>
              <a:tblGrid>
                <a:gridCol w="4194071"/>
                <a:gridCol w="2467100"/>
                <a:gridCol w="2467100"/>
              </a:tblGrid>
              <a:tr h="428959">
                <a:tc>
                  <a:txBody>
                    <a:bodyPr anchor="t" rtlCol="false"/>
                    <a:lstStyle/>
                    <a:p>
                      <a:pPr algn="l">
                        <a:lnSpc>
                          <a:spcPts val="2251"/>
                        </a:lnSpc>
                        <a:defRPr/>
                      </a:pPr>
                      <a:r>
                        <a:rPr lang="en-US" sz="1688" b="true">
                          <a:solidFill>
                            <a:srgbClr val="FFFFFF"/>
                          </a:solidFill>
                          <a:latin typeface="Calibri (MS) Bold"/>
                          <a:ea typeface="Calibri (MS) Bold"/>
                          <a:cs typeface="Calibri (MS) Bold"/>
                          <a:sym typeface="Calibri (MS) Bold"/>
                        </a:rPr>
                        <a:t>Other days (same controller)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251"/>
                        </a:lnSpc>
                        <a:defRPr/>
                      </a:pPr>
                      <a:r>
                        <a:rPr lang="en-US" sz="1688" b="true">
                          <a:solidFill>
                            <a:srgbClr val="FFFFFF"/>
                          </a:solidFill>
                          <a:latin typeface="Calibri (MS) Bold"/>
                          <a:ea typeface="Calibri (MS) Bold"/>
                          <a:cs typeface="Calibri (MS) Bold"/>
                          <a:sym typeface="Calibri (MS) Bold"/>
                        </a:rPr>
                        <a:t>Electricity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251"/>
                        </a:lnSpc>
                        <a:defRPr/>
                      </a:pPr>
                      <a:r>
                        <a:rPr lang="en-US" sz="1688" b="true">
                          <a:solidFill>
                            <a:srgbClr val="FFFFFF"/>
                          </a:solidFill>
                          <a:latin typeface="Calibri (MS) Bold"/>
                          <a:ea typeface="Calibri (MS) Bold"/>
                          <a:cs typeface="Calibri (MS) Bold"/>
                          <a:sym typeface="Calibri (MS) Bold"/>
                        </a:rPr>
                        <a:t>Crop light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r>
              <a:tr h="428959">
                <a:tc>
                  <a:txBody>
                    <a:bodyPr anchor="t" rtlCol="false"/>
                    <a:lstStyle/>
                    <a:p>
                      <a:pPr algn="l">
                        <a:lnSpc>
                          <a:spcPts val="2251"/>
                        </a:lnSpc>
                        <a:defRPr/>
                      </a:pPr>
                      <a:r>
                        <a:rPr lang="en-US" sz="1688" b="true">
                          <a:solidFill>
                            <a:srgbClr val="1B2A22"/>
                          </a:solidFill>
                          <a:latin typeface="Calibri (MS) Bold"/>
                          <a:ea typeface="Calibri (MS) Bold"/>
                          <a:cs typeface="Calibri (MS) Bold"/>
                          <a:sym typeface="Calibri (MS) Bold"/>
                        </a:rPr>
                        <a:t>Partly cloudy day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78 % of best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97 % of best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428959">
                <a:tc>
                  <a:txBody>
                    <a:bodyPr anchor="t" rtlCol="false"/>
                    <a:lstStyle/>
                    <a:p>
                      <a:pPr algn="l">
                        <a:lnSpc>
                          <a:spcPts val="2251"/>
                        </a:lnSpc>
                        <a:defRPr/>
                      </a:pPr>
                      <a:r>
                        <a:rPr lang="en-US" sz="1688" b="true">
                          <a:solidFill>
                            <a:srgbClr val="1B2A22"/>
                          </a:solidFill>
                          <a:latin typeface="Calibri (MS) Bold"/>
                          <a:ea typeface="Calibri (MS) Bold"/>
                          <a:cs typeface="Calibri (MS) Bold"/>
                          <a:sym typeface="Calibri (MS) Bold"/>
                        </a:rPr>
                        <a:t>Hot, dry day (plant stress)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79 % of best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251"/>
                        </a:lnSpc>
                        <a:defRPr/>
                      </a:pPr>
                      <a:r>
                        <a:rPr lang="en-US" sz="1688">
                          <a:solidFill>
                            <a:srgbClr val="1B2A22"/>
                          </a:solidFill>
                          <a:latin typeface="Calibri (MS)"/>
                          <a:ea typeface="Calibri (MS)"/>
                          <a:cs typeface="Calibri (MS)"/>
                          <a:sym typeface="Calibri (MS)"/>
                        </a:rPr>
                        <a:t>88 % of best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bl>
          </a:graphicData>
        </a:graphic>
      </p:graphicFrame>
      <p:grpSp>
        <p:nvGrpSpPr>
          <p:cNvPr name="Group 12" id="12"/>
          <p:cNvGrpSpPr/>
          <p:nvPr/>
        </p:nvGrpSpPr>
        <p:grpSpPr>
          <a:xfrm rot="0">
            <a:off x="11157543" y="6969313"/>
            <a:ext cx="5519001" cy="1998095"/>
            <a:chOff x="0" y="0"/>
            <a:chExt cx="8176298" cy="2960141"/>
          </a:xfrm>
        </p:grpSpPr>
        <p:sp>
          <p:nvSpPr>
            <p:cNvPr name="Freeform 13" id="13"/>
            <p:cNvSpPr/>
            <p:nvPr/>
          </p:nvSpPr>
          <p:spPr>
            <a:xfrm flipH="false" flipV="false" rot="0">
              <a:off x="0" y="0"/>
              <a:ext cx="8176260" cy="2960116"/>
            </a:xfrm>
            <a:custGeom>
              <a:avLst/>
              <a:gdLst/>
              <a:ahLst/>
              <a:cxnLst/>
              <a:rect r="r" b="b" t="t" l="l"/>
              <a:pathLst>
                <a:path h="2960116" w="8176260">
                  <a:moveTo>
                    <a:pt x="0" y="177546"/>
                  </a:moveTo>
                  <a:cubicBezTo>
                    <a:pt x="0" y="79502"/>
                    <a:pt x="79502" y="0"/>
                    <a:pt x="177546" y="0"/>
                  </a:cubicBezTo>
                  <a:lnTo>
                    <a:pt x="7998714" y="0"/>
                  </a:lnTo>
                  <a:cubicBezTo>
                    <a:pt x="8096758" y="0"/>
                    <a:pt x="8176260" y="79502"/>
                    <a:pt x="8176260" y="177546"/>
                  </a:cubicBezTo>
                  <a:lnTo>
                    <a:pt x="8176260" y="2782570"/>
                  </a:lnTo>
                  <a:cubicBezTo>
                    <a:pt x="8176260" y="2880614"/>
                    <a:pt x="8096758" y="2960116"/>
                    <a:pt x="7998714" y="2960116"/>
                  </a:cubicBezTo>
                  <a:lnTo>
                    <a:pt x="177546" y="2960116"/>
                  </a:lnTo>
                  <a:cubicBezTo>
                    <a:pt x="79502" y="2960116"/>
                    <a:pt x="0" y="2880614"/>
                    <a:pt x="0" y="2782570"/>
                  </a:cubicBezTo>
                  <a:close/>
                </a:path>
              </a:pathLst>
            </a:custGeom>
            <a:solidFill>
              <a:srgbClr val="FFF6DC"/>
            </a:solidFill>
            <a:ln w="23831" cap="sq">
              <a:solidFill>
                <a:srgbClr val="E8A317"/>
              </a:solidFill>
              <a:prstDash val="solid"/>
              <a:miter/>
            </a:ln>
          </p:spPr>
        </p:sp>
      </p:grpSp>
      <p:sp>
        <p:nvSpPr>
          <p:cNvPr name="TextBox 14" id="14"/>
          <p:cNvSpPr txBox="true"/>
          <p:nvPr/>
        </p:nvSpPr>
        <p:spPr>
          <a:xfrm rot="0">
            <a:off x="11357659" y="7044563"/>
            <a:ext cx="5118759" cy="355536"/>
          </a:xfrm>
          <a:prstGeom prst="rect">
            <a:avLst/>
          </a:prstGeom>
        </p:spPr>
        <p:txBody>
          <a:bodyPr anchor="t" rtlCol="false" tIns="0" lIns="0" bIns="0" rIns="0">
            <a:spAutoFit/>
          </a:bodyPr>
          <a:lstStyle/>
          <a:p>
            <a:pPr algn="l">
              <a:lnSpc>
                <a:spcPts val="2251"/>
              </a:lnSpc>
            </a:pPr>
            <a:r>
              <a:rPr lang="en-US" sz="1688" b="true">
                <a:solidFill>
                  <a:srgbClr val="8A5A00"/>
                </a:solidFill>
                <a:latin typeface="Calibri (MS) Bold"/>
                <a:ea typeface="Calibri (MS) Bold"/>
                <a:cs typeface="Calibri (MS) Bold"/>
                <a:sym typeface="Calibri (MS) Bold"/>
              </a:rPr>
              <a:t>PROOF: how it works and where it comes from</a:t>
            </a:r>
          </a:p>
        </p:txBody>
      </p:sp>
      <p:sp>
        <p:nvSpPr>
          <p:cNvPr name="TextBox 15" id="15"/>
          <p:cNvSpPr txBox="true"/>
          <p:nvPr/>
        </p:nvSpPr>
        <p:spPr>
          <a:xfrm rot="0">
            <a:off x="11398807" y="7456351"/>
            <a:ext cx="5036463" cy="1409773"/>
          </a:xfrm>
          <a:prstGeom prst="rect">
            <a:avLst/>
          </a:prstGeom>
        </p:spPr>
        <p:txBody>
          <a:bodyPr anchor="t" rtlCol="false" tIns="0" lIns="0" bIns="0" rIns="0">
            <a:spAutoFit/>
          </a:bodyPr>
          <a:lstStyle/>
          <a:p>
            <a:pPr algn="l">
              <a:lnSpc>
                <a:spcPts val="2071"/>
              </a:lnSpc>
            </a:pPr>
            <a:r>
              <a:rPr lang="en-US" sz="1553">
                <a:solidFill>
                  <a:srgbClr val="1B2A22"/>
                </a:solidFill>
                <a:latin typeface="Calibri (MS)"/>
                <a:ea typeface="Calibri (MS)"/>
                <a:cs typeface="Calibri (MS)"/>
                <a:sym typeface="Calibri (MS)"/>
              </a:rPr>
              <a:t>•  Simulated day same functions as the dashboard</a:t>
            </a:r>
          </a:p>
          <a:p>
            <a:pPr algn="l">
              <a:lnSpc>
                <a:spcPts val="2071"/>
              </a:lnSpc>
            </a:pPr>
            <a:r>
              <a:rPr lang="en-US" sz="1553">
                <a:solidFill>
                  <a:srgbClr val="1B2A22"/>
                </a:solidFill>
                <a:latin typeface="Calibri (MS)"/>
                <a:ea typeface="Calibri (MS)"/>
                <a:cs typeface="Calibri (MS)"/>
                <a:sym typeface="Calibri (MS)"/>
              </a:rPr>
              <a:t>•  Sun tracking is only a reference: our panels have two positions</a:t>
            </a:r>
          </a:p>
          <a:p>
            <a:pPr algn="l">
              <a:lnSpc>
                <a:spcPts val="2071"/>
              </a:lnSpc>
            </a:pPr>
            <a:r>
              <a:rPr lang="en-US" sz="1553">
                <a:solidFill>
                  <a:srgbClr val="1B2A22"/>
                </a:solidFill>
                <a:latin typeface="Calibri (MS)"/>
                <a:ea typeface="Calibri (MS)"/>
                <a:cs typeface="Calibri (MS)"/>
                <a:sym typeface="Calibri (MS)"/>
              </a:rPr>
              <a:t>•  Files: results/day_comparison.csv, fig_energy_vs_crop_clear_day.png</a:t>
            </a:r>
          </a:p>
        </p:txBody>
      </p:sp>
      <p:grpSp>
        <p:nvGrpSpPr>
          <p:cNvPr name="Group 2" id="2"/>
          <p:cNvGrpSpPr/>
          <p:nvPr/>
        </p:nvGrpSpPr>
        <p:grpSpPr>
          <a:xfrm rot="0">
            <a:off x="2286000" y="9601200"/>
            <a:ext cx="13716000" cy="685800"/>
            <a:chOff x="0" y="0"/>
            <a:chExt cx="13004800" cy="650240"/>
          </a:xfrm>
        </p:grpSpPr>
        <p:sp>
          <p:nvSpPr>
            <p:cNvPr name="Freeform 3" id="3"/>
            <p:cNvSpPr/>
            <p:nvPr/>
          </p:nvSpPr>
          <p:spPr>
            <a:xfrm flipH="false" flipV="false" rot="0">
              <a:off x="0" y="0"/>
              <a:ext cx="13004800" cy="650240"/>
            </a:xfrm>
            <a:custGeom>
              <a:avLst/>
              <a:gdLst/>
              <a:ahLst/>
              <a:cxnLst/>
              <a:rect r="r" b="b" t="t" l="l"/>
              <a:pathLst>
                <a:path h="650240" w="13004800">
                  <a:moveTo>
                    <a:pt x="0" y="0"/>
                  </a:moveTo>
                  <a:lnTo>
                    <a:pt x="13004800" y="0"/>
                  </a:lnTo>
                  <a:lnTo>
                    <a:pt x="13004800" y="650240"/>
                  </a:lnTo>
                  <a:lnTo>
                    <a:pt x="0" y="650240"/>
                  </a:lnTo>
                  <a:close/>
                </a:path>
              </a:pathLst>
            </a:custGeom>
            <a:solidFill>
              <a:srgbClr val="BD582C"/>
            </a:solidFill>
          </p:spPr>
        </p:sp>
      </p:grpSp>
      <p:grpSp>
        <p:nvGrpSpPr>
          <p:cNvPr name="Group 4" id="4"/>
          <p:cNvGrpSpPr/>
          <p:nvPr/>
        </p:nvGrpSpPr>
        <p:grpSpPr>
          <a:xfrm rot="0">
            <a:off x="2286000" y="9501478"/>
            <a:ext cx="13716000" cy="98986"/>
            <a:chOff x="0" y="0"/>
            <a:chExt cx="13004800" cy="93853"/>
          </a:xfrm>
        </p:grpSpPr>
        <p:sp>
          <p:nvSpPr>
            <p:cNvPr name="Freeform 5" id="5"/>
            <p:cNvSpPr/>
            <p:nvPr/>
          </p:nvSpPr>
          <p:spPr>
            <a:xfrm flipH="false" flipV="false" rot="0">
              <a:off x="0" y="0"/>
              <a:ext cx="13004800" cy="93853"/>
            </a:xfrm>
            <a:custGeom>
              <a:avLst/>
              <a:gdLst/>
              <a:ahLst/>
              <a:cxnLst/>
              <a:rect r="r" b="b" t="t" l="l"/>
              <a:pathLst>
                <a:path h="93853" w="13004800">
                  <a:moveTo>
                    <a:pt x="0" y="0"/>
                  </a:moveTo>
                  <a:lnTo>
                    <a:pt x="13004800" y="0"/>
                  </a:lnTo>
                  <a:lnTo>
                    <a:pt x="13004800" y="93853"/>
                  </a:lnTo>
                  <a:lnTo>
                    <a:pt x="0" y="93853"/>
                  </a:lnTo>
                  <a:close/>
                </a:path>
              </a:pathLst>
            </a:custGeom>
            <a:solidFill>
              <a:srgbClr val="E48312"/>
            </a:solidFill>
          </p:spPr>
        </p:sp>
      </p:grpSp>
      <p:grpSp>
        <p:nvGrpSpPr>
          <p:cNvPr name="Group 7" id="7"/>
          <p:cNvGrpSpPr/>
          <p:nvPr/>
        </p:nvGrpSpPr>
        <p:grpSpPr>
          <a:xfrm rot="0">
            <a:off x="2289576" y="9601200"/>
            <a:ext cx="13712383" cy="685800"/>
            <a:chOff x="0" y="0"/>
            <a:chExt cx="13001371" cy="650240"/>
          </a:xfrm>
        </p:grpSpPr>
        <p:sp>
          <p:nvSpPr>
            <p:cNvPr name="Freeform 8" id="8"/>
            <p:cNvSpPr/>
            <p:nvPr/>
          </p:nvSpPr>
          <p:spPr>
            <a:xfrm flipH="false" flipV="false" rot="0">
              <a:off x="0" y="0"/>
              <a:ext cx="13001371" cy="650240"/>
            </a:xfrm>
            <a:custGeom>
              <a:avLst/>
              <a:gdLst/>
              <a:ahLst/>
              <a:cxnLst/>
              <a:rect r="r" b="b" t="t" l="l"/>
              <a:pathLst>
                <a:path h="650240" w="13001371">
                  <a:moveTo>
                    <a:pt x="0" y="0"/>
                  </a:moveTo>
                  <a:lnTo>
                    <a:pt x="13001371" y="0"/>
                  </a:lnTo>
                  <a:lnTo>
                    <a:pt x="13001371" y="650240"/>
                  </a:lnTo>
                  <a:lnTo>
                    <a:pt x="0" y="650240"/>
                  </a:lnTo>
                  <a:close/>
                </a:path>
              </a:pathLst>
            </a:custGeom>
            <a:solidFill>
              <a:srgbClr val="BD582C"/>
            </a:solidFill>
          </p:spPr>
        </p:sp>
      </p:grpSp>
      <p:grpSp>
        <p:nvGrpSpPr>
          <p:cNvPr name="Group 9" id="9"/>
          <p:cNvGrpSpPr/>
          <p:nvPr/>
        </p:nvGrpSpPr>
        <p:grpSpPr>
          <a:xfrm rot="0">
            <a:off x="2286013" y="9501478"/>
            <a:ext cx="13712383" cy="96039"/>
            <a:chOff x="0" y="0"/>
            <a:chExt cx="13001371" cy="91059"/>
          </a:xfrm>
        </p:grpSpPr>
        <p:sp>
          <p:nvSpPr>
            <p:cNvPr name="Freeform 10" id="10"/>
            <p:cNvSpPr/>
            <p:nvPr/>
          </p:nvSpPr>
          <p:spPr>
            <a:xfrm flipH="false" flipV="false" rot="0">
              <a:off x="0" y="0"/>
              <a:ext cx="13001371" cy="91059"/>
            </a:xfrm>
            <a:custGeom>
              <a:avLst/>
              <a:gdLst/>
              <a:ahLst/>
              <a:cxnLst/>
              <a:rect r="r" b="b" t="t" l="l"/>
              <a:pathLst>
                <a:path h="91059" w="13001371">
                  <a:moveTo>
                    <a:pt x="0" y="0"/>
                  </a:moveTo>
                  <a:lnTo>
                    <a:pt x="13001371" y="0"/>
                  </a:lnTo>
                  <a:lnTo>
                    <a:pt x="13001371" y="91059"/>
                  </a:lnTo>
                  <a:lnTo>
                    <a:pt x="0" y="91059"/>
                  </a:lnTo>
                  <a:close/>
                </a:path>
              </a:pathLst>
            </a:custGeom>
            <a:solidFill>
              <a:srgbClr val="E48312"/>
            </a:solidFill>
          </p:spPr>
        </p:sp>
      </p:grpSp>
      <p:grpSp>
        <p:nvGrpSpPr>
          <p:cNvPr name="Group 17" id="17"/>
          <p:cNvGrpSpPr/>
          <p:nvPr/>
        </p:nvGrpSpPr>
        <p:grpSpPr>
          <a:xfrm rot="0">
            <a:off x="6432960" y="9689684"/>
            <a:ext cx="5425656" cy="547689"/>
            <a:chOff x="0" y="0"/>
            <a:chExt cx="5144326" cy="519290"/>
          </a:xfrm>
        </p:grpSpPr>
        <p:sp>
          <p:nvSpPr>
            <p:cNvPr name="Freeform 18" id="18"/>
            <p:cNvSpPr/>
            <p:nvPr/>
          </p:nvSpPr>
          <p:spPr>
            <a:xfrm flipH="false" flipV="false" rot="0">
              <a:off x="0" y="0"/>
              <a:ext cx="5144262" cy="519303"/>
            </a:xfrm>
            <a:custGeom>
              <a:avLst/>
              <a:gdLst/>
              <a:ahLst/>
              <a:cxnLst/>
              <a:rect r="r" b="b" t="t" l="l"/>
              <a:pathLst>
                <a:path h="519303" w="5144262">
                  <a:moveTo>
                    <a:pt x="0" y="0"/>
                  </a:moveTo>
                  <a:lnTo>
                    <a:pt x="5144262" y="0"/>
                  </a:lnTo>
                  <a:lnTo>
                    <a:pt x="5144262" y="519303"/>
                  </a:lnTo>
                  <a:lnTo>
                    <a:pt x="0" y="519303"/>
                  </a:lnTo>
                  <a:close/>
                </a:path>
              </a:pathLst>
            </a:custGeom>
            <a:blipFill>
              <a:blip r:embed="rId3">
                <a:alphaModFix amt="0"/>
              </a:blip>
              <a:stretch>
                <a:fillRect l="0" t="-142890" r="-1" b="-142885"/>
              </a:stretch>
            </a:blipFill>
          </p:spPr>
        </p:sp>
      </p:grpSp>
      <p:grpSp>
        <p:nvGrpSpPr>
          <p:cNvPr name="Group 19" id="19"/>
          <p:cNvGrpSpPr/>
          <p:nvPr/>
        </p:nvGrpSpPr>
        <p:grpSpPr>
          <a:xfrm rot="0">
            <a:off x="6432960" y="9669592"/>
            <a:ext cx="5425656" cy="567781"/>
            <a:chOff x="0" y="0"/>
            <a:chExt cx="5144326" cy="538341"/>
          </a:xfrm>
        </p:grpSpPr>
        <p:sp>
          <p:nvSpPr>
            <p:cNvPr name="Freeform 20" id="20"/>
            <p:cNvSpPr/>
            <p:nvPr/>
          </p:nvSpPr>
          <p:spPr>
            <a:xfrm flipH="false" flipV="false" rot="0">
              <a:off x="0" y="0"/>
              <a:ext cx="5144326" cy="538341"/>
            </a:xfrm>
            <a:custGeom>
              <a:avLst/>
              <a:gdLst/>
              <a:ahLst/>
              <a:cxnLst/>
              <a:rect r="r" b="b" t="t" l="l"/>
              <a:pathLst>
                <a:path h="538341" w="5144326">
                  <a:moveTo>
                    <a:pt x="0" y="0"/>
                  </a:moveTo>
                  <a:lnTo>
                    <a:pt x="5144326" y="0"/>
                  </a:lnTo>
                  <a:lnTo>
                    <a:pt x="5144326" y="538341"/>
                  </a:lnTo>
                  <a:lnTo>
                    <a:pt x="0" y="538341"/>
                  </a:lnTo>
                  <a:close/>
                </a:path>
              </a:pathLst>
            </a:custGeom>
            <a:blipFill>
              <a:blip r:embed="rId4">
                <a:alphaModFix amt="0"/>
              </a:blip>
              <a:stretch>
                <a:fillRect l="0" t="-136196" r="0" b="-136196"/>
              </a:stretch>
            </a:blipFill>
          </p:spPr>
        </p:sp>
        <p:sp>
          <p:nvSpPr>
            <p:cNvPr name="TextBox 21" id="21"/>
            <p:cNvSpPr txBox="true"/>
            <p:nvPr/>
          </p:nvSpPr>
          <p:spPr>
            <a:xfrm>
              <a:off x="0" y="-28575"/>
              <a:ext cx="5144326" cy="566916"/>
            </a:xfrm>
            <a:prstGeom prst="rect">
              <a:avLst/>
            </a:prstGeom>
          </p:spPr>
          <p:txBody>
            <a:bodyPr anchor="ctr" rtlCol="false" tIns="0" lIns="0" bIns="0" rIns="0"/>
            <a:lstStyle/>
            <a:p>
              <a:pPr algn="ctr">
                <a:lnSpc>
                  <a:spcPts val="1620"/>
                </a:lnSpc>
              </a:pPr>
              <a:r>
                <a:rPr lang="en-US" sz="1350">
                  <a:solidFill>
                    <a:srgbClr val="FFFFFF"/>
                  </a:solidFill>
                  <a:latin typeface="Calibri (MS)"/>
                  <a:ea typeface="Calibri (MS)"/>
                  <a:cs typeface="Calibri (MS)"/>
                  <a:sym typeface="Calibri (MS)"/>
                </a:rPr>
                <a:t>TCE - EEE - 22EE690 - Project </a:t>
              </a:r>
            </a:p>
          </p:txBody>
        </p:sp>
      </p:grpSp>
      <p:grpSp>
        <p:nvGrpSpPr>
          <p:cNvPr name="Group 22" id="22"/>
          <p:cNvGrpSpPr/>
          <p:nvPr/>
        </p:nvGrpSpPr>
        <p:grpSpPr>
          <a:xfrm rot="0">
            <a:off x="13424022" y="9689684"/>
            <a:ext cx="1476024" cy="547689"/>
            <a:chOff x="0" y="0"/>
            <a:chExt cx="1399489" cy="519290"/>
          </a:xfrm>
        </p:grpSpPr>
        <p:sp>
          <p:nvSpPr>
            <p:cNvPr name="Freeform 23" id="23"/>
            <p:cNvSpPr/>
            <p:nvPr/>
          </p:nvSpPr>
          <p:spPr>
            <a:xfrm flipH="false" flipV="false" rot="0">
              <a:off x="0" y="0"/>
              <a:ext cx="1399540" cy="519303"/>
            </a:xfrm>
            <a:custGeom>
              <a:avLst/>
              <a:gdLst/>
              <a:ahLst/>
              <a:cxnLst/>
              <a:rect r="r" b="b" t="t" l="l"/>
              <a:pathLst>
                <a:path h="519303" w="1399540">
                  <a:moveTo>
                    <a:pt x="0" y="0"/>
                  </a:moveTo>
                  <a:lnTo>
                    <a:pt x="1399540" y="0"/>
                  </a:lnTo>
                  <a:lnTo>
                    <a:pt x="1399540" y="519303"/>
                  </a:lnTo>
                  <a:lnTo>
                    <a:pt x="0" y="519303"/>
                  </a:lnTo>
                  <a:close/>
                </a:path>
              </a:pathLst>
            </a:custGeom>
            <a:blipFill>
              <a:blip r:embed="rId3">
                <a:alphaModFix amt="0"/>
              </a:blip>
              <a:stretch>
                <a:fillRect l="0" t="-2474" r="3" b="-2474"/>
              </a:stretch>
            </a:blipFill>
          </p:spPr>
        </p:sp>
      </p:grpSp>
      <p:grpSp>
        <p:nvGrpSpPr>
          <p:cNvPr name="Group 24" id="24"/>
          <p:cNvGrpSpPr/>
          <p:nvPr/>
        </p:nvGrpSpPr>
        <p:grpSpPr>
          <a:xfrm rot="0">
            <a:off x="13424022" y="9659547"/>
            <a:ext cx="1476024" cy="577827"/>
            <a:chOff x="0" y="0"/>
            <a:chExt cx="1399489" cy="547865"/>
          </a:xfrm>
        </p:grpSpPr>
        <p:sp>
          <p:nvSpPr>
            <p:cNvPr name="Freeform 25" id="25"/>
            <p:cNvSpPr/>
            <p:nvPr/>
          </p:nvSpPr>
          <p:spPr>
            <a:xfrm flipH="false" flipV="false" rot="0">
              <a:off x="0" y="0"/>
              <a:ext cx="1399489" cy="547866"/>
            </a:xfrm>
            <a:custGeom>
              <a:avLst/>
              <a:gdLst/>
              <a:ahLst/>
              <a:cxnLst/>
              <a:rect r="r" b="b" t="t" l="l"/>
              <a:pathLst>
                <a:path h="547866" w="1399489">
                  <a:moveTo>
                    <a:pt x="0" y="0"/>
                  </a:moveTo>
                  <a:lnTo>
                    <a:pt x="1399489" y="0"/>
                  </a:lnTo>
                  <a:lnTo>
                    <a:pt x="1399489" y="547866"/>
                  </a:lnTo>
                  <a:lnTo>
                    <a:pt x="0" y="547866"/>
                  </a:lnTo>
                  <a:close/>
                </a:path>
              </a:pathLst>
            </a:custGeom>
            <a:blipFill>
              <a:blip r:embed="rId4">
                <a:alphaModFix amt="0"/>
              </a:blip>
              <a:stretch>
                <a:fillRect l="-227" t="0" r="-227" b="0"/>
              </a:stretch>
            </a:blipFill>
          </p:spPr>
        </p:sp>
        <p:sp>
          <p:nvSpPr>
            <p:cNvPr name="TextBox 26" id="26"/>
            <p:cNvSpPr txBox="true"/>
            <p:nvPr/>
          </p:nvSpPr>
          <p:spPr>
            <a:xfrm>
              <a:off x="0" y="-19050"/>
              <a:ext cx="1399489" cy="566915"/>
            </a:xfrm>
            <a:prstGeom prst="rect">
              <a:avLst/>
            </a:prstGeom>
          </p:spPr>
          <p:txBody>
            <a:bodyPr anchor="ctr" rtlCol="false" tIns="0" lIns="0" bIns="0" rIns="0"/>
            <a:lstStyle/>
            <a:p>
              <a:pPr algn="r">
                <a:lnSpc>
                  <a:spcPts val="1889"/>
                </a:lnSpc>
              </a:pPr>
              <a:r>
                <a:rPr lang="en-US" sz="1575">
                  <a:solidFill>
                    <a:srgbClr val="FFFFFF"/>
                  </a:solidFill>
                  <a:latin typeface="Calibri (MS)"/>
                  <a:ea typeface="Calibri (MS)"/>
                  <a:cs typeface="Calibri (MS)"/>
                  <a:sym typeface="Calibri (MS)"/>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7F2"/>
        </a:solidFill>
      </p:bgPr>
    </p:bg>
    <p:spTree>
      <p:nvGrpSpPr>
        <p:cNvPr id="1" name=""/>
        <p:cNvGrpSpPr/>
        <p:nvPr/>
      </p:nvGrpSpPr>
      <p:grpSpPr>
        <a:xfrm>
          <a:off x="0" y="0"/>
          <a:ext cx="0" cy="0"/>
          <a:chOff x="0" y="0"/>
          <a:chExt cx="0" cy="0"/>
        </a:xfrm>
      </p:grpSpPr>
      <p:grpSp>
        <p:nvGrpSpPr>
          <p:cNvPr name="Group 2" id="2"/>
          <p:cNvGrpSpPr/>
          <p:nvPr/>
        </p:nvGrpSpPr>
        <p:grpSpPr>
          <a:xfrm rot="0">
            <a:off x="1655647" y="370623"/>
            <a:ext cx="14948399" cy="92655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sp>
        <p:sp>
          <p:nvSpPr>
            <p:cNvPr name="TextBox 4" id="4"/>
            <p:cNvSpPr txBox="true"/>
            <p:nvPr/>
          </p:nvSpPr>
          <p:spPr>
            <a:xfrm>
              <a:off x="0" y="-9525"/>
              <a:ext cx="22145777" cy="1382192"/>
            </a:xfrm>
            <a:prstGeom prst="rect">
              <a:avLst/>
            </a:prstGeom>
          </p:spPr>
          <p:txBody>
            <a:bodyPr anchor="ctr" rtlCol="false" tIns="0" lIns="0" bIns="0" rIns="0"/>
            <a:lstStyle/>
            <a:p>
              <a:pPr algn="l">
                <a:lnSpc>
                  <a:spcPts val="5404"/>
                </a:lnSpc>
              </a:pPr>
              <a:r>
                <a:rPr lang="en-US" sz="4052" b="true">
                  <a:solidFill>
                    <a:srgbClr val="14342B"/>
                  </a:solidFill>
                  <a:latin typeface="Cambria Bold"/>
                  <a:ea typeface="Cambria Bold"/>
                  <a:cs typeface="Cambria Bold"/>
                  <a:sym typeface="Cambria Bold"/>
                </a:rPr>
                <a:t>MPPT: always working at the top of the power curve</a:t>
              </a:r>
            </a:p>
          </p:txBody>
        </p:sp>
      </p:grpSp>
      <p:sp>
        <p:nvSpPr>
          <p:cNvPr name="TextBox 5" id="5"/>
          <p:cNvSpPr txBox="true"/>
          <p:nvPr/>
        </p:nvSpPr>
        <p:spPr>
          <a:xfrm rot="0">
            <a:off x="1696795" y="1250513"/>
            <a:ext cx="14866103" cy="503780"/>
          </a:xfrm>
          <a:prstGeom prst="rect">
            <a:avLst/>
          </a:prstGeom>
        </p:spPr>
        <p:txBody>
          <a:bodyPr anchor="t" rtlCol="false" tIns="0" lIns="0" bIns="0" rIns="0">
            <a:spAutoFit/>
          </a:bodyPr>
          <a:lstStyle/>
          <a:p>
            <a:pPr algn="l">
              <a:lnSpc>
                <a:spcPts val="2882"/>
              </a:lnSpc>
            </a:pPr>
            <a:r>
              <a:rPr lang="en-US" sz="2160">
                <a:solidFill>
                  <a:srgbClr val="5B6B62"/>
                </a:solidFill>
                <a:latin typeface="Calibri (MS)"/>
                <a:ea typeface="Calibri (MS)"/>
                <a:cs typeface="Calibri (MS)"/>
                <a:sym typeface="Calibri (MS)"/>
              </a:rPr>
              <a:t>Maximum power point tracking, Perturb and Observe</a:t>
            </a:r>
          </a:p>
        </p:txBody>
      </p:sp>
      <p:grpSp>
        <p:nvGrpSpPr>
          <p:cNvPr name="Group 6" id="6"/>
          <p:cNvGrpSpPr/>
          <p:nvPr/>
        </p:nvGrpSpPr>
        <p:grpSpPr>
          <a:xfrm rot="0">
            <a:off x="1708865" y="1853109"/>
            <a:ext cx="8912014" cy="3767982"/>
            <a:chOff x="0" y="0"/>
            <a:chExt cx="13202984" cy="5582196"/>
          </a:xfrm>
        </p:grpSpPr>
        <p:sp>
          <p:nvSpPr>
            <p:cNvPr name="Freeform 7" id="7" descr="fig_mppt_curves.png"/>
            <p:cNvSpPr/>
            <p:nvPr/>
          </p:nvSpPr>
          <p:spPr>
            <a:xfrm flipH="false" flipV="false" rot="0">
              <a:off x="0" y="0"/>
              <a:ext cx="13202920" cy="5582158"/>
            </a:xfrm>
            <a:custGeom>
              <a:avLst/>
              <a:gdLst/>
              <a:ahLst/>
              <a:cxnLst/>
              <a:rect r="r" b="b" t="t" l="l"/>
              <a:pathLst>
                <a:path h="5582158" w="13202920">
                  <a:moveTo>
                    <a:pt x="0" y="0"/>
                  </a:moveTo>
                  <a:lnTo>
                    <a:pt x="13202920" y="0"/>
                  </a:lnTo>
                  <a:lnTo>
                    <a:pt x="13202920" y="5582158"/>
                  </a:lnTo>
                  <a:lnTo>
                    <a:pt x="0" y="5582158"/>
                  </a:lnTo>
                  <a:lnTo>
                    <a:pt x="0" y="0"/>
                  </a:lnTo>
                  <a:close/>
                </a:path>
              </a:pathLst>
            </a:custGeom>
            <a:blipFill>
              <a:blip r:embed="rId4"/>
              <a:stretch>
                <a:fillRect l="0" t="0" r="0" b="0"/>
              </a:stretch>
            </a:blipFill>
          </p:spPr>
        </p:sp>
      </p:grpSp>
      <p:grpSp>
        <p:nvGrpSpPr>
          <p:cNvPr name="Group 8" id="8"/>
          <p:cNvGrpSpPr/>
          <p:nvPr/>
        </p:nvGrpSpPr>
        <p:grpSpPr>
          <a:xfrm rot="0">
            <a:off x="11125944" y="1853109"/>
            <a:ext cx="5335095" cy="3767982"/>
            <a:chOff x="0" y="0"/>
            <a:chExt cx="7903845" cy="5582196"/>
          </a:xfrm>
        </p:grpSpPr>
        <p:sp>
          <p:nvSpPr>
            <p:cNvPr name="Freeform 9" id="9" descr="fig_mppt_tracking.png"/>
            <p:cNvSpPr/>
            <p:nvPr/>
          </p:nvSpPr>
          <p:spPr>
            <a:xfrm flipH="false" flipV="false" rot="0">
              <a:off x="0" y="0"/>
              <a:ext cx="7903845" cy="5582158"/>
            </a:xfrm>
            <a:custGeom>
              <a:avLst/>
              <a:gdLst/>
              <a:ahLst/>
              <a:cxnLst/>
              <a:rect r="r" b="b" t="t" l="l"/>
              <a:pathLst>
                <a:path h="5582158" w="7903845">
                  <a:moveTo>
                    <a:pt x="0" y="0"/>
                  </a:moveTo>
                  <a:lnTo>
                    <a:pt x="7903845" y="0"/>
                  </a:lnTo>
                  <a:lnTo>
                    <a:pt x="7903845" y="5582158"/>
                  </a:lnTo>
                  <a:lnTo>
                    <a:pt x="0" y="5582158"/>
                  </a:lnTo>
                  <a:lnTo>
                    <a:pt x="0" y="0"/>
                  </a:lnTo>
                  <a:close/>
                </a:path>
              </a:pathLst>
            </a:custGeom>
            <a:blipFill>
              <a:blip r:embed="rId5"/>
              <a:stretch>
                <a:fillRect l="0" t="0" r="0" b="0"/>
              </a:stretch>
            </a:blipFill>
          </p:spPr>
        </p:sp>
      </p:grpSp>
      <p:grpSp>
        <p:nvGrpSpPr>
          <p:cNvPr name="Group 10" id="10"/>
          <p:cNvGrpSpPr/>
          <p:nvPr/>
        </p:nvGrpSpPr>
        <p:grpSpPr>
          <a:xfrm rot="0">
            <a:off x="1644922" y="5733913"/>
            <a:ext cx="4901301" cy="1751018"/>
            <a:chOff x="0" y="0"/>
            <a:chExt cx="7261187" cy="2594102"/>
          </a:xfrm>
        </p:grpSpPr>
        <p:sp>
          <p:nvSpPr>
            <p:cNvPr name="Freeform 11" id="11"/>
            <p:cNvSpPr/>
            <p:nvPr/>
          </p:nvSpPr>
          <p:spPr>
            <a:xfrm flipH="false" flipV="false" rot="0">
              <a:off x="0" y="0"/>
              <a:ext cx="7261225" cy="2594102"/>
            </a:xfrm>
            <a:custGeom>
              <a:avLst/>
              <a:gdLst/>
              <a:ahLst/>
              <a:cxnLst/>
              <a:rect r="r" b="b" t="t" l="l"/>
              <a:pathLst>
                <a:path h="2594102" w="7261225">
                  <a:moveTo>
                    <a:pt x="0" y="155702"/>
                  </a:moveTo>
                  <a:cubicBezTo>
                    <a:pt x="0" y="69723"/>
                    <a:pt x="69723" y="0"/>
                    <a:pt x="155702" y="0"/>
                  </a:cubicBezTo>
                  <a:lnTo>
                    <a:pt x="7105523" y="0"/>
                  </a:lnTo>
                  <a:cubicBezTo>
                    <a:pt x="7191502" y="0"/>
                    <a:pt x="7261225" y="69723"/>
                    <a:pt x="7261225" y="155702"/>
                  </a:cubicBezTo>
                  <a:lnTo>
                    <a:pt x="7261225" y="2438400"/>
                  </a:lnTo>
                  <a:cubicBezTo>
                    <a:pt x="7261225" y="2524379"/>
                    <a:pt x="7191502" y="2594102"/>
                    <a:pt x="7105523" y="2594102"/>
                  </a:cubicBezTo>
                  <a:lnTo>
                    <a:pt x="155702" y="2594102"/>
                  </a:lnTo>
                  <a:cubicBezTo>
                    <a:pt x="69723" y="2594102"/>
                    <a:pt x="0" y="2524379"/>
                    <a:pt x="0" y="2438400"/>
                  </a:cubicBezTo>
                  <a:close/>
                </a:path>
              </a:pathLst>
            </a:custGeom>
            <a:solidFill>
              <a:srgbClr val="FFFFFF"/>
            </a:solidFill>
            <a:ln w="23831" cap="sq">
              <a:solidFill>
                <a:srgbClr val="E6EEE0"/>
              </a:solidFill>
              <a:prstDash val="solid"/>
              <a:miter/>
            </a:ln>
          </p:spPr>
        </p:sp>
      </p:grpSp>
      <p:sp>
        <p:nvSpPr>
          <p:cNvPr name="TextBox 12" id="12"/>
          <p:cNvSpPr txBox="true"/>
          <p:nvPr/>
        </p:nvSpPr>
        <p:spPr>
          <a:xfrm rot="0">
            <a:off x="1820332" y="5763523"/>
            <a:ext cx="4550472" cy="364108"/>
          </a:xfrm>
          <a:prstGeom prst="rect">
            <a:avLst/>
          </a:prstGeom>
        </p:spPr>
        <p:txBody>
          <a:bodyPr anchor="t" rtlCol="false" tIns="0" lIns="0" bIns="0" rIns="0">
            <a:spAutoFit/>
          </a:bodyPr>
          <a:lstStyle/>
          <a:p>
            <a:pPr algn="l">
              <a:lnSpc>
                <a:spcPts val="2521"/>
              </a:lnSpc>
            </a:pPr>
            <a:r>
              <a:rPr lang="en-US" sz="1890" b="true">
                <a:solidFill>
                  <a:srgbClr val="14342B"/>
                </a:solidFill>
                <a:latin typeface="Calibri (MS) Bold"/>
                <a:ea typeface="Calibri (MS) Bold"/>
                <a:cs typeface="Calibri (MS) Bold"/>
                <a:sym typeface="Calibri (MS) Bold"/>
              </a:rPr>
              <a:t>What it is</a:t>
            </a:r>
          </a:p>
        </p:txBody>
      </p:sp>
      <p:sp>
        <p:nvSpPr>
          <p:cNvPr name="TextBox 13" id="13"/>
          <p:cNvSpPr txBox="true"/>
          <p:nvPr/>
        </p:nvSpPr>
        <p:spPr>
          <a:xfrm rot="0">
            <a:off x="1820332" y="6183558"/>
            <a:ext cx="4550472" cy="1228893"/>
          </a:xfrm>
          <a:prstGeom prst="rect">
            <a:avLst/>
          </a:prstGeom>
        </p:spPr>
        <p:txBody>
          <a:bodyPr anchor="t" rtlCol="false" tIns="0" lIns="0" bIns="0" rIns="0">
            <a:spAutoFit/>
          </a:bodyPr>
          <a:lstStyle/>
          <a:p>
            <a:pPr algn="l">
              <a:lnSpc>
                <a:spcPts val="2341"/>
              </a:lnSpc>
            </a:pPr>
            <a:r>
              <a:rPr lang="en-US" sz="1755">
                <a:solidFill>
                  <a:srgbClr val="1B2A22"/>
                </a:solidFill>
                <a:latin typeface="Calibri (MS)"/>
                <a:ea typeface="Calibri (MS)"/>
                <a:cs typeface="Calibri (MS)"/>
                <a:sym typeface="Calibri (MS)"/>
              </a:rPr>
              <a:t>A solar panel gives the most power at one voltage (red star). That voltage moves with sunlight and cell temperature.</a:t>
            </a:r>
          </a:p>
        </p:txBody>
      </p:sp>
      <p:grpSp>
        <p:nvGrpSpPr>
          <p:cNvPr name="Group 14" id="14"/>
          <p:cNvGrpSpPr/>
          <p:nvPr/>
        </p:nvGrpSpPr>
        <p:grpSpPr>
          <a:xfrm rot="0">
            <a:off x="6710078" y="5733913"/>
            <a:ext cx="4901301" cy="1751018"/>
            <a:chOff x="0" y="0"/>
            <a:chExt cx="7261187" cy="2594102"/>
          </a:xfrm>
        </p:grpSpPr>
        <p:sp>
          <p:nvSpPr>
            <p:cNvPr name="Freeform 15" id="15"/>
            <p:cNvSpPr/>
            <p:nvPr/>
          </p:nvSpPr>
          <p:spPr>
            <a:xfrm flipH="false" flipV="false" rot="0">
              <a:off x="0" y="0"/>
              <a:ext cx="7261225" cy="2594102"/>
            </a:xfrm>
            <a:custGeom>
              <a:avLst/>
              <a:gdLst/>
              <a:ahLst/>
              <a:cxnLst/>
              <a:rect r="r" b="b" t="t" l="l"/>
              <a:pathLst>
                <a:path h="2594102" w="7261225">
                  <a:moveTo>
                    <a:pt x="0" y="155702"/>
                  </a:moveTo>
                  <a:cubicBezTo>
                    <a:pt x="0" y="69723"/>
                    <a:pt x="69723" y="0"/>
                    <a:pt x="155702" y="0"/>
                  </a:cubicBezTo>
                  <a:lnTo>
                    <a:pt x="7105523" y="0"/>
                  </a:lnTo>
                  <a:cubicBezTo>
                    <a:pt x="7191502" y="0"/>
                    <a:pt x="7261225" y="69723"/>
                    <a:pt x="7261225" y="155702"/>
                  </a:cubicBezTo>
                  <a:lnTo>
                    <a:pt x="7261225" y="2438400"/>
                  </a:lnTo>
                  <a:cubicBezTo>
                    <a:pt x="7261225" y="2524379"/>
                    <a:pt x="7191502" y="2594102"/>
                    <a:pt x="7105523" y="2594102"/>
                  </a:cubicBezTo>
                  <a:lnTo>
                    <a:pt x="155702" y="2594102"/>
                  </a:lnTo>
                  <a:cubicBezTo>
                    <a:pt x="69723" y="2594102"/>
                    <a:pt x="0" y="2524379"/>
                    <a:pt x="0" y="2438400"/>
                  </a:cubicBezTo>
                  <a:close/>
                </a:path>
              </a:pathLst>
            </a:custGeom>
            <a:solidFill>
              <a:srgbClr val="FFFFFF"/>
            </a:solidFill>
            <a:ln w="23831" cap="sq">
              <a:solidFill>
                <a:srgbClr val="E6EEE0"/>
              </a:solidFill>
              <a:prstDash val="solid"/>
              <a:miter/>
            </a:ln>
          </p:spPr>
        </p:sp>
      </p:grpSp>
      <p:sp>
        <p:nvSpPr>
          <p:cNvPr name="TextBox 16" id="16"/>
          <p:cNvSpPr txBox="true"/>
          <p:nvPr/>
        </p:nvSpPr>
        <p:spPr>
          <a:xfrm rot="0">
            <a:off x="6885489" y="5763523"/>
            <a:ext cx="4550472" cy="364108"/>
          </a:xfrm>
          <a:prstGeom prst="rect">
            <a:avLst/>
          </a:prstGeom>
        </p:spPr>
        <p:txBody>
          <a:bodyPr anchor="t" rtlCol="false" tIns="0" lIns="0" bIns="0" rIns="0">
            <a:spAutoFit/>
          </a:bodyPr>
          <a:lstStyle/>
          <a:p>
            <a:pPr algn="l">
              <a:lnSpc>
                <a:spcPts val="2521"/>
              </a:lnSpc>
            </a:pPr>
            <a:r>
              <a:rPr lang="en-US" sz="1890" b="true">
                <a:solidFill>
                  <a:srgbClr val="14342B"/>
                </a:solidFill>
                <a:latin typeface="Calibri (MS) Bold"/>
                <a:ea typeface="Calibri (MS) Bold"/>
                <a:cs typeface="Calibri (MS) Bold"/>
                <a:sym typeface="Calibri (MS) Bold"/>
              </a:rPr>
              <a:t>What MPPT does</a:t>
            </a:r>
          </a:p>
        </p:txBody>
      </p:sp>
      <p:sp>
        <p:nvSpPr>
          <p:cNvPr name="TextBox 17" id="17"/>
          <p:cNvSpPr txBox="true"/>
          <p:nvPr/>
        </p:nvSpPr>
        <p:spPr>
          <a:xfrm rot="0">
            <a:off x="6885489" y="6183558"/>
            <a:ext cx="4550472" cy="1228893"/>
          </a:xfrm>
          <a:prstGeom prst="rect">
            <a:avLst/>
          </a:prstGeom>
        </p:spPr>
        <p:txBody>
          <a:bodyPr anchor="t" rtlCol="false" tIns="0" lIns="0" bIns="0" rIns="0">
            <a:spAutoFit/>
          </a:bodyPr>
          <a:lstStyle/>
          <a:p>
            <a:pPr algn="l">
              <a:lnSpc>
                <a:spcPts val="2341"/>
              </a:lnSpc>
            </a:pPr>
            <a:r>
              <a:rPr lang="en-US" sz="1755">
                <a:solidFill>
                  <a:srgbClr val="1B2A22"/>
                </a:solidFill>
                <a:latin typeface="Calibri (MS)"/>
                <a:ea typeface="Calibri (MS)"/>
                <a:cs typeface="Calibri (MS)"/>
                <a:sym typeface="Calibri (MS)"/>
              </a:rPr>
              <a:t>A small controller nudges the voltage up and down and keeps the point where power is highest.</a:t>
            </a:r>
          </a:p>
        </p:txBody>
      </p:sp>
      <p:grpSp>
        <p:nvGrpSpPr>
          <p:cNvPr name="Group 18" id="18"/>
          <p:cNvGrpSpPr/>
          <p:nvPr/>
        </p:nvGrpSpPr>
        <p:grpSpPr>
          <a:xfrm rot="0">
            <a:off x="11775243" y="5733913"/>
            <a:ext cx="4901301" cy="1751018"/>
            <a:chOff x="0" y="0"/>
            <a:chExt cx="7261187" cy="2594102"/>
          </a:xfrm>
        </p:grpSpPr>
        <p:sp>
          <p:nvSpPr>
            <p:cNvPr name="Freeform 19" id="19"/>
            <p:cNvSpPr/>
            <p:nvPr/>
          </p:nvSpPr>
          <p:spPr>
            <a:xfrm flipH="false" flipV="false" rot="0">
              <a:off x="0" y="0"/>
              <a:ext cx="7261225" cy="2594102"/>
            </a:xfrm>
            <a:custGeom>
              <a:avLst/>
              <a:gdLst/>
              <a:ahLst/>
              <a:cxnLst/>
              <a:rect r="r" b="b" t="t" l="l"/>
              <a:pathLst>
                <a:path h="2594102" w="7261225">
                  <a:moveTo>
                    <a:pt x="0" y="155702"/>
                  </a:moveTo>
                  <a:cubicBezTo>
                    <a:pt x="0" y="69723"/>
                    <a:pt x="69723" y="0"/>
                    <a:pt x="155702" y="0"/>
                  </a:cubicBezTo>
                  <a:lnTo>
                    <a:pt x="7105523" y="0"/>
                  </a:lnTo>
                  <a:cubicBezTo>
                    <a:pt x="7191502" y="0"/>
                    <a:pt x="7261225" y="69723"/>
                    <a:pt x="7261225" y="155702"/>
                  </a:cubicBezTo>
                  <a:lnTo>
                    <a:pt x="7261225" y="2438400"/>
                  </a:lnTo>
                  <a:cubicBezTo>
                    <a:pt x="7261225" y="2524379"/>
                    <a:pt x="7191502" y="2594102"/>
                    <a:pt x="7105523" y="2594102"/>
                  </a:cubicBezTo>
                  <a:lnTo>
                    <a:pt x="155702" y="2594102"/>
                  </a:lnTo>
                  <a:cubicBezTo>
                    <a:pt x="69723" y="2594102"/>
                    <a:pt x="0" y="2524379"/>
                    <a:pt x="0" y="2438400"/>
                  </a:cubicBezTo>
                  <a:close/>
                </a:path>
              </a:pathLst>
            </a:custGeom>
            <a:solidFill>
              <a:srgbClr val="FFFFFF"/>
            </a:solidFill>
            <a:ln w="23831" cap="sq">
              <a:solidFill>
                <a:srgbClr val="E6EEE0"/>
              </a:solidFill>
              <a:prstDash val="solid"/>
              <a:miter/>
            </a:ln>
          </p:spPr>
        </p:sp>
      </p:grpSp>
      <p:sp>
        <p:nvSpPr>
          <p:cNvPr name="TextBox 20" id="20"/>
          <p:cNvSpPr txBox="true"/>
          <p:nvPr/>
        </p:nvSpPr>
        <p:spPr>
          <a:xfrm rot="0">
            <a:off x="11950653" y="5763523"/>
            <a:ext cx="4550472" cy="364108"/>
          </a:xfrm>
          <a:prstGeom prst="rect">
            <a:avLst/>
          </a:prstGeom>
        </p:spPr>
        <p:txBody>
          <a:bodyPr anchor="t" rtlCol="false" tIns="0" lIns="0" bIns="0" rIns="0">
            <a:spAutoFit/>
          </a:bodyPr>
          <a:lstStyle/>
          <a:p>
            <a:pPr algn="l">
              <a:lnSpc>
                <a:spcPts val="2521"/>
              </a:lnSpc>
            </a:pPr>
            <a:r>
              <a:rPr lang="en-US" sz="1890" b="true">
                <a:solidFill>
                  <a:srgbClr val="14342B"/>
                </a:solidFill>
                <a:latin typeface="Calibri (MS) Bold"/>
                <a:ea typeface="Calibri (MS) Bold"/>
                <a:cs typeface="Calibri (MS) Bold"/>
                <a:sym typeface="Calibri (MS) Bold"/>
              </a:rPr>
              <a:t>What we gain</a:t>
            </a:r>
          </a:p>
        </p:txBody>
      </p:sp>
      <p:sp>
        <p:nvSpPr>
          <p:cNvPr name="TextBox 21" id="21"/>
          <p:cNvSpPr txBox="true"/>
          <p:nvPr/>
        </p:nvSpPr>
        <p:spPr>
          <a:xfrm rot="0">
            <a:off x="11950653" y="6183558"/>
            <a:ext cx="4550472" cy="1228893"/>
          </a:xfrm>
          <a:prstGeom prst="rect">
            <a:avLst/>
          </a:prstGeom>
        </p:spPr>
        <p:txBody>
          <a:bodyPr anchor="t" rtlCol="false" tIns="0" lIns="0" bIns="0" rIns="0">
            <a:spAutoFit/>
          </a:bodyPr>
          <a:lstStyle/>
          <a:p>
            <a:pPr algn="l">
              <a:lnSpc>
                <a:spcPts val="2341"/>
              </a:lnSpc>
            </a:pPr>
            <a:r>
              <a:rPr lang="en-US" sz="1755">
                <a:solidFill>
                  <a:srgbClr val="1B2A22"/>
                </a:solidFill>
                <a:latin typeface="Calibri (MS)"/>
                <a:ea typeface="Calibri (MS)"/>
                <a:cs typeface="Calibri (MS)"/>
                <a:sym typeface="Calibri (MS)"/>
              </a:rPr>
              <a:t>Cloud test: MPPT keeps 99.83 % of the maximum energy; a fixed voltage keeps 96.95 % (gain +2.96 %).</a:t>
            </a:r>
          </a:p>
        </p:txBody>
      </p:sp>
      <p:grpSp>
        <p:nvGrpSpPr>
          <p:cNvPr name="Group 22" id="22"/>
          <p:cNvGrpSpPr/>
          <p:nvPr/>
        </p:nvGrpSpPr>
        <p:grpSpPr>
          <a:xfrm rot="0">
            <a:off x="1644922" y="7525249"/>
            <a:ext cx="14969848" cy="1627471"/>
            <a:chOff x="0" y="0"/>
            <a:chExt cx="22177553" cy="2411070"/>
          </a:xfrm>
        </p:grpSpPr>
        <p:sp>
          <p:nvSpPr>
            <p:cNvPr name="Freeform 23" id="23"/>
            <p:cNvSpPr/>
            <p:nvPr/>
          </p:nvSpPr>
          <p:spPr>
            <a:xfrm flipH="false" flipV="false" rot="0">
              <a:off x="0" y="0"/>
              <a:ext cx="22177502" cy="2411095"/>
            </a:xfrm>
            <a:custGeom>
              <a:avLst/>
              <a:gdLst/>
              <a:ahLst/>
              <a:cxnLst/>
              <a:rect r="r" b="b" t="t" l="l"/>
              <a:pathLst>
                <a:path h="2411095" w="22177502">
                  <a:moveTo>
                    <a:pt x="0" y="144653"/>
                  </a:moveTo>
                  <a:cubicBezTo>
                    <a:pt x="0" y="64770"/>
                    <a:pt x="64770" y="0"/>
                    <a:pt x="144653" y="0"/>
                  </a:cubicBezTo>
                  <a:lnTo>
                    <a:pt x="22032849" y="0"/>
                  </a:lnTo>
                  <a:cubicBezTo>
                    <a:pt x="22112732" y="0"/>
                    <a:pt x="22177502" y="64770"/>
                    <a:pt x="22177502" y="144653"/>
                  </a:cubicBezTo>
                  <a:lnTo>
                    <a:pt x="22177502" y="2266442"/>
                  </a:lnTo>
                  <a:cubicBezTo>
                    <a:pt x="22177502" y="2346325"/>
                    <a:pt x="22112732" y="2411095"/>
                    <a:pt x="22032849" y="2411095"/>
                  </a:cubicBezTo>
                  <a:lnTo>
                    <a:pt x="144653" y="2411095"/>
                  </a:lnTo>
                  <a:cubicBezTo>
                    <a:pt x="64770" y="2411095"/>
                    <a:pt x="0" y="2346325"/>
                    <a:pt x="0" y="2266442"/>
                  </a:cubicBezTo>
                  <a:close/>
                </a:path>
              </a:pathLst>
            </a:custGeom>
            <a:solidFill>
              <a:srgbClr val="FFF6DC"/>
            </a:solidFill>
            <a:ln w="23831" cap="sq">
              <a:solidFill>
                <a:srgbClr val="E8A317"/>
              </a:solidFill>
              <a:prstDash val="solid"/>
              <a:miter/>
            </a:ln>
          </p:spPr>
        </p:sp>
      </p:grpSp>
      <p:sp>
        <p:nvSpPr>
          <p:cNvPr name="TextBox 24" id="24"/>
          <p:cNvSpPr txBox="true"/>
          <p:nvPr/>
        </p:nvSpPr>
        <p:spPr>
          <a:xfrm rot="0">
            <a:off x="1845039" y="7600490"/>
            <a:ext cx="14569606" cy="355536"/>
          </a:xfrm>
          <a:prstGeom prst="rect">
            <a:avLst/>
          </a:prstGeom>
        </p:spPr>
        <p:txBody>
          <a:bodyPr anchor="t" rtlCol="false" tIns="0" lIns="0" bIns="0" rIns="0">
            <a:spAutoFit/>
          </a:bodyPr>
          <a:lstStyle/>
          <a:p>
            <a:pPr algn="l">
              <a:lnSpc>
                <a:spcPts val="2251"/>
              </a:lnSpc>
            </a:pPr>
            <a:r>
              <a:rPr lang="en-US" sz="1688" b="true">
                <a:solidFill>
                  <a:srgbClr val="8A5A00"/>
                </a:solidFill>
                <a:latin typeface="Calibri (MS) Bold"/>
                <a:ea typeface="Calibri (MS) Bold"/>
                <a:cs typeface="Calibri (MS) Bold"/>
                <a:sym typeface="Calibri (MS) Bold"/>
              </a:rPr>
              <a:t>PROOF</a:t>
            </a:r>
          </a:p>
        </p:txBody>
      </p:sp>
      <p:sp>
        <p:nvSpPr>
          <p:cNvPr name="TextBox 25" id="25"/>
          <p:cNvSpPr txBox="true"/>
          <p:nvPr/>
        </p:nvSpPr>
        <p:spPr>
          <a:xfrm rot="0">
            <a:off x="1886187" y="8012286"/>
            <a:ext cx="14487310" cy="1039149"/>
          </a:xfrm>
          <a:prstGeom prst="rect">
            <a:avLst/>
          </a:prstGeom>
        </p:spPr>
        <p:txBody>
          <a:bodyPr anchor="t" rtlCol="false" tIns="0" lIns="0" bIns="0" rIns="0">
            <a:spAutoFit/>
          </a:bodyPr>
          <a:lstStyle/>
          <a:p>
            <a:pPr algn="l">
              <a:lnSpc>
                <a:spcPts val="2071"/>
              </a:lnSpc>
            </a:pPr>
            <a:r>
              <a:rPr lang="en-US" sz="1553">
                <a:solidFill>
                  <a:srgbClr val="1B2A22"/>
                </a:solidFill>
                <a:latin typeface="Calibri (MS)"/>
                <a:ea typeface="Calibri (MS)"/>
                <a:cs typeface="Calibri (MS)"/>
                <a:sym typeface="Calibri (MS)"/>
              </a:rPr>
              <a:t>•  Model: single-diode PV model of a typical 400 W module (Isc 10.5 A, Voc 49.6 V, Vmp 40.5 V; replace with your datasheet). Tracker: Perturb and Observe, 0.5 V steps. Hotter cell: best voltage falls from 41.1 V (25 C) to 35.6 V (65 C).</a:t>
            </a:r>
          </a:p>
          <a:p>
            <a:pPr algn="l">
              <a:lnSpc>
                <a:spcPts val="2071"/>
              </a:lnSpc>
            </a:pPr>
            <a:r>
              <a:rPr lang="en-US" sz="1553">
                <a:solidFill>
                  <a:srgbClr val="1B2A22"/>
                </a:solidFill>
                <a:latin typeface="Calibri (MS)"/>
                <a:ea typeface="Calibri (MS)"/>
                <a:cs typeface="Calibri (MS)"/>
                <a:sym typeface="Calibri (MS)"/>
              </a:rPr>
              <a:t>•  Accuracy point C: tracking efficiency 99.83 %.  Tested in MATLAB (5 MPPT tests pass).  This is a model of the tracker, not yet a hardware DC-DC converter.</a:t>
            </a:r>
          </a:p>
        </p:txBody>
      </p:sp>
      <p:grpSp>
        <p:nvGrpSpPr>
          <p:cNvPr name="Group 2" id="2"/>
          <p:cNvGrpSpPr/>
          <p:nvPr/>
        </p:nvGrpSpPr>
        <p:grpSpPr>
          <a:xfrm rot="0">
            <a:off x="2286000" y="9601200"/>
            <a:ext cx="13716000" cy="685800"/>
            <a:chOff x="0" y="0"/>
            <a:chExt cx="13004800" cy="650240"/>
          </a:xfrm>
        </p:grpSpPr>
        <p:sp>
          <p:nvSpPr>
            <p:cNvPr name="Freeform 3" id="3"/>
            <p:cNvSpPr/>
            <p:nvPr/>
          </p:nvSpPr>
          <p:spPr>
            <a:xfrm flipH="false" flipV="false" rot="0">
              <a:off x="0" y="0"/>
              <a:ext cx="13004800" cy="650240"/>
            </a:xfrm>
            <a:custGeom>
              <a:avLst/>
              <a:gdLst/>
              <a:ahLst/>
              <a:cxnLst/>
              <a:rect r="r" b="b" t="t" l="l"/>
              <a:pathLst>
                <a:path h="650240" w="13004800">
                  <a:moveTo>
                    <a:pt x="0" y="0"/>
                  </a:moveTo>
                  <a:lnTo>
                    <a:pt x="13004800" y="0"/>
                  </a:lnTo>
                  <a:lnTo>
                    <a:pt x="13004800" y="650240"/>
                  </a:lnTo>
                  <a:lnTo>
                    <a:pt x="0" y="650240"/>
                  </a:lnTo>
                  <a:close/>
                </a:path>
              </a:pathLst>
            </a:custGeom>
            <a:solidFill>
              <a:srgbClr val="BD582C"/>
            </a:solidFill>
          </p:spPr>
        </p:sp>
      </p:grpSp>
      <p:grpSp>
        <p:nvGrpSpPr>
          <p:cNvPr name="Group 4" id="4"/>
          <p:cNvGrpSpPr/>
          <p:nvPr/>
        </p:nvGrpSpPr>
        <p:grpSpPr>
          <a:xfrm rot="0">
            <a:off x="2286000" y="9501478"/>
            <a:ext cx="13716000" cy="98986"/>
            <a:chOff x="0" y="0"/>
            <a:chExt cx="13004800" cy="93853"/>
          </a:xfrm>
        </p:grpSpPr>
        <p:sp>
          <p:nvSpPr>
            <p:cNvPr name="Freeform 5" id="5"/>
            <p:cNvSpPr/>
            <p:nvPr/>
          </p:nvSpPr>
          <p:spPr>
            <a:xfrm flipH="false" flipV="false" rot="0">
              <a:off x="0" y="0"/>
              <a:ext cx="13004800" cy="93853"/>
            </a:xfrm>
            <a:custGeom>
              <a:avLst/>
              <a:gdLst/>
              <a:ahLst/>
              <a:cxnLst/>
              <a:rect r="r" b="b" t="t" l="l"/>
              <a:pathLst>
                <a:path h="93853" w="13004800">
                  <a:moveTo>
                    <a:pt x="0" y="0"/>
                  </a:moveTo>
                  <a:lnTo>
                    <a:pt x="13004800" y="0"/>
                  </a:lnTo>
                  <a:lnTo>
                    <a:pt x="13004800" y="93853"/>
                  </a:lnTo>
                  <a:lnTo>
                    <a:pt x="0" y="93853"/>
                  </a:lnTo>
                  <a:close/>
                </a:path>
              </a:pathLst>
            </a:custGeom>
            <a:solidFill>
              <a:srgbClr val="E48312"/>
            </a:solidFill>
          </p:spPr>
        </p:sp>
      </p:grpSp>
      <p:grpSp>
        <p:nvGrpSpPr>
          <p:cNvPr name="Group 7" id="7"/>
          <p:cNvGrpSpPr/>
          <p:nvPr/>
        </p:nvGrpSpPr>
        <p:grpSpPr>
          <a:xfrm rot="0">
            <a:off x="2289576" y="9601200"/>
            <a:ext cx="13712383" cy="685800"/>
            <a:chOff x="0" y="0"/>
            <a:chExt cx="13001371" cy="650240"/>
          </a:xfrm>
        </p:grpSpPr>
        <p:sp>
          <p:nvSpPr>
            <p:cNvPr name="Freeform 8" id="8"/>
            <p:cNvSpPr/>
            <p:nvPr/>
          </p:nvSpPr>
          <p:spPr>
            <a:xfrm flipH="false" flipV="false" rot="0">
              <a:off x="0" y="0"/>
              <a:ext cx="13001371" cy="650240"/>
            </a:xfrm>
            <a:custGeom>
              <a:avLst/>
              <a:gdLst/>
              <a:ahLst/>
              <a:cxnLst/>
              <a:rect r="r" b="b" t="t" l="l"/>
              <a:pathLst>
                <a:path h="650240" w="13001371">
                  <a:moveTo>
                    <a:pt x="0" y="0"/>
                  </a:moveTo>
                  <a:lnTo>
                    <a:pt x="13001371" y="0"/>
                  </a:lnTo>
                  <a:lnTo>
                    <a:pt x="13001371" y="650240"/>
                  </a:lnTo>
                  <a:lnTo>
                    <a:pt x="0" y="650240"/>
                  </a:lnTo>
                  <a:close/>
                </a:path>
              </a:pathLst>
            </a:custGeom>
            <a:solidFill>
              <a:srgbClr val="BD582C"/>
            </a:solidFill>
          </p:spPr>
        </p:sp>
      </p:grpSp>
      <p:grpSp>
        <p:nvGrpSpPr>
          <p:cNvPr name="Group 9" id="9"/>
          <p:cNvGrpSpPr/>
          <p:nvPr/>
        </p:nvGrpSpPr>
        <p:grpSpPr>
          <a:xfrm rot="0">
            <a:off x="2286013" y="9501478"/>
            <a:ext cx="13712383" cy="96039"/>
            <a:chOff x="0" y="0"/>
            <a:chExt cx="13001371" cy="91059"/>
          </a:xfrm>
        </p:grpSpPr>
        <p:sp>
          <p:nvSpPr>
            <p:cNvPr name="Freeform 10" id="10"/>
            <p:cNvSpPr/>
            <p:nvPr/>
          </p:nvSpPr>
          <p:spPr>
            <a:xfrm flipH="false" flipV="false" rot="0">
              <a:off x="0" y="0"/>
              <a:ext cx="13001371" cy="91059"/>
            </a:xfrm>
            <a:custGeom>
              <a:avLst/>
              <a:gdLst/>
              <a:ahLst/>
              <a:cxnLst/>
              <a:rect r="r" b="b" t="t" l="l"/>
              <a:pathLst>
                <a:path h="91059" w="13001371">
                  <a:moveTo>
                    <a:pt x="0" y="0"/>
                  </a:moveTo>
                  <a:lnTo>
                    <a:pt x="13001371" y="0"/>
                  </a:lnTo>
                  <a:lnTo>
                    <a:pt x="13001371" y="91059"/>
                  </a:lnTo>
                  <a:lnTo>
                    <a:pt x="0" y="91059"/>
                  </a:lnTo>
                  <a:close/>
                </a:path>
              </a:pathLst>
            </a:custGeom>
            <a:solidFill>
              <a:srgbClr val="E48312"/>
            </a:solidFill>
          </p:spPr>
        </p:sp>
      </p:grpSp>
      <p:grpSp>
        <p:nvGrpSpPr>
          <p:cNvPr name="Group 17" id="17"/>
          <p:cNvGrpSpPr/>
          <p:nvPr/>
        </p:nvGrpSpPr>
        <p:grpSpPr>
          <a:xfrm rot="0">
            <a:off x="6432960" y="9689684"/>
            <a:ext cx="5425656" cy="547689"/>
            <a:chOff x="0" y="0"/>
            <a:chExt cx="5144326" cy="519290"/>
          </a:xfrm>
        </p:grpSpPr>
        <p:sp>
          <p:nvSpPr>
            <p:cNvPr name="Freeform 18" id="18"/>
            <p:cNvSpPr/>
            <p:nvPr/>
          </p:nvSpPr>
          <p:spPr>
            <a:xfrm flipH="false" flipV="false" rot="0">
              <a:off x="0" y="0"/>
              <a:ext cx="5144262" cy="519303"/>
            </a:xfrm>
            <a:custGeom>
              <a:avLst/>
              <a:gdLst/>
              <a:ahLst/>
              <a:cxnLst/>
              <a:rect r="r" b="b" t="t" l="l"/>
              <a:pathLst>
                <a:path h="519303" w="5144262">
                  <a:moveTo>
                    <a:pt x="0" y="0"/>
                  </a:moveTo>
                  <a:lnTo>
                    <a:pt x="5144262" y="0"/>
                  </a:lnTo>
                  <a:lnTo>
                    <a:pt x="5144262" y="519303"/>
                  </a:lnTo>
                  <a:lnTo>
                    <a:pt x="0" y="519303"/>
                  </a:lnTo>
                  <a:close/>
                </a:path>
              </a:pathLst>
            </a:custGeom>
            <a:blipFill>
              <a:blip r:embed="rId3">
                <a:alphaModFix amt="0"/>
              </a:blip>
              <a:stretch>
                <a:fillRect l="0" t="-142890" r="-1" b="-142885"/>
              </a:stretch>
            </a:blipFill>
          </p:spPr>
        </p:sp>
      </p:grpSp>
      <p:grpSp>
        <p:nvGrpSpPr>
          <p:cNvPr name="Group 19" id="19"/>
          <p:cNvGrpSpPr/>
          <p:nvPr/>
        </p:nvGrpSpPr>
        <p:grpSpPr>
          <a:xfrm rot="0">
            <a:off x="6432960" y="9669592"/>
            <a:ext cx="5425656" cy="567781"/>
            <a:chOff x="0" y="0"/>
            <a:chExt cx="5144326" cy="538341"/>
          </a:xfrm>
        </p:grpSpPr>
        <p:sp>
          <p:nvSpPr>
            <p:cNvPr name="Freeform 20" id="20"/>
            <p:cNvSpPr/>
            <p:nvPr/>
          </p:nvSpPr>
          <p:spPr>
            <a:xfrm flipH="false" flipV="false" rot="0">
              <a:off x="0" y="0"/>
              <a:ext cx="5144326" cy="538341"/>
            </a:xfrm>
            <a:custGeom>
              <a:avLst/>
              <a:gdLst/>
              <a:ahLst/>
              <a:cxnLst/>
              <a:rect r="r" b="b" t="t" l="l"/>
              <a:pathLst>
                <a:path h="538341" w="5144326">
                  <a:moveTo>
                    <a:pt x="0" y="0"/>
                  </a:moveTo>
                  <a:lnTo>
                    <a:pt x="5144326" y="0"/>
                  </a:lnTo>
                  <a:lnTo>
                    <a:pt x="5144326" y="538341"/>
                  </a:lnTo>
                  <a:lnTo>
                    <a:pt x="0" y="538341"/>
                  </a:lnTo>
                  <a:close/>
                </a:path>
              </a:pathLst>
            </a:custGeom>
            <a:blipFill>
              <a:blip r:embed="rId4">
                <a:alphaModFix amt="0"/>
              </a:blip>
              <a:stretch>
                <a:fillRect l="0" t="-136196" r="0" b="-136196"/>
              </a:stretch>
            </a:blipFill>
          </p:spPr>
        </p:sp>
        <p:sp>
          <p:nvSpPr>
            <p:cNvPr name="TextBox 21" id="21"/>
            <p:cNvSpPr txBox="true"/>
            <p:nvPr/>
          </p:nvSpPr>
          <p:spPr>
            <a:xfrm>
              <a:off x="0" y="-28575"/>
              <a:ext cx="5144326" cy="566916"/>
            </a:xfrm>
            <a:prstGeom prst="rect">
              <a:avLst/>
            </a:prstGeom>
          </p:spPr>
          <p:txBody>
            <a:bodyPr anchor="ctr" rtlCol="false" tIns="0" lIns="0" bIns="0" rIns="0"/>
            <a:lstStyle/>
            <a:p>
              <a:pPr algn="ctr">
                <a:lnSpc>
                  <a:spcPts val="1620"/>
                </a:lnSpc>
              </a:pPr>
              <a:r>
                <a:rPr lang="en-US" sz="1350">
                  <a:solidFill>
                    <a:srgbClr val="FFFFFF"/>
                  </a:solidFill>
                  <a:latin typeface="Calibri (MS)"/>
                  <a:ea typeface="Calibri (MS)"/>
                  <a:cs typeface="Calibri (MS)"/>
                  <a:sym typeface="Calibri (MS)"/>
                </a:rPr>
                <a:t>TCE - EEE - 22EE690 - Project </a:t>
              </a:r>
            </a:p>
          </p:txBody>
        </p:sp>
      </p:grpSp>
      <p:grpSp>
        <p:nvGrpSpPr>
          <p:cNvPr name="Group 22" id="22"/>
          <p:cNvGrpSpPr/>
          <p:nvPr/>
        </p:nvGrpSpPr>
        <p:grpSpPr>
          <a:xfrm rot="0">
            <a:off x="13424022" y="9689684"/>
            <a:ext cx="1476024" cy="547689"/>
            <a:chOff x="0" y="0"/>
            <a:chExt cx="1399489" cy="519290"/>
          </a:xfrm>
        </p:grpSpPr>
        <p:sp>
          <p:nvSpPr>
            <p:cNvPr name="Freeform 23" id="23"/>
            <p:cNvSpPr/>
            <p:nvPr/>
          </p:nvSpPr>
          <p:spPr>
            <a:xfrm flipH="false" flipV="false" rot="0">
              <a:off x="0" y="0"/>
              <a:ext cx="1399540" cy="519303"/>
            </a:xfrm>
            <a:custGeom>
              <a:avLst/>
              <a:gdLst/>
              <a:ahLst/>
              <a:cxnLst/>
              <a:rect r="r" b="b" t="t" l="l"/>
              <a:pathLst>
                <a:path h="519303" w="1399540">
                  <a:moveTo>
                    <a:pt x="0" y="0"/>
                  </a:moveTo>
                  <a:lnTo>
                    <a:pt x="1399540" y="0"/>
                  </a:lnTo>
                  <a:lnTo>
                    <a:pt x="1399540" y="519303"/>
                  </a:lnTo>
                  <a:lnTo>
                    <a:pt x="0" y="519303"/>
                  </a:lnTo>
                  <a:close/>
                </a:path>
              </a:pathLst>
            </a:custGeom>
            <a:blipFill>
              <a:blip r:embed="rId3">
                <a:alphaModFix amt="0"/>
              </a:blip>
              <a:stretch>
                <a:fillRect l="0" t="-2474" r="3" b="-2474"/>
              </a:stretch>
            </a:blipFill>
          </p:spPr>
        </p:sp>
      </p:grpSp>
      <p:grpSp>
        <p:nvGrpSpPr>
          <p:cNvPr name="Group 24" id="24"/>
          <p:cNvGrpSpPr/>
          <p:nvPr/>
        </p:nvGrpSpPr>
        <p:grpSpPr>
          <a:xfrm rot="0">
            <a:off x="13424022" y="9659547"/>
            <a:ext cx="1476024" cy="577827"/>
            <a:chOff x="0" y="0"/>
            <a:chExt cx="1399489" cy="547865"/>
          </a:xfrm>
        </p:grpSpPr>
        <p:sp>
          <p:nvSpPr>
            <p:cNvPr name="Freeform 25" id="25"/>
            <p:cNvSpPr/>
            <p:nvPr/>
          </p:nvSpPr>
          <p:spPr>
            <a:xfrm flipH="false" flipV="false" rot="0">
              <a:off x="0" y="0"/>
              <a:ext cx="1399489" cy="547866"/>
            </a:xfrm>
            <a:custGeom>
              <a:avLst/>
              <a:gdLst/>
              <a:ahLst/>
              <a:cxnLst/>
              <a:rect r="r" b="b" t="t" l="l"/>
              <a:pathLst>
                <a:path h="547866" w="1399489">
                  <a:moveTo>
                    <a:pt x="0" y="0"/>
                  </a:moveTo>
                  <a:lnTo>
                    <a:pt x="1399489" y="0"/>
                  </a:lnTo>
                  <a:lnTo>
                    <a:pt x="1399489" y="547866"/>
                  </a:lnTo>
                  <a:lnTo>
                    <a:pt x="0" y="547866"/>
                  </a:lnTo>
                  <a:close/>
                </a:path>
              </a:pathLst>
            </a:custGeom>
            <a:blipFill>
              <a:blip r:embed="rId4">
                <a:alphaModFix amt="0"/>
              </a:blip>
              <a:stretch>
                <a:fillRect l="-227" t="0" r="-227" b="0"/>
              </a:stretch>
            </a:blipFill>
          </p:spPr>
        </p:sp>
        <p:sp>
          <p:nvSpPr>
            <p:cNvPr name="TextBox 26" id="26"/>
            <p:cNvSpPr txBox="true"/>
            <p:nvPr/>
          </p:nvSpPr>
          <p:spPr>
            <a:xfrm>
              <a:off x="0" y="-19050"/>
              <a:ext cx="1399489" cy="566915"/>
            </a:xfrm>
            <a:prstGeom prst="rect">
              <a:avLst/>
            </a:prstGeom>
          </p:spPr>
          <p:txBody>
            <a:bodyPr anchor="ctr" rtlCol="false" tIns="0" lIns="0" bIns="0" rIns="0"/>
            <a:lstStyle/>
            <a:p>
              <a:pPr algn="r">
                <a:lnSpc>
                  <a:spcPts val="1889"/>
                </a:lnSpc>
              </a:pPr>
              <a:r>
                <a:rPr lang="en-US" sz="1575">
                  <a:solidFill>
                    <a:srgbClr val="FFFFFF"/>
                  </a:solidFill>
                  <a:latin typeface="Calibri (MS)"/>
                  <a:ea typeface="Calibri (MS)"/>
                  <a:cs typeface="Calibri (MS)"/>
                  <a:sym typeface="Calibri (MS)"/>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7F2"/>
        </a:solidFill>
      </p:bgPr>
    </p:bg>
    <p:spTree>
      <p:nvGrpSpPr>
        <p:cNvPr id="1" name=""/>
        <p:cNvGrpSpPr/>
        <p:nvPr/>
      </p:nvGrpSpPr>
      <p:grpSpPr>
        <a:xfrm>
          <a:off x="0" y="0"/>
          <a:ext cx="0" cy="0"/>
          <a:chOff x="0" y="0"/>
          <a:chExt cx="0" cy="0"/>
        </a:xfrm>
      </p:grpSpPr>
      <p:grpSp>
        <p:nvGrpSpPr>
          <p:cNvPr name="Group 2" id="2"/>
          <p:cNvGrpSpPr/>
          <p:nvPr/>
        </p:nvGrpSpPr>
        <p:grpSpPr>
          <a:xfrm rot="0">
            <a:off x="1655647" y="370623"/>
            <a:ext cx="14948399" cy="92655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sp>
        <p:sp>
          <p:nvSpPr>
            <p:cNvPr name="TextBox 4" id="4"/>
            <p:cNvSpPr txBox="true"/>
            <p:nvPr/>
          </p:nvSpPr>
          <p:spPr>
            <a:xfrm>
              <a:off x="0" y="-9525"/>
              <a:ext cx="22145777" cy="1382192"/>
            </a:xfrm>
            <a:prstGeom prst="rect">
              <a:avLst/>
            </a:prstGeom>
          </p:spPr>
          <p:txBody>
            <a:bodyPr anchor="ctr" rtlCol="false" tIns="0" lIns="0" bIns="0" rIns="0"/>
            <a:lstStyle/>
            <a:p>
              <a:pPr algn="l">
                <a:lnSpc>
                  <a:spcPts val="5404"/>
                </a:lnSpc>
              </a:pPr>
              <a:r>
                <a:rPr lang="en-US" sz="4052" b="true">
                  <a:solidFill>
                    <a:srgbClr val="14342B"/>
                  </a:solidFill>
                  <a:latin typeface="Cambria Bold"/>
                  <a:ea typeface="Cambria Bold"/>
                  <a:cs typeface="Cambria Bold"/>
                  <a:sym typeface="Cambria Bold"/>
                </a:rPr>
                <a:t>Accuracy points and proof</a:t>
              </a:r>
            </a:p>
          </p:txBody>
        </p:sp>
      </p:grpSp>
      <p:sp>
        <p:nvSpPr>
          <p:cNvPr name="TextBox 5" id="5"/>
          <p:cNvSpPr txBox="true"/>
          <p:nvPr/>
        </p:nvSpPr>
        <p:spPr>
          <a:xfrm rot="0">
            <a:off x="1696795" y="1250513"/>
            <a:ext cx="14866103" cy="503780"/>
          </a:xfrm>
          <a:prstGeom prst="rect">
            <a:avLst/>
          </a:prstGeom>
        </p:spPr>
        <p:txBody>
          <a:bodyPr anchor="t" rtlCol="false" tIns="0" lIns="0" bIns="0" rIns="0">
            <a:spAutoFit/>
          </a:bodyPr>
          <a:lstStyle/>
          <a:p>
            <a:pPr algn="l">
              <a:lnSpc>
                <a:spcPts val="2882"/>
              </a:lnSpc>
            </a:pPr>
            <a:r>
              <a:rPr lang="en-US" sz="2160">
                <a:solidFill>
                  <a:srgbClr val="5B6B62"/>
                </a:solidFill>
                <a:latin typeface="Calibri (MS)"/>
                <a:ea typeface="Calibri (MS)"/>
                <a:cs typeface="Calibri (MS)"/>
                <a:sym typeface="Calibri (MS)"/>
              </a:rPr>
              <a:t>Every number: what it means, and where it comes from</a:t>
            </a:r>
          </a:p>
        </p:txBody>
      </p:sp>
      <p:graphicFrame>
        <p:nvGraphicFramePr>
          <p:cNvPr name="Table 6" id="6"/>
          <p:cNvGraphicFramePr>
            <a:graphicFrameLocks noGrp="true"/>
          </p:cNvGraphicFramePr>
          <p:nvPr/>
        </p:nvGraphicFramePr>
        <p:xfrm>
          <a:off x="1655642" y="1853108"/>
          <a:ext cx="14927810" cy="4941616"/>
        </p:xfrm>
        <a:graphic>
          <a:graphicData uri="http://schemas.openxmlformats.org/drawingml/2006/table">
            <a:tbl>
              <a:tblPr/>
              <a:tblGrid>
                <a:gridCol w="616851"/>
                <a:gridCol w="4194592"/>
                <a:gridCol w="6168517"/>
                <a:gridCol w="3947850"/>
              </a:tblGrid>
              <a:tr h="617702">
                <a:tc>
                  <a:txBody>
                    <a:bodyPr anchor="t" rtlCol="false"/>
                    <a:lstStyle/>
                    <a:p>
                      <a:pPr algn="l">
                        <a:lnSpc>
                          <a:spcPts val="1679"/>
                        </a:lnSpc>
                        <a:defRPr/>
                      </a:pP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161"/>
                        </a:lnSpc>
                        <a:defRPr/>
                      </a:pPr>
                      <a:r>
                        <a:rPr lang="en-US" sz="1620" b="true">
                          <a:solidFill>
                            <a:srgbClr val="FFFFFF"/>
                          </a:solidFill>
                          <a:latin typeface="Calibri (MS) Bold"/>
                          <a:ea typeface="Calibri (MS) Bold"/>
                          <a:cs typeface="Calibri (MS) Bold"/>
                          <a:sym typeface="Calibri (MS) Bold"/>
                        </a:rPr>
                        <a:t>Accuracy point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161"/>
                        </a:lnSpc>
                        <a:defRPr/>
                      </a:pPr>
                      <a:r>
                        <a:rPr lang="en-US" sz="1620" b="true">
                          <a:solidFill>
                            <a:srgbClr val="FFFFFF"/>
                          </a:solidFill>
                          <a:latin typeface="Calibri (MS) Bold"/>
                          <a:ea typeface="Calibri (MS) Bold"/>
                          <a:cs typeface="Calibri (MS) Bold"/>
                          <a:sym typeface="Calibri (MS) Bold"/>
                        </a:rPr>
                        <a:t>Number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c>
                  <a:txBody>
                    <a:bodyPr anchor="t" rtlCol="false"/>
                    <a:lstStyle/>
                    <a:p>
                      <a:pPr algn="l">
                        <a:lnSpc>
                          <a:spcPts val="2161"/>
                        </a:lnSpc>
                        <a:defRPr/>
                      </a:pPr>
                      <a:r>
                        <a:rPr lang="en-US" sz="1620" b="true">
                          <a:solidFill>
                            <a:srgbClr val="FFFFFF"/>
                          </a:solidFill>
                          <a:latin typeface="Calibri (MS) Bold"/>
                          <a:ea typeface="Calibri (MS) Bold"/>
                          <a:cs typeface="Calibri (MS) Bold"/>
                          <a:sym typeface="Calibri (MS) Bold"/>
                        </a:rPr>
                        <a:t>Where it comes from</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342B"/>
                    </a:solidFill>
                  </a:tcPr>
                </a:tc>
              </a:tr>
              <a:tr h="617702">
                <a:tc>
                  <a:txBody>
                    <a:bodyPr anchor="t" rtlCol="false"/>
                    <a:lstStyle/>
                    <a:p>
                      <a:pPr algn="l">
                        <a:lnSpc>
                          <a:spcPts val="2161"/>
                        </a:lnSpc>
                        <a:defRPr/>
                      </a:pPr>
                      <a:r>
                        <a:rPr lang="en-US" sz="1620" b="true">
                          <a:solidFill>
                            <a:srgbClr val="1B2A22"/>
                          </a:solidFill>
                          <a:latin typeface="Calibri (MS) Bold"/>
                          <a:ea typeface="Calibri (MS) Bold"/>
                          <a:cs typeface="Calibri (MS) Bold"/>
                          <a:sym typeface="Calibri (MS) Bold"/>
                        </a:rPr>
                        <a:t>A</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Angle chosen vs full 0.5 degree search</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0.0 degrees at clear noon (worst tested 3 degrees, score within 0.02 %)</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search built into the dashboard (Explain window)</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17702">
                <a:tc>
                  <a:txBody>
                    <a:bodyPr anchor="t" rtlCol="false"/>
                    <a:lstStyle/>
                    <a:p>
                      <a:pPr algn="l">
                        <a:lnSpc>
                          <a:spcPts val="2161"/>
                        </a:lnSpc>
                        <a:defRPr/>
                      </a:pPr>
                      <a:r>
                        <a:rPr lang="en-US" sz="1620" b="true">
                          <a:solidFill>
                            <a:srgbClr val="1B2A22"/>
                          </a:solidFill>
                          <a:latin typeface="Calibri (MS) Bold"/>
                          <a:ea typeface="Calibri (MS) Bold"/>
                          <a:cs typeface="Calibri (MS) Bold"/>
                          <a:sym typeface="Calibri (MS) Bold"/>
                        </a:rPr>
                        <a:t>B</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Gain over a fixed 45 degree panel</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electricity +2.5 %, crop light +9.7 % (clear day)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results/day_comparison.csv</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r h="617702">
                <a:tc>
                  <a:txBody>
                    <a:bodyPr anchor="t" rtlCol="false"/>
                    <a:lstStyle/>
                    <a:p>
                      <a:pPr algn="l">
                        <a:lnSpc>
                          <a:spcPts val="2161"/>
                        </a:lnSpc>
                        <a:defRPr/>
                      </a:pPr>
                      <a:r>
                        <a:rPr lang="en-US" sz="1620" b="true">
                          <a:solidFill>
                            <a:srgbClr val="1B2A22"/>
                          </a:solidFill>
                          <a:latin typeface="Calibri (MS) Bold"/>
                          <a:ea typeface="Calibri (MS) Bold"/>
                          <a:cs typeface="Calibri (MS) Bold"/>
                          <a:sym typeface="Calibri (MS) Bold"/>
                        </a:rPr>
                        <a:t>C</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MPPT tracking efficiency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99.83 % (fixed voltage 96.95 %)</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results/mppt_study.md</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17702">
                <a:tc>
                  <a:txBody>
                    <a:bodyPr anchor="t" rtlCol="false"/>
                    <a:lstStyle/>
                    <a:p>
                      <a:pPr algn="l">
                        <a:lnSpc>
                          <a:spcPts val="2161"/>
                        </a:lnSpc>
                        <a:defRPr/>
                      </a:pPr>
                      <a:r>
                        <a:rPr lang="en-US" sz="1620" b="true">
                          <a:solidFill>
                            <a:srgbClr val="1B2A22"/>
                          </a:solidFill>
                          <a:latin typeface="Calibri (MS) Bold"/>
                          <a:ea typeface="Calibri (MS) Bold"/>
                          <a:cs typeface="Calibri (MS) Bold"/>
                          <a:sym typeface="Calibri (MS) Bold"/>
                        </a:rPr>
                        <a:t>D</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Real sensors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DHT11: 2 C, 5 % RH (datasheet). Bench: ______ C vs ______ C</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datasheet; thermometer check on the day</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r h="617702">
                <a:tc>
                  <a:txBody>
                    <a:bodyPr anchor="t" rtlCol="false"/>
                    <a:lstStyle/>
                    <a:p>
                      <a:pPr algn="l">
                        <a:lnSpc>
                          <a:spcPts val="2161"/>
                        </a:lnSpc>
                        <a:defRPr/>
                      </a:pPr>
                      <a:r>
                        <a:rPr lang="en-US" sz="1620" b="true">
                          <a:solidFill>
                            <a:srgbClr val="1B2A22"/>
                          </a:solidFill>
                          <a:latin typeface="Calibri (MS) Bold"/>
                          <a:ea typeface="Calibri (MS) Bold"/>
                          <a:cs typeface="Calibri (MS) Bold"/>
                          <a:sym typeface="Calibri (MS) Bold"/>
                        </a:rPr>
                        <a:t>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Solar and shadow equations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+5.0 % per year vs PVGIS; shadow difference 0.010 vs Blender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PVGIS service; Blender Cycles ray tracing</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17702">
                <a:tc>
                  <a:txBody>
                    <a:bodyPr anchor="t" rtlCol="false"/>
                    <a:lstStyle/>
                    <a:p>
                      <a:pPr algn="l">
                        <a:lnSpc>
                          <a:spcPts val="2161"/>
                        </a:lnSpc>
                        <a:defRPr/>
                      </a:pPr>
                      <a:r>
                        <a:rPr lang="en-US" sz="1620" b="true">
                          <a:solidFill>
                            <a:srgbClr val="1B2A22"/>
                          </a:solidFill>
                          <a:latin typeface="Calibri (MS) Bold"/>
                          <a:ea typeface="Calibri (MS) Bold"/>
                          <a:cs typeface="Calibri (MS) Bold"/>
                          <a:sym typeface="Calibri (MS) Bold"/>
                        </a:rPr>
                        <a:t>F</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Simulated-sensor error</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wrong by 5 %: 2.5 % less electricity; by 10 %: 5.1 % (worst half-hour 35 %)</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results/sensor_trust_study.csv</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6EEE0"/>
                    </a:solidFill>
                  </a:tcPr>
                </a:tc>
              </a:tr>
              <a:tr h="617702">
                <a:tc>
                  <a:txBody>
                    <a:bodyPr anchor="t" rtlCol="false"/>
                    <a:lstStyle/>
                    <a:p>
                      <a:pPr algn="l">
                        <a:lnSpc>
                          <a:spcPts val="2161"/>
                        </a:lnSpc>
                        <a:defRPr/>
                      </a:pPr>
                      <a:r>
                        <a:rPr lang="en-US" sz="1620" b="true">
                          <a:solidFill>
                            <a:srgbClr val="1B2A22"/>
                          </a:solidFill>
                          <a:latin typeface="Calibri (MS) Bold"/>
                          <a:ea typeface="Calibri (MS) Bold"/>
                          <a:cs typeface="Calibri (MS) Bold"/>
                          <a:sym typeface="Calibri (MS) Bold"/>
                        </a:rPr>
                        <a:t>T</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Software tests of every rule</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29 of 29 pass</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2161"/>
                        </a:lnSpc>
                        <a:defRPr/>
                      </a:pPr>
                      <a:r>
                        <a:rPr lang="en-US" sz="1620">
                          <a:solidFill>
                            <a:srgbClr val="1B2A22"/>
                          </a:solidFill>
                          <a:latin typeface="Calibri (MS)"/>
                          <a:ea typeface="Calibri (MS)"/>
                          <a:cs typeface="Calibri (MS)"/>
                          <a:sym typeface="Calibri (MS)"/>
                        </a:rPr>
                        <a:t>results/test_results.md, sensor_and_mppt_tests.md</a:t>
                      </a:r>
                      <a:endParaRPr lang="en-US" sz="1100"/>
                    </a:p>
                  </a:txBody>
                  <a:tcPr marL="54864" marR="54864" marT="54864" marB="54864"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bl>
          </a:graphicData>
        </a:graphic>
      </p:graphicFrame>
      <p:grpSp>
        <p:nvGrpSpPr>
          <p:cNvPr name="Group 7" id="7"/>
          <p:cNvGrpSpPr/>
          <p:nvPr/>
        </p:nvGrpSpPr>
        <p:grpSpPr>
          <a:xfrm rot="0">
            <a:off x="1644922" y="6969313"/>
            <a:ext cx="7310336" cy="1998095"/>
            <a:chOff x="0" y="0"/>
            <a:chExt cx="10830128" cy="2960141"/>
          </a:xfrm>
        </p:grpSpPr>
        <p:sp>
          <p:nvSpPr>
            <p:cNvPr name="Freeform 8" id="8"/>
            <p:cNvSpPr/>
            <p:nvPr/>
          </p:nvSpPr>
          <p:spPr>
            <a:xfrm flipH="false" flipV="false" rot="0">
              <a:off x="0" y="0"/>
              <a:ext cx="10830052" cy="2960116"/>
            </a:xfrm>
            <a:custGeom>
              <a:avLst/>
              <a:gdLst/>
              <a:ahLst/>
              <a:cxnLst/>
              <a:rect r="r" b="b" t="t" l="l"/>
              <a:pathLst>
                <a:path h="2960116" w="10830052">
                  <a:moveTo>
                    <a:pt x="0" y="177546"/>
                  </a:moveTo>
                  <a:cubicBezTo>
                    <a:pt x="0" y="79502"/>
                    <a:pt x="79502" y="0"/>
                    <a:pt x="177546" y="0"/>
                  </a:cubicBezTo>
                  <a:lnTo>
                    <a:pt x="10652506" y="0"/>
                  </a:lnTo>
                  <a:cubicBezTo>
                    <a:pt x="10750550" y="0"/>
                    <a:pt x="10830052" y="79502"/>
                    <a:pt x="10830052" y="177546"/>
                  </a:cubicBezTo>
                  <a:lnTo>
                    <a:pt x="10830052" y="2782570"/>
                  </a:lnTo>
                  <a:cubicBezTo>
                    <a:pt x="10830052" y="2880614"/>
                    <a:pt x="10750550" y="2960116"/>
                    <a:pt x="10652506" y="2960116"/>
                  </a:cubicBezTo>
                  <a:lnTo>
                    <a:pt x="177546" y="2960116"/>
                  </a:lnTo>
                  <a:cubicBezTo>
                    <a:pt x="79502" y="2960116"/>
                    <a:pt x="0" y="2880614"/>
                    <a:pt x="0" y="2782570"/>
                  </a:cubicBezTo>
                  <a:close/>
                </a:path>
              </a:pathLst>
            </a:custGeom>
            <a:solidFill>
              <a:srgbClr val="FFFFFF"/>
            </a:solidFill>
            <a:ln w="23831" cap="sq">
              <a:solidFill>
                <a:srgbClr val="B03030"/>
              </a:solidFill>
              <a:prstDash val="solid"/>
              <a:miter/>
            </a:ln>
          </p:spPr>
        </p:sp>
      </p:grpSp>
      <p:sp>
        <p:nvSpPr>
          <p:cNvPr name="TextBox 9" id="9"/>
          <p:cNvSpPr txBox="true"/>
          <p:nvPr/>
        </p:nvSpPr>
        <p:spPr>
          <a:xfrm rot="0">
            <a:off x="1882098" y="6998922"/>
            <a:ext cx="6835968" cy="364108"/>
          </a:xfrm>
          <a:prstGeom prst="rect">
            <a:avLst/>
          </a:prstGeom>
        </p:spPr>
        <p:txBody>
          <a:bodyPr anchor="t" rtlCol="false" tIns="0" lIns="0" bIns="0" rIns="0">
            <a:spAutoFit/>
          </a:bodyPr>
          <a:lstStyle/>
          <a:p>
            <a:pPr algn="l">
              <a:lnSpc>
                <a:spcPts val="2521"/>
              </a:lnSpc>
            </a:pPr>
            <a:r>
              <a:rPr lang="en-US" sz="1890" b="true">
                <a:solidFill>
                  <a:srgbClr val="B03030"/>
                </a:solidFill>
                <a:latin typeface="Calibri (MS) Bold"/>
                <a:ea typeface="Calibri (MS) Bold"/>
                <a:cs typeface="Calibri (MS) Bold"/>
                <a:sym typeface="Calibri (MS) Bold"/>
              </a:rPr>
              <a:t>What we do NOT claim</a:t>
            </a:r>
          </a:p>
        </p:txBody>
      </p:sp>
      <p:sp>
        <p:nvSpPr>
          <p:cNvPr name="TextBox 10" id="10"/>
          <p:cNvSpPr txBox="true"/>
          <p:nvPr/>
        </p:nvSpPr>
        <p:spPr>
          <a:xfrm rot="0">
            <a:off x="1923246" y="7419293"/>
            <a:ext cx="6815446" cy="1434479"/>
          </a:xfrm>
          <a:prstGeom prst="rect">
            <a:avLst/>
          </a:prstGeom>
        </p:spPr>
        <p:txBody>
          <a:bodyPr anchor="t" rtlCol="false" tIns="0" lIns="0" bIns="0" rIns="0">
            <a:spAutoFit/>
          </a:bodyPr>
          <a:lstStyle/>
          <a:p>
            <a:pPr algn="l">
              <a:lnSpc>
                <a:spcPts val="2161"/>
              </a:lnSpc>
            </a:pPr>
            <a:r>
              <a:rPr lang="en-US" sz="1620">
                <a:solidFill>
                  <a:srgbClr val="1B2A22"/>
                </a:solidFill>
                <a:latin typeface="Calibri (MS)"/>
                <a:ea typeface="Calibri (MS)"/>
                <a:cs typeface="Calibri (MS)"/>
                <a:sym typeface="Calibri (MS)"/>
              </a:rPr>
              <a:t>•  Sunlight and PAR are simulated, not measured</a:t>
            </a:r>
          </a:p>
          <a:p>
            <a:pPr algn="l">
              <a:lnSpc>
                <a:spcPts val="2161"/>
              </a:lnSpc>
            </a:pPr>
            <a:r>
              <a:rPr lang="en-US" sz="1620">
                <a:solidFill>
                  <a:srgbClr val="1B2A22"/>
                </a:solidFill>
                <a:latin typeface="Calibri (MS)"/>
                <a:ea typeface="Calibri (MS)"/>
                <a:cs typeface="Calibri (MS)"/>
                <a:sym typeface="Calibri (MS)"/>
              </a:rPr>
              <a:t>•  No field data yet; the tilt is shown on screen only</a:t>
            </a:r>
          </a:p>
          <a:p>
            <a:pPr algn="l">
              <a:lnSpc>
                <a:spcPts val="2161"/>
              </a:lnSpc>
            </a:pPr>
            <a:r>
              <a:rPr lang="en-US" sz="1620">
                <a:solidFill>
                  <a:srgbClr val="1B2A22"/>
                </a:solidFill>
                <a:latin typeface="Calibri (MS)"/>
                <a:ea typeface="Calibri (MS)"/>
                <a:cs typeface="Calibri (MS)"/>
                <a:sym typeface="Calibri (MS)"/>
              </a:rPr>
              <a:t>•  MPPT and module data are for a typical 400 W module</a:t>
            </a:r>
          </a:p>
        </p:txBody>
      </p:sp>
      <p:grpSp>
        <p:nvGrpSpPr>
          <p:cNvPr name="Group 2" id="2"/>
          <p:cNvGrpSpPr/>
          <p:nvPr/>
        </p:nvGrpSpPr>
        <p:grpSpPr>
          <a:xfrm rot="0">
            <a:off x="2286000" y="9601200"/>
            <a:ext cx="13716000" cy="685800"/>
            <a:chOff x="0" y="0"/>
            <a:chExt cx="13004800" cy="650240"/>
          </a:xfrm>
        </p:grpSpPr>
        <p:sp>
          <p:nvSpPr>
            <p:cNvPr name="Freeform 3" id="3"/>
            <p:cNvSpPr/>
            <p:nvPr/>
          </p:nvSpPr>
          <p:spPr>
            <a:xfrm flipH="false" flipV="false" rot="0">
              <a:off x="0" y="0"/>
              <a:ext cx="13004800" cy="650240"/>
            </a:xfrm>
            <a:custGeom>
              <a:avLst/>
              <a:gdLst/>
              <a:ahLst/>
              <a:cxnLst/>
              <a:rect r="r" b="b" t="t" l="l"/>
              <a:pathLst>
                <a:path h="650240" w="13004800">
                  <a:moveTo>
                    <a:pt x="0" y="0"/>
                  </a:moveTo>
                  <a:lnTo>
                    <a:pt x="13004800" y="0"/>
                  </a:lnTo>
                  <a:lnTo>
                    <a:pt x="13004800" y="650240"/>
                  </a:lnTo>
                  <a:lnTo>
                    <a:pt x="0" y="650240"/>
                  </a:lnTo>
                  <a:close/>
                </a:path>
              </a:pathLst>
            </a:custGeom>
            <a:solidFill>
              <a:srgbClr val="BD582C"/>
            </a:solidFill>
          </p:spPr>
        </p:sp>
      </p:grpSp>
      <p:grpSp>
        <p:nvGrpSpPr>
          <p:cNvPr name="Group 4" id="4"/>
          <p:cNvGrpSpPr/>
          <p:nvPr/>
        </p:nvGrpSpPr>
        <p:grpSpPr>
          <a:xfrm rot="0">
            <a:off x="2286000" y="9501478"/>
            <a:ext cx="13716000" cy="98986"/>
            <a:chOff x="0" y="0"/>
            <a:chExt cx="13004800" cy="93853"/>
          </a:xfrm>
        </p:grpSpPr>
        <p:sp>
          <p:nvSpPr>
            <p:cNvPr name="Freeform 5" id="5"/>
            <p:cNvSpPr/>
            <p:nvPr/>
          </p:nvSpPr>
          <p:spPr>
            <a:xfrm flipH="false" flipV="false" rot="0">
              <a:off x="0" y="0"/>
              <a:ext cx="13004800" cy="93853"/>
            </a:xfrm>
            <a:custGeom>
              <a:avLst/>
              <a:gdLst/>
              <a:ahLst/>
              <a:cxnLst/>
              <a:rect r="r" b="b" t="t" l="l"/>
              <a:pathLst>
                <a:path h="93853" w="13004800">
                  <a:moveTo>
                    <a:pt x="0" y="0"/>
                  </a:moveTo>
                  <a:lnTo>
                    <a:pt x="13004800" y="0"/>
                  </a:lnTo>
                  <a:lnTo>
                    <a:pt x="13004800" y="93853"/>
                  </a:lnTo>
                  <a:lnTo>
                    <a:pt x="0" y="93853"/>
                  </a:lnTo>
                  <a:close/>
                </a:path>
              </a:pathLst>
            </a:custGeom>
            <a:solidFill>
              <a:srgbClr val="E48312"/>
            </a:solidFill>
          </p:spPr>
        </p:sp>
      </p:grpSp>
      <p:grpSp>
        <p:nvGrpSpPr>
          <p:cNvPr name="Group 7" id="7"/>
          <p:cNvGrpSpPr/>
          <p:nvPr/>
        </p:nvGrpSpPr>
        <p:grpSpPr>
          <a:xfrm rot="0">
            <a:off x="2289576" y="9601200"/>
            <a:ext cx="13712383" cy="685800"/>
            <a:chOff x="0" y="0"/>
            <a:chExt cx="13001371" cy="650240"/>
          </a:xfrm>
        </p:grpSpPr>
        <p:sp>
          <p:nvSpPr>
            <p:cNvPr name="Freeform 8" id="8"/>
            <p:cNvSpPr/>
            <p:nvPr/>
          </p:nvSpPr>
          <p:spPr>
            <a:xfrm flipH="false" flipV="false" rot="0">
              <a:off x="0" y="0"/>
              <a:ext cx="13001371" cy="650240"/>
            </a:xfrm>
            <a:custGeom>
              <a:avLst/>
              <a:gdLst/>
              <a:ahLst/>
              <a:cxnLst/>
              <a:rect r="r" b="b" t="t" l="l"/>
              <a:pathLst>
                <a:path h="650240" w="13001371">
                  <a:moveTo>
                    <a:pt x="0" y="0"/>
                  </a:moveTo>
                  <a:lnTo>
                    <a:pt x="13001371" y="0"/>
                  </a:lnTo>
                  <a:lnTo>
                    <a:pt x="13001371" y="650240"/>
                  </a:lnTo>
                  <a:lnTo>
                    <a:pt x="0" y="650240"/>
                  </a:lnTo>
                  <a:close/>
                </a:path>
              </a:pathLst>
            </a:custGeom>
            <a:solidFill>
              <a:srgbClr val="BD582C"/>
            </a:solidFill>
          </p:spPr>
        </p:sp>
      </p:grpSp>
      <p:grpSp>
        <p:nvGrpSpPr>
          <p:cNvPr name="Group 9" id="9"/>
          <p:cNvGrpSpPr/>
          <p:nvPr/>
        </p:nvGrpSpPr>
        <p:grpSpPr>
          <a:xfrm rot="0">
            <a:off x="2286013" y="9501478"/>
            <a:ext cx="13712383" cy="96039"/>
            <a:chOff x="0" y="0"/>
            <a:chExt cx="13001371" cy="91059"/>
          </a:xfrm>
        </p:grpSpPr>
        <p:sp>
          <p:nvSpPr>
            <p:cNvPr name="Freeform 10" id="10"/>
            <p:cNvSpPr/>
            <p:nvPr/>
          </p:nvSpPr>
          <p:spPr>
            <a:xfrm flipH="false" flipV="false" rot="0">
              <a:off x="0" y="0"/>
              <a:ext cx="13001371" cy="91059"/>
            </a:xfrm>
            <a:custGeom>
              <a:avLst/>
              <a:gdLst/>
              <a:ahLst/>
              <a:cxnLst/>
              <a:rect r="r" b="b" t="t" l="l"/>
              <a:pathLst>
                <a:path h="91059" w="13001371">
                  <a:moveTo>
                    <a:pt x="0" y="0"/>
                  </a:moveTo>
                  <a:lnTo>
                    <a:pt x="13001371" y="0"/>
                  </a:lnTo>
                  <a:lnTo>
                    <a:pt x="13001371" y="91059"/>
                  </a:lnTo>
                  <a:lnTo>
                    <a:pt x="0" y="91059"/>
                  </a:lnTo>
                  <a:close/>
                </a:path>
              </a:pathLst>
            </a:custGeom>
            <a:solidFill>
              <a:srgbClr val="E48312"/>
            </a:solidFill>
          </p:spPr>
        </p:sp>
      </p:grpSp>
      <p:grpSp>
        <p:nvGrpSpPr>
          <p:cNvPr name="Group 17" id="17"/>
          <p:cNvGrpSpPr/>
          <p:nvPr/>
        </p:nvGrpSpPr>
        <p:grpSpPr>
          <a:xfrm rot="0">
            <a:off x="6432960" y="9689684"/>
            <a:ext cx="5425656" cy="547689"/>
            <a:chOff x="0" y="0"/>
            <a:chExt cx="5144326" cy="519290"/>
          </a:xfrm>
        </p:grpSpPr>
        <p:sp>
          <p:nvSpPr>
            <p:cNvPr name="Freeform 18" id="18"/>
            <p:cNvSpPr/>
            <p:nvPr/>
          </p:nvSpPr>
          <p:spPr>
            <a:xfrm flipH="false" flipV="false" rot="0">
              <a:off x="0" y="0"/>
              <a:ext cx="5144262" cy="519303"/>
            </a:xfrm>
            <a:custGeom>
              <a:avLst/>
              <a:gdLst/>
              <a:ahLst/>
              <a:cxnLst/>
              <a:rect r="r" b="b" t="t" l="l"/>
              <a:pathLst>
                <a:path h="519303" w="5144262">
                  <a:moveTo>
                    <a:pt x="0" y="0"/>
                  </a:moveTo>
                  <a:lnTo>
                    <a:pt x="5144262" y="0"/>
                  </a:lnTo>
                  <a:lnTo>
                    <a:pt x="5144262" y="519303"/>
                  </a:lnTo>
                  <a:lnTo>
                    <a:pt x="0" y="519303"/>
                  </a:lnTo>
                  <a:close/>
                </a:path>
              </a:pathLst>
            </a:custGeom>
            <a:blipFill>
              <a:blip r:embed="rId3">
                <a:alphaModFix amt="0"/>
              </a:blip>
              <a:stretch>
                <a:fillRect l="0" t="-142890" r="-1" b="-142885"/>
              </a:stretch>
            </a:blipFill>
          </p:spPr>
        </p:sp>
      </p:grpSp>
      <p:grpSp>
        <p:nvGrpSpPr>
          <p:cNvPr name="Group 19" id="19"/>
          <p:cNvGrpSpPr/>
          <p:nvPr/>
        </p:nvGrpSpPr>
        <p:grpSpPr>
          <a:xfrm rot="0">
            <a:off x="6432960" y="9669592"/>
            <a:ext cx="5425656" cy="567781"/>
            <a:chOff x="0" y="0"/>
            <a:chExt cx="5144326" cy="538341"/>
          </a:xfrm>
        </p:grpSpPr>
        <p:sp>
          <p:nvSpPr>
            <p:cNvPr name="Freeform 20" id="20"/>
            <p:cNvSpPr/>
            <p:nvPr/>
          </p:nvSpPr>
          <p:spPr>
            <a:xfrm flipH="false" flipV="false" rot="0">
              <a:off x="0" y="0"/>
              <a:ext cx="5144326" cy="538341"/>
            </a:xfrm>
            <a:custGeom>
              <a:avLst/>
              <a:gdLst/>
              <a:ahLst/>
              <a:cxnLst/>
              <a:rect r="r" b="b" t="t" l="l"/>
              <a:pathLst>
                <a:path h="538341" w="5144326">
                  <a:moveTo>
                    <a:pt x="0" y="0"/>
                  </a:moveTo>
                  <a:lnTo>
                    <a:pt x="5144326" y="0"/>
                  </a:lnTo>
                  <a:lnTo>
                    <a:pt x="5144326" y="538341"/>
                  </a:lnTo>
                  <a:lnTo>
                    <a:pt x="0" y="538341"/>
                  </a:lnTo>
                  <a:close/>
                </a:path>
              </a:pathLst>
            </a:custGeom>
            <a:blipFill>
              <a:blip r:embed="rId4">
                <a:alphaModFix amt="0"/>
              </a:blip>
              <a:stretch>
                <a:fillRect l="0" t="-136196" r="0" b="-136196"/>
              </a:stretch>
            </a:blipFill>
          </p:spPr>
        </p:sp>
        <p:sp>
          <p:nvSpPr>
            <p:cNvPr name="TextBox 21" id="21"/>
            <p:cNvSpPr txBox="true"/>
            <p:nvPr/>
          </p:nvSpPr>
          <p:spPr>
            <a:xfrm>
              <a:off x="0" y="-28575"/>
              <a:ext cx="5144326" cy="566916"/>
            </a:xfrm>
            <a:prstGeom prst="rect">
              <a:avLst/>
            </a:prstGeom>
          </p:spPr>
          <p:txBody>
            <a:bodyPr anchor="ctr" rtlCol="false" tIns="0" lIns="0" bIns="0" rIns="0"/>
            <a:lstStyle/>
            <a:p>
              <a:pPr algn="ctr">
                <a:lnSpc>
                  <a:spcPts val="1620"/>
                </a:lnSpc>
              </a:pPr>
              <a:r>
                <a:rPr lang="en-US" sz="1350">
                  <a:solidFill>
                    <a:srgbClr val="FFFFFF"/>
                  </a:solidFill>
                  <a:latin typeface="Calibri (MS)"/>
                  <a:ea typeface="Calibri (MS)"/>
                  <a:cs typeface="Calibri (MS)"/>
                  <a:sym typeface="Calibri (MS)"/>
                </a:rPr>
                <a:t>TCE - EEE - 22EE690 - Project </a:t>
              </a:r>
            </a:p>
          </p:txBody>
        </p:sp>
      </p:grpSp>
      <p:grpSp>
        <p:nvGrpSpPr>
          <p:cNvPr name="Group 22" id="22"/>
          <p:cNvGrpSpPr/>
          <p:nvPr/>
        </p:nvGrpSpPr>
        <p:grpSpPr>
          <a:xfrm rot="0">
            <a:off x="13424022" y="9689684"/>
            <a:ext cx="1476024" cy="547689"/>
            <a:chOff x="0" y="0"/>
            <a:chExt cx="1399489" cy="519290"/>
          </a:xfrm>
        </p:grpSpPr>
        <p:sp>
          <p:nvSpPr>
            <p:cNvPr name="Freeform 23" id="23"/>
            <p:cNvSpPr/>
            <p:nvPr/>
          </p:nvSpPr>
          <p:spPr>
            <a:xfrm flipH="false" flipV="false" rot="0">
              <a:off x="0" y="0"/>
              <a:ext cx="1399540" cy="519303"/>
            </a:xfrm>
            <a:custGeom>
              <a:avLst/>
              <a:gdLst/>
              <a:ahLst/>
              <a:cxnLst/>
              <a:rect r="r" b="b" t="t" l="l"/>
              <a:pathLst>
                <a:path h="519303" w="1399540">
                  <a:moveTo>
                    <a:pt x="0" y="0"/>
                  </a:moveTo>
                  <a:lnTo>
                    <a:pt x="1399540" y="0"/>
                  </a:lnTo>
                  <a:lnTo>
                    <a:pt x="1399540" y="519303"/>
                  </a:lnTo>
                  <a:lnTo>
                    <a:pt x="0" y="519303"/>
                  </a:lnTo>
                  <a:close/>
                </a:path>
              </a:pathLst>
            </a:custGeom>
            <a:blipFill>
              <a:blip r:embed="rId3">
                <a:alphaModFix amt="0"/>
              </a:blip>
              <a:stretch>
                <a:fillRect l="0" t="-2474" r="3" b="-2474"/>
              </a:stretch>
            </a:blipFill>
          </p:spPr>
        </p:sp>
      </p:grpSp>
      <p:grpSp>
        <p:nvGrpSpPr>
          <p:cNvPr name="Group 24" id="24"/>
          <p:cNvGrpSpPr/>
          <p:nvPr/>
        </p:nvGrpSpPr>
        <p:grpSpPr>
          <a:xfrm rot="0">
            <a:off x="13424022" y="9659547"/>
            <a:ext cx="1476024" cy="577827"/>
            <a:chOff x="0" y="0"/>
            <a:chExt cx="1399489" cy="547865"/>
          </a:xfrm>
        </p:grpSpPr>
        <p:sp>
          <p:nvSpPr>
            <p:cNvPr name="Freeform 25" id="25"/>
            <p:cNvSpPr/>
            <p:nvPr/>
          </p:nvSpPr>
          <p:spPr>
            <a:xfrm flipH="false" flipV="false" rot="0">
              <a:off x="0" y="0"/>
              <a:ext cx="1399489" cy="547866"/>
            </a:xfrm>
            <a:custGeom>
              <a:avLst/>
              <a:gdLst/>
              <a:ahLst/>
              <a:cxnLst/>
              <a:rect r="r" b="b" t="t" l="l"/>
              <a:pathLst>
                <a:path h="547866" w="1399489">
                  <a:moveTo>
                    <a:pt x="0" y="0"/>
                  </a:moveTo>
                  <a:lnTo>
                    <a:pt x="1399489" y="0"/>
                  </a:lnTo>
                  <a:lnTo>
                    <a:pt x="1399489" y="547866"/>
                  </a:lnTo>
                  <a:lnTo>
                    <a:pt x="0" y="547866"/>
                  </a:lnTo>
                  <a:close/>
                </a:path>
              </a:pathLst>
            </a:custGeom>
            <a:blipFill>
              <a:blip r:embed="rId4">
                <a:alphaModFix amt="0"/>
              </a:blip>
              <a:stretch>
                <a:fillRect l="-227" t="0" r="-227" b="0"/>
              </a:stretch>
            </a:blipFill>
          </p:spPr>
        </p:sp>
        <p:sp>
          <p:nvSpPr>
            <p:cNvPr name="TextBox 26" id="26"/>
            <p:cNvSpPr txBox="true"/>
            <p:nvPr/>
          </p:nvSpPr>
          <p:spPr>
            <a:xfrm>
              <a:off x="0" y="-19050"/>
              <a:ext cx="1399489" cy="566915"/>
            </a:xfrm>
            <a:prstGeom prst="rect">
              <a:avLst/>
            </a:prstGeom>
          </p:spPr>
          <p:txBody>
            <a:bodyPr anchor="ctr" rtlCol="false" tIns="0" lIns="0" bIns="0" rIns="0"/>
            <a:lstStyle/>
            <a:p>
              <a:pPr algn="r">
                <a:lnSpc>
                  <a:spcPts val="1889"/>
                </a:lnSpc>
              </a:pPr>
              <a:r>
                <a:rPr lang="en-US" sz="1575">
                  <a:solidFill>
                    <a:srgbClr val="FFFFFF"/>
                  </a:solidFill>
                  <a:latin typeface="Calibri (MS)"/>
                  <a:ea typeface="Calibri (MS)"/>
                  <a:cs typeface="Calibri (MS)"/>
                  <a:sym typeface="Calibri (MS)"/>
                </a:rPr>
                <a:t>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86000" y="9601200"/>
            <a:ext cx="13716000" cy="685800"/>
            <a:chOff x="0" y="0"/>
            <a:chExt cx="13004800" cy="650240"/>
          </a:xfrm>
        </p:grpSpPr>
        <p:sp>
          <p:nvSpPr>
            <p:cNvPr name="Freeform 3" id="3"/>
            <p:cNvSpPr/>
            <p:nvPr/>
          </p:nvSpPr>
          <p:spPr>
            <a:xfrm flipH="false" flipV="false" rot="0">
              <a:off x="0" y="0"/>
              <a:ext cx="13004800" cy="650240"/>
            </a:xfrm>
            <a:custGeom>
              <a:avLst/>
              <a:gdLst/>
              <a:ahLst/>
              <a:cxnLst/>
              <a:rect r="r" b="b" t="t" l="l"/>
              <a:pathLst>
                <a:path h="650240" w="13004800">
                  <a:moveTo>
                    <a:pt x="0" y="0"/>
                  </a:moveTo>
                  <a:lnTo>
                    <a:pt x="13004800" y="0"/>
                  </a:lnTo>
                  <a:lnTo>
                    <a:pt x="13004800" y="650240"/>
                  </a:lnTo>
                  <a:lnTo>
                    <a:pt x="0" y="650240"/>
                  </a:lnTo>
                  <a:close/>
                </a:path>
              </a:pathLst>
            </a:custGeom>
            <a:solidFill>
              <a:srgbClr val="BD582C"/>
            </a:solidFill>
          </p:spPr>
        </p:sp>
      </p:grpSp>
      <p:grpSp>
        <p:nvGrpSpPr>
          <p:cNvPr name="Group 4" id="4"/>
          <p:cNvGrpSpPr/>
          <p:nvPr/>
        </p:nvGrpSpPr>
        <p:grpSpPr>
          <a:xfrm rot="0">
            <a:off x="2286000" y="9501478"/>
            <a:ext cx="13716000" cy="98986"/>
            <a:chOff x="0" y="0"/>
            <a:chExt cx="13004800" cy="93853"/>
          </a:xfrm>
        </p:grpSpPr>
        <p:sp>
          <p:nvSpPr>
            <p:cNvPr name="Freeform 5" id="5"/>
            <p:cNvSpPr/>
            <p:nvPr/>
          </p:nvSpPr>
          <p:spPr>
            <a:xfrm flipH="false" flipV="false" rot="0">
              <a:off x="0" y="0"/>
              <a:ext cx="13004800" cy="93853"/>
            </a:xfrm>
            <a:custGeom>
              <a:avLst/>
              <a:gdLst/>
              <a:ahLst/>
              <a:cxnLst/>
              <a:rect r="r" b="b" t="t" l="l"/>
              <a:pathLst>
                <a:path h="93853" w="13004800">
                  <a:moveTo>
                    <a:pt x="0" y="0"/>
                  </a:moveTo>
                  <a:lnTo>
                    <a:pt x="13004800" y="0"/>
                  </a:lnTo>
                  <a:lnTo>
                    <a:pt x="13004800" y="93853"/>
                  </a:lnTo>
                  <a:lnTo>
                    <a:pt x="0" y="93853"/>
                  </a:lnTo>
                  <a:close/>
                </a:path>
              </a:pathLst>
            </a:custGeom>
            <a:solidFill>
              <a:srgbClr val="E48312"/>
            </a:solidFill>
          </p:spPr>
        </p:sp>
      </p:grpSp>
      <p:sp>
        <p:nvSpPr>
          <p:cNvPr name="AutoShape 6" id="6"/>
          <p:cNvSpPr/>
          <p:nvPr/>
        </p:nvSpPr>
        <p:spPr>
          <a:xfrm rot="4080">
            <a:off x="3617256" y="2593369"/>
            <a:ext cx="11235761" cy="0"/>
          </a:xfrm>
          <a:prstGeom prst="line">
            <a:avLst/>
          </a:prstGeom>
          <a:ln cap="rnd" w="9525">
            <a:solidFill>
              <a:srgbClr val="000000"/>
            </a:solidFill>
            <a:prstDash val="solid"/>
            <a:headEnd type="none" len="sm" w="sm"/>
            <a:tailEnd type="none" len="sm" w="sm"/>
          </a:ln>
        </p:spPr>
      </p:sp>
      <p:grpSp>
        <p:nvGrpSpPr>
          <p:cNvPr name="Group 7" id="7"/>
          <p:cNvGrpSpPr/>
          <p:nvPr/>
        </p:nvGrpSpPr>
        <p:grpSpPr>
          <a:xfrm rot="0">
            <a:off x="2289576" y="9601200"/>
            <a:ext cx="13712383" cy="685800"/>
            <a:chOff x="0" y="0"/>
            <a:chExt cx="13001371" cy="650240"/>
          </a:xfrm>
        </p:grpSpPr>
        <p:sp>
          <p:nvSpPr>
            <p:cNvPr name="Freeform 8" id="8"/>
            <p:cNvSpPr/>
            <p:nvPr/>
          </p:nvSpPr>
          <p:spPr>
            <a:xfrm flipH="false" flipV="false" rot="0">
              <a:off x="0" y="0"/>
              <a:ext cx="13001371" cy="650240"/>
            </a:xfrm>
            <a:custGeom>
              <a:avLst/>
              <a:gdLst/>
              <a:ahLst/>
              <a:cxnLst/>
              <a:rect r="r" b="b" t="t" l="l"/>
              <a:pathLst>
                <a:path h="650240" w="13001371">
                  <a:moveTo>
                    <a:pt x="0" y="0"/>
                  </a:moveTo>
                  <a:lnTo>
                    <a:pt x="13001371" y="0"/>
                  </a:lnTo>
                  <a:lnTo>
                    <a:pt x="13001371" y="650240"/>
                  </a:lnTo>
                  <a:lnTo>
                    <a:pt x="0" y="650240"/>
                  </a:lnTo>
                  <a:close/>
                </a:path>
              </a:pathLst>
            </a:custGeom>
            <a:solidFill>
              <a:srgbClr val="BD582C"/>
            </a:solidFill>
          </p:spPr>
        </p:sp>
      </p:grpSp>
      <p:grpSp>
        <p:nvGrpSpPr>
          <p:cNvPr name="Group 9" id="9"/>
          <p:cNvGrpSpPr/>
          <p:nvPr/>
        </p:nvGrpSpPr>
        <p:grpSpPr>
          <a:xfrm rot="0">
            <a:off x="2286013" y="9501478"/>
            <a:ext cx="13712383" cy="96039"/>
            <a:chOff x="0" y="0"/>
            <a:chExt cx="13001371" cy="91059"/>
          </a:xfrm>
        </p:grpSpPr>
        <p:sp>
          <p:nvSpPr>
            <p:cNvPr name="Freeform 10" id="10"/>
            <p:cNvSpPr/>
            <p:nvPr/>
          </p:nvSpPr>
          <p:spPr>
            <a:xfrm flipH="false" flipV="false" rot="0">
              <a:off x="0" y="0"/>
              <a:ext cx="13001371" cy="91059"/>
            </a:xfrm>
            <a:custGeom>
              <a:avLst/>
              <a:gdLst/>
              <a:ahLst/>
              <a:cxnLst/>
              <a:rect r="r" b="b" t="t" l="l"/>
              <a:pathLst>
                <a:path h="91059" w="13001371">
                  <a:moveTo>
                    <a:pt x="0" y="0"/>
                  </a:moveTo>
                  <a:lnTo>
                    <a:pt x="13001371" y="0"/>
                  </a:lnTo>
                  <a:lnTo>
                    <a:pt x="13001371" y="91059"/>
                  </a:lnTo>
                  <a:lnTo>
                    <a:pt x="0" y="91059"/>
                  </a:lnTo>
                  <a:close/>
                </a:path>
              </a:pathLst>
            </a:custGeom>
            <a:solidFill>
              <a:srgbClr val="E48312"/>
            </a:solidFill>
          </p:spPr>
        </p:sp>
      </p:grpSp>
      <p:grpSp>
        <p:nvGrpSpPr>
          <p:cNvPr name="Group 11" id="11"/>
          <p:cNvGrpSpPr/>
          <p:nvPr/>
        </p:nvGrpSpPr>
        <p:grpSpPr>
          <a:xfrm rot="0">
            <a:off x="13424022" y="9689684"/>
            <a:ext cx="1476024" cy="547689"/>
            <a:chOff x="0" y="0"/>
            <a:chExt cx="1399489" cy="519290"/>
          </a:xfrm>
        </p:grpSpPr>
        <p:sp>
          <p:nvSpPr>
            <p:cNvPr name="Freeform 12" id="12"/>
            <p:cNvSpPr/>
            <p:nvPr/>
          </p:nvSpPr>
          <p:spPr>
            <a:xfrm flipH="false" flipV="false" rot="0">
              <a:off x="0" y="0"/>
              <a:ext cx="1399540" cy="519303"/>
            </a:xfrm>
            <a:custGeom>
              <a:avLst/>
              <a:gdLst/>
              <a:ahLst/>
              <a:cxnLst/>
              <a:rect r="r" b="b" t="t" l="l"/>
              <a:pathLst>
                <a:path h="519303" w="1399540">
                  <a:moveTo>
                    <a:pt x="0" y="0"/>
                  </a:moveTo>
                  <a:lnTo>
                    <a:pt x="1399540" y="0"/>
                  </a:lnTo>
                  <a:lnTo>
                    <a:pt x="1399540" y="519303"/>
                  </a:lnTo>
                  <a:lnTo>
                    <a:pt x="0" y="519303"/>
                  </a:lnTo>
                  <a:close/>
                </a:path>
              </a:pathLst>
            </a:custGeom>
            <a:blipFill>
              <a:blip r:embed="rId2">
                <a:alphaModFix amt="0"/>
              </a:blip>
              <a:stretch>
                <a:fillRect l="0" t="-2474" r="3" b="-2474"/>
              </a:stretch>
            </a:blipFill>
          </p:spPr>
        </p:sp>
      </p:grpSp>
      <p:grpSp>
        <p:nvGrpSpPr>
          <p:cNvPr name="Group 13" id="13"/>
          <p:cNvGrpSpPr/>
          <p:nvPr/>
        </p:nvGrpSpPr>
        <p:grpSpPr>
          <a:xfrm rot="0">
            <a:off x="13424022" y="9659547"/>
            <a:ext cx="1476024" cy="577826"/>
            <a:chOff x="0" y="0"/>
            <a:chExt cx="1399489" cy="547864"/>
          </a:xfrm>
        </p:grpSpPr>
        <p:sp>
          <p:nvSpPr>
            <p:cNvPr name="Freeform 14" id="14"/>
            <p:cNvSpPr/>
            <p:nvPr/>
          </p:nvSpPr>
          <p:spPr>
            <a:xfrm flipH="false" flipV="false" rot="0">
              <a:off x="0" y="0"/>
              <a:ext cx="1399489" cy="547863"/>
            </a:xfrm>
            <a:custGeom>
              <a:avLst/>
              <a:gdLst/>
              <a:ahLst/>
              <a:cxnLst/>
              <a:rect r="r" b="b" t="t" l="l"/>
              <a:pathLst>
                <a:path h="547863" w="1399489">
                  <a:moveTo>
                    <a:pt x="0" y="0"/>
                  </a:moveTo>
                  <a:lnTo>
                    <a:pt x="1399489" y="0"/>
                  </a:lnTo>
                  <a:lnTo>
                    <a:pt x="1399489" y="547863"/>
                  </a:lnTo>
                  <a:lnTo>
                    <a:pt x="0" y="547863"/>
                  </a:lnTo>
                  <a:close/>
                </a:path>
              </a:pathLst>
            </a:custGeom>
            <a:blipFill>
              <a:blip r:embed="rId3">
                <a:alphaModFix amt="0"/>
              </a:blip>
              <a:stretch>
                <a:fillRect l="-227" t="0" r="-227" b="0"/>
              </a:stretch>
            </a:blipFill>
          </p:spPr>
        </p:sp>
        <p:sp>
          <p:nvSpPr>
            <p:cNvPr name="TextBox 15" id="15"/>
            <p:cNvSpPr txBox="true"/>
            <p:nvPr/>
          </p:nvSpPr>
          <p:spPr>
            <a:xfrm>
              <a:off x="0" y="-19050"/>
              <a:ext cx="1399489" cy="566914"/>
            </a:xfrm>
            <a:prstGeom prst="rect">
              <a:avLst/>
            </a:prstGeom>
          </p:spPr>
          <p:txBody>
            <a:bodyPr anchor="ctr" rtlCol="false" tIns="0" lIns="0" bIns="0" rIns="0"/>
            <a:lstStyle/>
            <a:p>
              <a:pPr algn="r">
                <a:lnSpc>
                  <a:spcPts val="1889"/>
                </a:lnSpc>
              </a:pPr>
              <a:r>
                <a:rPr lang="en-US" sz="1575">
                  <a:solidFill>
                    <a:srgbClr val="FFFFFF"/>
                  </a:solidFill>
                  <a:latin typeface="Calibri (MS)"/>
                  <a:ea typeface="Calibri (MS)"/>
                  <a:cs typeface="Calibri (MS)"/>
                  <a:sym typeface="Calibri (MS)"/>
                </a:rPr>
                <a:t>8</a:t>
              </a:r>
            </a:p>
          </p:txBody>
        </p:sp>
      </p:grpSp>
      <p:sp>
        <p:nvSpPr>
          <p:cNvPr name="TextBox 16" id="16"/>
          <p:cNvSpPr txBox="true"/>
          <p:nvPr/>
        </p:nvSpPr>
        <p:spPr>
          <a:xfrm rot="0">
            <a:off x="2414588" y="3929360"/>
            <a:ext cx="13458825" cy="1196191"/>
          </a:xfrm>
          <a:prstGeom prst="rect">
            <a:avLst/>
          </a:prstGeom>
        </p:spPr>
        <p:txBody>
          <a:bodyPr anchor="t" rtlCol="false" tIns="0" lIns="0" bIns="0" rIns="0">
            <a:spAutoFit/>
          </a:bodyPr>
          <a:lstStyle/>
          <a:p>
            <a:pPr algn="ctr">
              <a:lnSpc>
                <a:spcPts val="8638"/>
              </a:lnSpc>
            </a:pPr>
            <a:r>
              <a:rPr lang="en-US" sz="7198">
                <a:solidFill>
                  <a:srgbClr val="000000"/>
                </a:solidFill>
                <a:latin typeface="Times New Roman"/>
                <a:ea typeface="Times New Roman"/>
                <a:cs typeface="Times New Roman"/>
                <a:sym typeface="Times New Roman"/>
              </a:rPr>
              <a:t>THANK YOU</a:t>
            </a:r>
          </a:p>
        </p:txBody>
      </p:sp>
      <p:grpSp>
        <p:nvGrpSpPr>
          <p:cNvPr name="Group 17" id="17"/>
          <p:cNvGrpSpPr/>
          <p:nvPr/>
        </p:nvGrpSpPr>
        <p:grpSpPr>
          <a:xfrm rot="0">
            <a:off x="6432960" y="9689684"/>
            <a:ext cx="5425656" cy="547689"/>
            <a:chOff x="0" y="0"/>
            <a:chExt cx="5144326" cy="519290"/>
          </a:xfrm>
        </p:grpSpPr>
        <p:sp>
          <p:nvSpPr>
            <p:cNvPr name="Freeform 18" id="18"/>
            <p:cNvSpPr/>
            <p:nvPr/>
          </p:nvSpPr>
          <p:spPr>
            <a:xfrm flipH="false" flipV="false" rot="0">
              <a:off x="0" y="0"/>
              <a:ext cx="5144262" cy="519303"/>
            </a:xfrm>
            <a:custGeom>
              <a:avLst/>
              <a:gdLst/>
              <a:ahLst/>
              <a:cxnLst/>
              <a:rect r="r" b="b" t="t" l="l"/>
              <a:pathLst>
                <a:path h="519303" w="5144262">
                  <a:moveTo>
                    <a:pt x="0" y="0"/>
                  </a:moveTo>
                  <a:lnTo>
                    <a:pt x="5144262" y="0"/>
                  </a:lnTo>
                  <a:lnTo>
                    <a:pt x="5144262" y="519303"/>
                  </a:lnTo>
                  <a:lnTo>
                    <a:pt x="0" y="519303"/>
                  </a:lnTo>
                  <a:close/>
                </a:path>
              </a:pathLst>
            </a:custGeom>
            <a:blipFill>
              <a:blip r:embed="rId2">
                <a:alphaModFix amt="0"/>
              </a:blip>
              <a:stretch>
                <a:fillRect l="0" t="-142890" r="-1" b="-142885"/>
              </a:stretch>
            </a:blipFill>
          </p:spPr>
        </p:sp>
      </p:grpSp>
      <p:grpSp>
        <p:nvGrpSpPr>
          <p:cNvPr name="Group 19" id="19"/>
          <p:cNvGrpSpPr/>
          <p:nvPr/>
        </p:nvGrpSpPr>
        <p:grpSpPr>
          <a:xfrm rot="0">
            <a:off x="6432960" y="9669592"/>
            <a:ext cx="5425656" cy="567781"/>
            <a:chOff x="0" y="0"/>
            <a:chExt cx="5144326" cy="538341"/>
          </a:xfrm>
        </p:grpSpPr>
        <p:sp>
          <p:nvSpPr>
            <p:cNvPr name="Freeform 20" id="20"/>
            <p:cNvSpPr/>
            <p:nvPr/>
          </p:nvSpPr>
          <p:spPr>
            <a:xfrm flipH="false" flipV="false" rot="0">
              <a:off x="0" y="0"/>
              <a:ext cx="5144326" cy="538341"/>
            </a:xfrm>
            <a:custGeom>
              <a:avLst/>
              <a:gdLst/>
              <a:ahLst/>
              <a:cxnLst/>
              <a:rect r="r" b="b" t="t" l="l"/>
              <a:pathLst>
                <a:path h="538341" w="5144326">
                  <a:moveTo>
                    <a:pt x="0" y="0"/>
                  </a:moveTo>
                  <a:lnTo>
                    <a:pt x="5144326" y="0"/>
                  </a:lnTo>
                  <a:lnTo>
                    <a:pt x="5144326" y="538341"/>
                  </a:lnTo>
                  <a:lnTo>
                    <a:pt x="0" y="538341"/>
                  </a:lnTo>
                  <a:close/>
                </a:path>
              </a:pathLst>
            </a:custGeom>
            <a:blipFill>
              <a:blip r:embed="rId3">
                <a:alphaModFix amt="0"/>
              </a:blip>
              <a:stretch>
                <a:fillRect l="0" t="-136196" r="0" b="-136196"/>
              </a:stretch>
            </a:blipFill>
          </p:spPr>
        </p:sp>
        <p:sp>
          <p:nvSpPr>
            <p:cNvPr name="TextBox 21" id="21"/>
            <p:cNvSpPr txBox="true"/>
            <p:nvPr/>
          </p:nvSpPr>
          <p:spPr>
            <a:xfrm>
              <a:off x="0" y="-28575"/>
              <a:ext cx="5144326" cy="566916"/>
            </a:xfrm>
            <a:prstGeom prst="rect">
              <a:avLst/>
            </a:prstGeom>
          </p:spPr>
          <p:txBody>
            <a:bodyPr anchor="ctr" rtlCol="false" tIns="0" lIns="0" bIns="0" rIns="0"/>
            <a:lstStyle/>
            <a:p>
              <a:pPr algn="ctr">
                <a:lnSpc>
                  <a:spcPts val="1620"/>
                </a:lnSpc>
              </a:pPr>
              <a:r>
                <a:rPr lang="en-US" sz="1350">
                  <a:solidFill>
                    <a:srgbClr val="FFFFFF"/>
                  </a:solidFill>
                  <a:latin typeface="Calibri (MS)"/>
                  <a:ea typeface="Calibri (MS)"/>
                  <a:cs typeface="Calibri (MS)"/>
                  <a:sym typeface="Calibri (MS)"/>
                </a:rPr>
                <a:t>TCE - EEE - 22EE690 - Project  </a:t>
              </a:r>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grpSp>
        <p:nvGrpSpPr>
          <p:cNvPr name="Group 2" id="2"/>
          <p:cNvGrpSpPr/>
          <p:nvPr/>
        </p:nvGrpSpPr>
        <p:grpSpPr>
          <a:xfrm rot="0">
            <a:off x="823608" y="411804"/>
            <a:ext cx="16609333" cy="1029500"/>
            <a:chOff x="0" y="0"/>
            <a:chExt cx="22145777" cy="1372667"/>
          </a:xfrm>
        </p:grpSpPr>
        <p:sp>
          <p:nvSpPr>
            <p:cNvPr name="Freeform 3" id="3"/>
            <p:cNvSpPr/>
            <p:nvPr/>
          </p:nvSpPr>
          <p:spPr>
            <a:xfrm flipH="false" flipV="false" rot="0">
              <a:off x="0" y="0"/>
              <a:ext cx="22145782" cy="1372672"/>
            </a:xfrm>
            <a:custGeom>
              <a:avLst/>
              <a:gdLst/>
              <a:ahLst/>
              <a:cxnLst/>
              <a:rect r="r" b="b" t="t" l="l"/>
              <a:pathLst>
                <a:path h="1372672" w="22145782">
                  <a:moveTo>
                    <a:pt x="0" y="0"/>
                  </a:moveTo>
                  <a:lnTo>
                    <a:pt x="22145782" y="0"/>
                  </a:lnTo>
                  <a:lnTo>
                    <a:pt x="22145782" y="1372672"/>
                  </a:lnTo>
                  <a:lnTo>
                    <a:pt x="0" y="1372672"/>
                  </a:lnTo>
                  <a:close/>
                </a:path>
              </a:pathLst>
            </a:custGeom>
            <a:blipFill>
              <a:blip r:embed="rId3">
                <a:alphaModFix amt="0"/>
              </a:blip>
              <a:stretch>
                <a:fillRect l="0" t="-264358" r="0" b="-264358"/>
              </a:stretch>
            </a:blipFill>
          </p:spPr>
        </p:sp>
        <p:sp>
          <p:nvSpPr>
            <p:cNvPr name="TextBox 4" id="4"/>
            <p:cNvSpPr txBox="true"/>
            <p:nvPr/>
          </p:nvSpPr>
          <p:spPr>
            <a:xfrm>
              <a:off x="0" y="-9525"/>
              <a:ext cx="22145777" cy="1382192"/>
            </a:xfrm>
            <a:prstGeom prst="rect">
              <a:avLst/>
            </a:prstGeom>
          </p:spPr>
          <p:txBody>
            <a:bodyPr anchor="ctr" rtlCol="false" tIns="0" lIns="0" bIns="0" rIns="0"/>
            <a:lstStyle/>
            <a:p>
              <a:pPr algn="l">
                <a:lnSpc>
                  <a:spcPts val="5404"/>
                </a:lnSpc>
              </a:pPr>
              <a:r>
                <a:rPr lang="en-US" sz="4503" b="true">
                  <a:solidFill>
                    <a:srgbClr val="14342B"/>
                  </a:solidFill>
                  <a:latin typeface="Cambria Bold"/>
                  <a:ea typeface="Cambria Bold"/>
                  <a:cs typeface="Cambria Bold"/>
                  <a:sym typeface="Cambria Bold"/>
                </a:rPr>
                <a:t>Feasibility, SDG, cost and plan</a:t>
              </a:r>
            </a:p>
          </p:txBody>
        </p:sp>
      </p:grpSp>
      <p:sp>
        <p:nvSpPr>
          <p:cNvPr id="5" name="Rounded Rectangle 4"/>
          <p:cNvSpPr/>
          <p:nvPr/>
        </p:nvSpPr>
        <p:spPr>
          <a:xfrm>
            <a:off x="751636" y="1565910"/>
            <a:ext cx="7516368" cy="3319729"/>
          </a:xfrm>
          <a:prstGeom prst="roundRect">
            <a:avLst>
              <a:gd name="adj" fmla="val 4000"/>
            </a:avLst>
          </a:prstGeom>
          <a:solidFill>
            <a:srgbClr val="FFFFFF"/>
          </a:solidFill>
          <a:ln>
            <a:solidFill>
              <a:srgbClr val="4E9A2E"/>
            </a:solidFill>
          </a:ln>
          <a:effectLst/>
        </p:spPr>
        <p:style>
          <a:lnRef idx="1">
            <a:schemeClr val="accent1"/>
          </a:lnRef>
          <a:fillRef idx="3">
            <a:schemeClr val="accent1"/>
          </a:fillRef>
          <a:effectRef idx="2">
            <a:schemeClr val="accent1"/>
          </a:effectRef>
          <a:fontRef idx="minor">
            <a:schemeClr val="lt1"/>
          </a:fontRef>
        </p:style>
        <p:txBody>
          <a:bodyPr rtlCol="0" anchor="t" wrap="square" lIns="150327" rIns="150327" tIns="100218"/>
          <a:lstStyle/>
          <a:p>
            <a:pPr algn="ctr"/>
            <a:r>
              <a:rPr b="1" sz="2300">
                <a:solidFill>
                  <a:srgbClr val="14342B"/>
                </a:solidFill>
                <a:latin typeface="Calibri"/>
              </a:rPr>
              <a:t>Feasible?</a:t>
            </a:r>
          </a:p>
          <a:p>
            <a:pPr>
              <a:spcBef>
                <a:spcPts val="300"/>
              </a:spcBef>
            </a:pPr>
            <a:r>
              <a:rPr sz="2000">
                <a:solidFill>
                  <a:srgbClr val="1B2A22"/>
                </a:solidFill>
                <a:latin typeface="Calibri"/>
              </a:rPr>
              <a:t>•  Only low-cost parts: ESP boards, DHT11, soil and rain sensors; software in MATLAB</a:t>
            </a:r>
          </a:p>
          <a:p>
            <a:pPr>
              <a:spcBef>
                <a:spcPts val="300"/>
              </a:spcBef>
            </a:pPr>
            <a:r>
              <a:rPr sz="2000">
                <a:solidFill>
                  <a:srgbClr val="1B2A22"/>
                </a:solidFill>
                <a:latin typeface="Calibri"/>
              </a:rPr>
              <a:t>•  Panels have only two positions: flat/rain mode and 15 to 60 degrees</a:t>
            </a:r>
          </a:p>
          <a:p>
            <a:pPr>
              <a:spcBef>
                <a:spcPts val="300"/>
              </a:spcBef>
            </a:pPr>
            <a:r>
              <a:rPr sz="2000">
                <a:solidFill>
                  <a:srgbClr val="1B2A22"/>
                </a:solidFill>
                <a:latin typeface="Calibri"/>
              </a:rPr>
              <a:t>•  Strength check: a 5 m rope grid passes IS 875 wind load (39 m/s); 12.5 m spans fail</a:t>
            </a:r>
          </a:p>
          <a:p>
            <a:pPr>
              <a:spcBef>
                <a:spcPts val="300"/>
              </a:spcBef>
            </a:pPr>
            <a:r>
              <a:rPr sz="2000">
                <a:solidFill>
                  <a:srgbClr val="1B2A22"/>
                </a:solidFill>
                <a:latin typeface="Calibri"/>
              </a:rPr>
              <a:t>•  Pyranometer, PAR and wind are still simulated: next step is real sensors</a:t>
            </a:r>
          </a:p>
        </p:txBody>
      </p:sp>
      <p:sp>
        <p:nvSpPr>
          <p:cNvPr id="6" name="Rounded Rectangle 5"/>
          <p:cNvSpPr/>
          <p:nvPr/>
        </p:nvSpPr>
        <p:spPr>
          <a:xfrm>
            <a:off x="8455914" y="1565910"/>
            <a:ext cx="7516368" cy="3319729"/>
          </a:xfrm>
          <a:prstGeom prst="roundRect">
            <a:avLst>
              <a:gd name="adj" fmla="val 4000"/>
            </a:avLst>
          </a:prstGeom>
          <a:solidFill>
            <a:srgbClr val="FFFFFF"/>
          </a:solidFill>
          <a:ln>
            <a:solidFill>
              <a:srgbClr val="4E9A2E"/>
            </a:solidFill>
          </a:ln>
          <a:effectLst/>
        </p:spPr>
        <p:style>
          <a:lnRef idx="1">
            <a:schemeClr val="accent1"/>
          </a:lnRef>
          <a:fillRef idx="3">
            <a:schemeClr val="accent1"/>
          </a:fillRef>
          <a:effectRef idx="2">
            <a:schemeClr val="accent1"/>
          </a:effectRef>
          <a:fontRef idx="minor">
            <a:schemeClr val="lt1"/>
          </a:fontRef>
        </p:style>
        <p:txBody>
          <a:bodyPr rtlCol="0" anchor="t" wrap="square" lIns="150327" rIns="150327" tIns="100218"/>
          <a:lstStyle/>
          <a:p>
            <a:pPr algn="ctr"/>
            <a:r>
              <a:rPr b="1" sz="2300">
                <a:solidFill>
                  <a:srgbClr val="14342B"/>
                </a:solidFill>
                <a:latin typeface="Calibri"/>
              </a:rPr>
              <a:t>SDG links</a:t>
            </a:r>
          </a:p>
          <a:p>
            <a:pPr>
              <a:spcBef>
                <a:spcPts val="300"/>
              </a:spcBef>
            </a:pPr>
            <a:r>
              <a:rPr sz="2000">
                <a:solidFill>
                  <a:srgbClr val="1B2A22"/>
                </a:solidFill>
                <a:latin typeface="Calibri"/>
              </a:rPr>
              <a:t>•  SDG 7 Clean energy: electricity from the same land</a:t>
            </a:r>
          </a:p>
          <a:p>
            <a:pPr>
              <a:spcBef>
                <a:spcPts val="300"/>
              </a:spcBef>
            </a:pPr>
            <a:r>
              <a:rPr sz="2000">
                <a:solidFill>
                  <a:srgbClr val="1B2A22"/>
                </a:solidFill>
                <a:latin typeface="Calibri"/>
              </a:rPr>
              <a:t>•  SDG 2 Zero hunger: crops keep their light, water saved</a:t>
            </a:r>
          </a:p>
          <a:p>
            <a:pPr>
              <a:spcBef>
                <a:spcPts val="300"/>
              </a:spcBef>
            </a:pPr>
            <a:r>
              <a:rPr sz="2000">
                <a:solidFill>
                  <a:srgbClr val="1B2A22"/>
                </a:solidFill>
                <a:latin typeface="Calibri"/>
              </a:rPr>
              <a:t>•  SDG 6 Water: rain harvested to a tank for irrigation</a:t>
            </a:r>
          </a:p>
          <a:p>
            <a:pPr>
              <a:spcBef>
                <a:spcPts val="300"/>
              </a:spcBef>
            </a:pPr>
            <a:r>
              <a:rPr sz="2000">
                <a:solidFill>
                  <a:srgbClr val="1B2A22"/>
                </a:solidFill>
                <a:latin typeface="Calibri"/>
              </a:rPr>
              <a:t>•  SDG 13 Climate action: less water use, less fossil power</a:t>
            </a:r>
          </a:p>
        </p:txBody>
      </p:sp>
      <p:sp>
        <p:nvSpPr>
          <p:cNvPr id="7" name="Rounded Rectangle 6"/>
          <p:cNvSpPr/>
          <p:nvPr/>
        </p:nvSpPr>
        <p:spPr>
          <a:xfrm>
            <a:off x="751636" y="5073548"/>
            <a:ext cx="7516368" cy="2943910"/>
          </a:xfrm>
          <a:prstGeom prst="roundRect">
            <a:avLst>
              <a:gd name="adj" fmla="val 4000"/>
            </a:avLst>
          </a:prstGeom>
          <a:solidFill>
            <a:srgbClr val="FFF6DC"/>
          </a:solidFill>
          <a:ln>
            <a:solidFill>
              <a:srgbClr val="4E9A2E"/>
            </a:solidFill>
          </a:ln>
          <a:effectLst/>
        </p:spPr>
        <p:style>
          <a:lnRef idx="1">
            <a:schemeClr val="accent1"/>
          </a:lnRef>
          <a:fillRef idx="3">
            <a:schemeClr val="accent1"/>
          </a:fillRef>
          <a:effectRef idx="2">
            <a:schemeClr val="accent1"/>
          </a:effectRef>
          <a:fontRef idx="minor">
            <a:schemeClr val="lt1"/>
          </a:fontRef>
        </p:style>
        <p:txBody>
          <a:bodyPr rtlCol="0" anchor="t" wrap="square" lIns="150327" rIns="150327" tIns="100218"/>
          <a:lstStyle/>
          <a:p>
            <a:pPr algn="ctr"/>
            <a:r>
              <a:rPr b="1" sz="2300">
                <a:solidFill>
                  <a:srgbClr val="14342B"/>
                </a:solidFill>
                <a:latin typeface="Calibri"/>
              </a:rPr>
              <a:t>Prototype cost (approx., confirm with bills)</a:t>
            </a:r>
          </a:p>
          <a:p>
            <a:pPr>
              <a:spcBef>
                <a:spcPts val="300"/>
              </a:spcBef>
            </a:pPr>
            <a:r>
              <a:rPr sz="2000">
                <a:solidFill>
                  <a:srgbClr val="1B2A22"/>
                </a:solidFill>
                <a:latin typeface="Calibri"/>
              </a:rPr>
              <a:t>•  NodeMCU ESP8266  Rs 400;  ESP32  Rs 550</a:t>
            </a:r>
          </a:p>
          <a:p>
            <a:pPr>
              <a:spcBef>
                <a:spcPts val="300"/>
              </a:spcBef>
            </a:pPr>
            <a:r>
              <a:rPr sz="2000">
                <a:solidFill>
                  <a:srgbClr val="1B2A22"/>
                </a:solidFill>
                <a:latin typeface="Calibri"/>
              </a:rPr>
              <a:t>•  DHT11  Rs 100;  soil sensor  Rs 80;  rain sensor  Rs 80</a:t>
            </a:r>
          </a:p>
          <a:p>
            <a:pPr>
              <a:spcBef>
                <a:spcPts val="300"/>
              </a:spcBef>
            </a:pPr>
            <a:r>
              <a:rPr sz="2000">
                <a:solidFill>
                  <a:srgbClr val="1B2A22"/>
                </a:solidFill>
                <a:latin typeface="Calibri"/>
              </a:rPr>
              <a:t>•  Wires, breadboard, USB cable  Rs 200</a:t>
            </a:r>
          </a:p>
          <a:p>
            <a:pPr>
              <a:spcBef>
                <a:spcPts val="300"/>
              </a:spcBef>
            </a:pPr>
            <a:r>
              <a:rPr sz="2000">
                <a:solidFill>
                  <a:srgbClr val="1B2A22"/>
                </a:solidFill>
                <a:latin typeface="Calibri"/>
              </a:rPr>
              <a:t>•  Total about Rs 1,400. MATLAB: college licence</a:t>
            </a:r>
          </a:p>
        </p:txBody>
      </p:sp>
      <p:sp>
        <p:nvSpPr>
          <p:cNvPr id="8" name="Rounded Rectangle 7"/>
          <p:cNvSpPr/>
          <p:nvPr/>
        </p:nvSpPr>
        <p:spPr>
          <a:xfrm>
            <a:off x="8455914" y="5073548"/>
            <a:ext cx="7516368" cy="2943910"/>
          </a:xfrm>
          <a:prstGeom prst="roundRect">
            <a:avLst>
              <a:gd name="adj" fmla="val 4000"/>
            </a:avLst>
          </a:prstGeom>
          <a:solidFill>
            <a:srgbClr val="FFFFFF"/>
          </a:solidFill>
          <a:ln>
            <a:solidFill>
              <a:srgbClr val="4E9A2E"/>
            </a:solidFill>
          </a:ln>
          <a:effectLst/>
        </p:spPr>
        <p:style>
          <a:lnRef idx="1">
            <a:schemeClr val="accent1"/>
          </a:lnRef>
          <a:fillRef idx="3">
            <a:schemeClr val="accent1"/>
          </a:fillRef>
          <a:effectRef idx="2">
            <a:schemeClr val="accent1"/>
          </a:effectRef>
          <a:fontRef idx="minor">
            <a:schemeClr val="lt1"/>
          </a:fontRef>
        </p:style>
        <p:txBody>
          <a:bodyPr rtlCol="0" anchor="t" wrap="square" lIns="150327" rIns="150327" tIns="100218"/>
          <a:lstStyle/>
          <a:p>
            <a:pPr algn="ctr"/>
            <a:r>
              <a:rPr b="1" sz="2300">
                <a:solidFill>
                  <a:srgbClr val="14342B"/>
                </a:solidFill>
                <a:latin typeface="Calibri"/>
              </a:rPr>
              <a:t>Plan: Review 0 to 5</a:t>
            </a:r>
          </a:p>
          <a:p>
            <a:pPr>
              <a:spcBef>
                <a:spcPts val="300"/>
              </a:spcBef>
            </a:pPr>
            <a:r>
              <a:rPr sz="2000">
                <a:solidFill>
                  <a:srgbClr val="1B2A22"/>
                </a:solidFill>
                <a:latin typeface="Calibri"/>
              </a:rPr>
              <a:t>•  Review 0 (now): sensors + MATLAB decision demo</a:t>
            </a:r>
          </a:p>
          <a:p>
            <a:pPr>
              <a:spcBef>
                <a:spcPts val="300"/>
              </a:spcBef>
            </a:pPr>
            <a:r>
              <a:rPr sz="2000">
                <a:solidFill>
                  <a:srgbClr val="1B2A22"/>
                </a:solidFill>
                <a:latin typeface="Calibri"/>
              </a:rPr>
              <a:t>•  Review 1: design and CAD   |   Review 2: solar and shadow</a:t>
            </a:r>
          </a:p>
          <a:p>
            <a:pPr>
              <a:spcBef>
                <a:spcPts val="300"/>
              </a:spcBef>
            </a:pPr>
            <a:r>
              <a:rPr sz="2000">
                <a:solidFill>
                  <a:srgbClr val="1B2A22"/>
                </a:solidFill>
                <a:latin typeface="Calibri"/>
              </a:rPr>
              <a:t>•  Review 3: digital twin   |   Review 4: control and simulation</a:t>
            </a:r>
          </a:p>
          <a:p>
            <a:pPr>
              <a:spcBef>
                <a:spcPts val="300"/>
              </a:spcBef>
            </a:pPr>
            <a:r>
              <a:rPr sz="2000">
                <a:solidFill>
                  <a:srgbClr val="1B2A22"/>
                </a:solidFill>
                <a:latin typeface="Calibri"/>
              </a:rPr>
              <a:t>•  Review 5: economics and final report</a:t>
            </a:r>
          </a:p>
        </p:txBody>
      </p:sp>
      <p:sp>
        <p:nvSpPr>
          <p:cNvPr id="9" name="Rounded Rectangle 8"/>
          <p:cNvSpPr/>
          <p:nvPr/>
        </p:nvSpPr>
        <p:spPr>
          <a:xfrm>
            <a:off x="751636" y="8142732"/>
            <a:ext cx="15220645" cy="1190091"/>
          </a:xfrm>
          <a:prstGeom prst="roundRect">
            <a:avLst>
              <a:gd name="adj" fmla="val 4000"/>
            </a:avLst>
          </a:prstGeom>
          <a:solidFill>
            <a:srgbClr val="E6EEE0"/>
          </a:solidFill>
          <a:ln>
            <a:solidFill>
              <a:srgbClr val="4E9A2E"/>
            </a:solidFill>
          </a:ln>
          <a:effectLst/>
        </p:spPr>
        <p:style>
          <a:lnRef idx="1">
            <a:schemeClr val="accent1"/>
          </a:lnRef>
          <a:fillRef idx="3">
            <a:schemeClr val="accent1"/>
          </a:fillRef>
          <a:effectRef idx="2">
            <a:schemeClr val="accent1"/>
          </a:effectRef>
          <a:fontRef idx="minor">
            <a:schemeClr val="lt1"/>
          </a:fontRef>
        </p:style>
        <p:txBody>
          <a:bodyPr rtlCol="0" anchor="t" wrap="square" lIns="150327" rIns="150327" tIns="100218"/>
          <a:lstStyle/>
          <a:p>
            <a:pPr algn="ctr"/>
            <a:r>
              <a:rPr b="1" sz="2200">
                <a:solidFill>
                  <a:srgbClr val="14342B"/>
                </a:solidFill>
                <a:latin typeface="Calibri"/>
              </a:rPr>
              <a:t>Q&amp;A ready: can we trust the simulated sensors?</a:t>
            </a:r>
          </a:p>
          <a:p>
            <a:pPr>
              <a:spcBef>
                <a:spcPts val="300"/>
              </a:spcBef>
            </a:pPr>
            <a:r>
              <a:rPr sz="1900">
                <a:solidFill>
                  <a:srgbClr val="1B2A22"/>
                </a:solidFill>
                <a:latin typeface="Calibri"/>
              </a:rPr>
              <a:t>•  Equations checked vs PVGIS (+5.0 %) and Blender; a 5 % sensor error costs 2.5 % electricity (slide 7).</a:t>
            </a:r>
          </a:p>
        </p:txBody>
      </p:sp>
      <p:grpSp>
        <p:nvGrpSpPr>
          <p:cNvPr name="Group 2" id="2"/>
          <p:cNvGrpSpPr/>
          <p:nvPr/>
        </p:nvGrpSpPr>
        <p:grpSpPr>
          <a:xfrm rot="0">
            <a:off x="2286000" y="9601200"/>
            <a:ext cx="13716000" cy="685800"/>
            <a:chOff x="0" y="0"/>
            <a:chExt cx="13004800" cy="650240"/>
          </a:xfrm>
        </p:grpSpPr>
        <p:sp>
          <p:nvSpPr>
            <p:cNvPr name="Freeform 3" id="3"/>
            <p:cNvSpPr/>
            <p:nvPr/>
          </p:nvSpPr>
          <p:spPr>
            <a:xfrm flipH="false" flipV="false" rot="0">
              <a:off x="0" y="0"/>
              <a:ext cx="13004800" cy="650240"/>
            </a:xfrm>
            <a:custGeom>
              <a:avLst/>
              <a:gdLst/>
              <a:ahLst/>
              <a:cxnLst/>
              <a:rect r="r" b="b" t="t" l="l"/>
              <a:pathLst>
                <a:path h="650240" w="13004800">
                  <a:moveTo>
                    <a:pt x="0" y="0"/>
                  </a:moveTo>
                  <a:lnTo>
                    <a:pt x="13004800" y="0"/>
                  </a:lnTo>
                  <a:lnTo>
                    <a:pt x="13004800" y="650240"/>
                  </a:lnTo>
                  <a:lnTo>
                    <a:pt x="0" y="650240"/>
                  </a:lnTo>
                  <a:close/>
                </a:path>
              </a:pathLst>
            </a:custGeom>
            <a:solidFill>
              <a:srgbClr val="BD582C"/>
            </a:solidFill>
          </p:spPr>
        </p:sp>
      </p:grpSp>
      <p:grpSp>
        <p:nvGrpSpPr>
          <p:cNvPr name="Group 4" id="4"/>
          <p:cNvGrpSpPr/>
          <p:nvPr/>
        </p:nvGrpSpPr>
        <p:grpSpPr>
          <a:xfrm rot="0">
            <a:off x="2286000" y="9501478"/>
            <a:ext cx="13716000" cy="98986"/>
            <a:chOff x="0" y="0"/>
            <a:chExt cx="13004800" cy="93853"/>
          </a:xfrm>
        </p:grpSpPr>
        <p:sp>
          <p:nvSpPr>
            <p:cNvPr name="Freeform 5" id="5"/>
            <p:cNvSpPr/>
            <p:nvPr/>
          </p:nvSpPr>
          <p:spPr>
            <a:xfrm flipH="false" flipV="false" rot="0">
              <a:off x="0" y="0"/>
              <a:ext cx="13004800" cy="93853"/>
            </a:xfrm>
            <a:custGeom>
              <a:avLst/>
              <a:gdLst/>
              <a:ahLst/>
              <a:cxnLst/>
              <a:rect r="r" b="b" t="t" l="l"/>
              <a:pathLst>
                <a:path h="93853" w="13004800">
                  <a:moveTo>
                    <a:pt x="0" y="0"/>
                  </a:moveTo>
                  <a:lnTo>
                    <a:pt x="13004800" y="0"/>
                  </a:lnTo>
                  <a:lnTo>
                    <a:pt x="13004800" y="93853"/>
                  </a:lnTo>
                  <a:lnTo>
                    <a:pt x="0" y="93853"/>
                  </a:lnTo>
                  <a:close/>
                </a:path>
              </a:pathLst>
            </a:custGeom>
            <a:solidFill>
              <a:srgbClr val="E48312"/>
            </a:solidFill>
          </p:spPr>
        </p:sp>
      </p:grpSp>
      <p:grpSp>
        <p:nvGrpSpPr>
          <p:cNvPr name="Group 7" id="7"/>
          <p:cNvGrpSpPr/>
          <p:nvPr/>
        </p:nvGrpSpPr>
        <p:grpSpPr>
          <a:xfrm rot="0">
            <a:off x="2289576" y="9601200"/>
            <a:ext cx="13712383" cy="685800"/>
            <a:chOff x="0" y="0"/>
            <a:chExt cx="13001371" cy="650240"/>
          </a:xfrm>
        </p:grpSpPr>
        <p:sp>
          <p:nvSpPr>
            <p:cNvPr name="Freeform 8" id="8"/>
            <p:cNvSpPr/>
            <p:nvPr/>
          </p:nvSpPr>
          <p:spPr>
            <a:xfrm flipH="false" flipV="false" rot="0">
              <a:off x="0" y="0"/>
              <a:ext cx="13001371" cy="650240"/>
            </a:xfrm>
            <a:custGeom>
              <a:avLst/>
              <a:gdLst/>
              <a:ahLst/>
              <a:cxnLst/>
              <a:rect r="r" b="b" t="t" l="l"/>
              <a:pathLst>
                <a:path h="650240" w="13001371">
                  <a:moveTo>
                    <a:pt x="0" y="0"/>
                  </a:moveTo>
                  <a:lnTo>
                    <a:pt x="13001371" y="0"/>
                  </a:lnTo>
                  <a:lnTo>
                    <a:pt x="13001371" y="650240"/>
                  </a:lnTo>
                  <a:lnTo>
                    <a:pt x="0" y="650240"/>
                  </a:lnTo>
                  <a:close/>
                </a:path>
              </a:pathLst>
            </a:custGeom>
            <a:solidFill>
              <a:srgbClr val="BD582C"/>
            </a:solidFill>
          </p:spPr>
        </p:sp>
      </p:grpSp>
      <p:grpSp>
        <p:nvGrpSpPr>
          <p:cNvPr name="Group 9" id="9"/>
          <p:cNvGrpSpPr/>
          <p:nvPr/>
        </p:nvGrpSpPr>
        <p:grpSpPr>
          <a:xfrm rot="0">
            <a:off x="2286013" y="9501478"/>
            <a:ext cx="13712383" cy="96039"/>
            <a:chOff x="0" y="0"/>
            <a:chExt cx="13001371" cy="91059"/>
          </a:xfrm>
        </p:grpSpPr>
        <p:sp>
          <p:nvSpPr>
            <p:cNvPr name="Freeform 10" id="10"/>
            <p:cNvSpPr/>
            <p:nvPr/>
          </p:nvSpPr>
          <p:spPr>
            <a:xfrm flipH="false" flipV="false" rot="0">
              <a:off x="0" y="0"/>
              <a:ext cx="13001371" cy="91059"/>
            </a:xfrm>
            <a:custGeom>
              <a:avLst/>
              <a:gdLst/>
              <a:ahLst/>
              <a:cxnLst/>
              <a:rect r="r" b="b" t="t" l="l"/>
              <a:pathLst>
                <a:path h="91059" w="13001371">
                  <a:moveTo>
                    <a:pt x="0" y="0"/>
                  </a:moveTo>
                  <a:lnTo>
                    <a:pt x="13001371" y="0"/>
                  </a:lnTo>
                  <a:lnTo>
                    <a:pt x="13001371" y="91059"/>
                  </a:lnTo>
                  <a:lnTo>
                    <a:pt x="0" y="91059"/>
                  </a:lnTo>
                  <a:close/>
                </a:path>
              </a:pathLst>
            </a:custGeom>
            <a:solidFill>
              <a:srgbClr val="E48312"/>
            </a:solidFill>
          </p:spPr>
        </p:sp>
      </p:grpSp>
      <p:grpSp>
        <p:nvGrpSpPr>
          <p:cNvPr name="Group 17" id="17"/>
          <p:cNvGrpSpPr/>
          <p:nvPr/>
        </p:nvGrpSpPr>
        <p:grpSpPr>
          <a:xfrm rot="0">
            <a:off x="6432960" y="9689684"/>
            <a:ext cx="5425656" cy="547689"/>
            <a:chOff x="0" y="0"/>
            <a:chExt cx="5144326" cy="519290"/>
          </a:xfrm>
        </p:grpSpPr>
        <p:sp>
          <p:nvSpPr>
            <p:cNvPr name="Freeform 18" id="18"/>
            <p:cNvSpPr/>
            <p:nvPr/>
          </p:nvSpPr>
          <p:spPr>
            <a:xfrm flipH="false" flipV="false" rot="0">
              <a:off x="0" y="0"/>
              <a:ext cx="5144262" cy="519303"/>
            </a:xfrm>
            <a:custGeom>
              <a:avLst/>
              <a:gdLst/>
              <a:ahLst/>
              <a:cxnLst/>
              <a:rect r="r" b="b" t="t" l="l"/>
              <a:pathLst>
                <a:path h="519303" w="5144262">
                  <a:moveTo>
                    <a:pt x="0" y="0"/>
                  </a:moveTo>
                  <a:lnTo>
                    <a:pt x="5144262" y="0"/>
                  </a:lnTo>
                  <a:lnTo>
                    <a:pt x="5144262" y="519303"/>
                  </a:lnTo>
                  <a:lnTo>
                    <a:pt x="0" y="519303"/>
                  </a:lnTo>
                  <a:close/>
                </a:path>
              </a:pathLst>
            </a:custGeom>
            <a:blipFill>
              <a:blip r:embed="rId3">
                <a:alphaModFix amt="0"/>
              </a:blip>
              <a:stretch>
                <a:fillRect l="0" t="-142890" r="-1" b="-142885"/>
              </a:stretch>
            </a:blipFill>
          </p:spPr>
        </p:sp>
      </p:grpSp>
      <p:grpSp>
        <p:nvGrpSpPr>
          <p:cNvPr name="Group 19" id="19"/>
          <p:cNvGrpSpPr/>
          <p:nvPr/>
        </p:nvGrpSpPr>
        <p:grpSpPr>
          <a:xfrm rot="0">
            <a:off x="6432960" y="9669592"/>
            <a:ext cx="5425656" cy="567781"/>
            <a:chOff x="0" y="0"/>
            <a:chExt cx="5144326" cy="538341"/>
          </a:xfrm>
        </p:grpSpPr>
        <p:sp>
          <p:nvSpPr>
            <p:cNvPr name="Freeform 20" id="20"/>
            <p:cNvSpPr/>
            <p:nvPr/>
          </p:nvSpPr>
          <p:spPr>
            <a:xfrm flipH="false" flipV="false" rot="0">
              <a:off x="0" y="0"/>
              <a:ext cx="5144326" cy="538341"/>
            </a:xfrm>
            <a:custGeom>
              <a:avLst/>
              <a:gdLst/>
              <a:ahLst/>
              <a:cxnLst/>
              <a:rect r="r" b="b" t="t" l="l"/>
              <a:pathLst>
                <a:path h="538341" w="5144326">
                  <a:moveTo>
                    <a:pt x="0" y="0"/>
                  </a:moveTo>
                  <a:lnTo>
                    <a:pt x="5144326" y="0"/>
                  </a:lnTo>
                  <a:lnTo>
                    <a:pt x="5144326" y="538341"/>
                  </a:lnTo>
                  <a:lnTo>
                    <a:pt x="0" y="538341"/>
                  </a:lnTo>
                  <a:close/>
                </a:path>
              </a:pathLst>
            </a:custGeom>
            <a:blipFill>
              <a:blip r:embed="rId4">
                <a:alphaModFix amt="0"/>
              </a:blip>
              <a:stretch>
                <a:fillRect l="0" t="-136196" r="0" b="-136196"/>
              </a:stretch>
            </a:blipFill>
          </p:spPr>
        </p:sp>
        <p:sp>
          <p:nvSpPr>
            <p:cNvPr name="TextBox 21" id="21"/>
            <p:cNvSpPr txBox="true"/>
            <p:nvPr/>
          </p:nvSpPr>
          <p:spPr>
            <a:xfrm>
              <a:off x="0" y="-28575"/>
              <a:ext cx="5144326" cy="566916"/>
            </a:xfrm>
            <a:prstGeom prst="rect">
              <a:avLst/>
            </a:prstGeom>
          </p:spPr>
          <p:txBody>
            <a:bodyPr anchor="ctr" rtlCol="false" tIns="0" lIns="0" bIns="0" rIns="0"/>
            <a:lstStyle/>
            <a:p>
              <a:pPr algn="ctr">
                <a:lnSpc>
                  <a:spcPts val="1620"/>
                </a:lnSpc>
              </a:pPr>
              <a:r>
                <a:rPr lang="en-US" sz="1350">
                  <a:solidFill>
                    <a:srgbClr val="FFFFFF"/>
                  </a:solidFill>
                  <a:latin typeface="Calibri (MS)"/>
                  <a:ea typeface="Calibri (MS)"/>
                  <a:cs typeface="Calibri (MS)"/>
                  <a:sym typeface="Calibri (MS)"/>
                </a:rPr>
                <a:t>TCE - EEE - 22EE690 - Project </a:t>
              </a:r>
            </a:p>
          </p:txBody>
        </p:sp>
      </p:grpSp>
      <p:grpSp>
        <p:nvGrpSpPr>
          <p:cNvPr name="Group 22" id="22"/>
          <p:cNvGrpSpPr/>
          <p:nvPr/>
        </p:nvGrpSpPr>
        <p:grpSpPr>
          <a:xfrm rot="0">
            <a:off x="13424022" y="9689684"/>
            <a:ext cx="1476024" cy="547689"/>
            <a:chOff x="0" y="0"/>
            <a:chExt cx="1399489" cy="519290"/>
          </a:xfrm>
        </p:grpSpPr>
        <p:sp>
          <p:nvSpPr>
            <p:cNvPr name="Freeform 23" id="23"/>
            <p:cNvSpPr/>
            <p:nvPr/>
          </p:nvSpPr>
          <p:spPr>
            <a:xfrm flipH="false" flipV="false" rot="0">
              <a:off x="0" y="0"/>
              <a:ext cx="1399540" cy="519303"/>
            </a:xfrm>
            <a:custGeom>
              <a:avLst/>
              <a:gdLst/>
              <a:ahLst/>
              <a:cxnLst/>
              <a:rect r="r" b="b" t="t" l="l"/>
              <a:pathLst>
                <a:path h="519303" w="1399540">
                  <a:moveTo>
                    <a:pt x="0" y="0"/>
                  </a:moveTo>
                  <a:lnTo>
                    <a:pt x="1399540" y="0"/>
                  </a:lnTo>
                  <a:lnTo>
                    <a:pt x="1399540" y="519303"/>
                  </a:lnTo>
                  <a:lnTo>
                    <a:pt x="0" y="519303"/>
                  </a:lnTo>
                  <a:close/>
                </a:path>
              </a:pathLst>
            </a:custGeom>
            <a:blipFill>
              <a:blip r:embed="rId3">
                <a:alphaModFix amt="0"/>
              </a:blip>
              <a:stretch>
                <a:fillRect l="0" t="-2474" r="3" b="-2474"/>
              </a:stretch>
            </a:blipFill>
          </p:spPr>
        </p:sp>
      </p:grpSp>
      <p:grpSp>
        <p:nvGrpSpPr>
          <p:cNvPr name="Group 24" id="24"/>
          <p:cNvGrpSpPr/>
          <p:nvPr/>
        </p:nvGrpSpPr>
        <p:grpSpPr>
          <a:xfrm rot="0">
            <a:off x="13424022" y="9659547"/>
            <a:ext cx="1476024" cy="577827"/>
            <a:chOff x="0" y="0"/>
            <a:chExt cx="1399489" cy="547865"/>
          </a:xfrm>
        </p:grpSpPr>
        <p:sp>
          <p:nvSpPr>
            <p:cNvPr name="Freeform 25" id="25"/>
            <p:cNvSpPr/>
            <p:nvPr/>
          </p:nvSpPr>
          <p:spPr>
            <a:xfrm flipH="false" flipV="false" rot="0">
              <a:off x="0" y="0"/>
              <a:ext cx="1399489" cy="547866"/>
            </a:xfrm>
            <a:custGeom>
              <a:avLst/>
              <a:gdLst/>
              <a:ahLst/>
              <a:cxnLst/>
              <a:rect r="r" b="b" t="t" l="l"/>
              <a:pathLst>
                <a:path h="547866" w="1399489">
                  <a:moveTo>
                    <a:pt x="0" y="0"/>
                  </a:moveTo>
                  <a:lnTo>
                    <a:pt x="1399489" y="0"/>
                  </a:lnTo>
                  <a:lnTo>
                    <a:pt x="1399489" y="547866"/>
                  </a:lnTo>
                  <a:lnTo>
                    <a:pt x="0" y="547866"/>
                  </a:lnTo>
                  <a:close/>
                </a:path>
              </a:pathLst>
            </a:custGeom>
            <a:blipFill>
              <a:blip r:embed="rId4">
                <a:alphaModFix amt="0"/>
              </a:blip>
              <a:stretch>
                <a:fillRect l="-227" t="0" r="-227" b="0"/>
              </a:stretch>
            </a:blipFill>
          </p:spPr>
        </p:sp>
        <p:sp>
          <p:nvSpPr>
            <p:cNvPr name="TextBox 26" id="26"/>
            <p:cNvSpPr txBox="true"/>
            <p:nvPr/>
          </p:nvSpPr>
          <p:spPr>
            <a:xfrm>
              <a:off x="0" y="-19050"/>
              <a:ext cx="1399489" cy="566915"/>
            </a:xfrm>
            <a:prstGeom prst="rect">
              <a:avLst/>
            </a:prstGeom>
          </p:spPr>
          <p:txBody>
            <a:bodyPr anchor="ctr" rtlCol="false" tIns="0" lIns="0" bIns="0" rIns="0"/>
            <a:lstStyle/>
            <a:p>
              <a:pPr algn="r">
                <a:lnSpc>
                  <a:spcPts val="1889"/>
                </a:lnSpc>
              </a:pPr>
              <a:r>
                <a:rPr lang="en-US" sz="1575">
                  <a:solidFill>
                    <a:srgbClr val="FFFFFF"/>
                  </a:solidFill>
                  <a:latin typeface="Calibri (MS)"/>
                  <a:ea typeface="Calibri (MS)"/>
                  <a:cs typeface="Calibri (MS)"/>
                  <a:sym typeface="Calibri (MS)"/>
                </a:rPr>
                <a:t>8</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DAHYGTPkqQQ</dc:identifier>
  <dcterms:modified xsi:type="dcterms:W3CDTF">2011-08-01T06:04:30Z</dcterms:modified>
  <cp:revision>1</cp:revision>
  <dc:title>Review0_7slides.pptx</dc:title>
</cp:coreProperties>
</file>