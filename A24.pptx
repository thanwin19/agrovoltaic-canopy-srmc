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1" r:id="rId11"/>
    <p:sldId id="260" r:id="rId10"/>
    <p:sldId id="262" r:id="rId12"/>
    <p:sldId id="264" r:id="rId28"/>
    <p:sldId id="265" r:id="rId29"/>
    <p:sldId id="266" r:id="rId30"/>
    <p:sldId id="267" r:id="rId31"/>
    <p:sldId id="263" r:id="rId13"/>
  </p:sldIdLst>
  <p:sldSz cx="18288000" cy="10287000"/>
  <p:notesSz cx="6858000" cy="9144000"/>
  <p:embeddedFontLst>
    <p:embeddedFont>
      <p:font typeface="Times New Roman Bold" charset="1" panose="02020803070505020304"/>
      <p:regular r:id="rId17"/>
    </p:embeddedFont>
    <p:embeddedFont>
      <p:font typeface="Calibri (MS)" charset="1" panose="020F0502020204030204"/>
      <p:regular r:id="rId18"/>
    </p:embeddedFont>
    <p:embeddedFont>
      <p:font typeface="Times New Roman" charset="1" panose="02020603050405020304"/>
      <p:regular r:id="rId19"/>
    </p:embeddedFont>
    <p:embeddedFont>
      <p:font typeface="Cambria Bold" charset="1" panose="02040803050406030204"/>
      <p:regular r:id="rId21"/>
    </p:embeddedFont>
    <p:embeddedFont>
      <p:font typeface="Calibri (MS) Bold" charset="1" panose="020F070203040403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notesMaster" Target="notesMasters/notesMaster1.xml"/><Relationship Id="rId15" Type="http://schemas.openxmlformats.org/officeDocument/2006/relationships/theme" Target="theme/theme2.xml"/><Relationship Id="rId16" Type="http://schemas.openxmlformats.org/officeDocument/2006/relationships/notesSlide" Target="notesSlides/notesSlide1.xml"/><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notesSlide" Target="notesSlides/notesSlide2.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notesSlide" Target="notesSlides/notesSlide3.xml"/><Relationship Id="rId24" Type="http://schemas.openxmlformats.org/officeDocument/2006/relationships/notesSlide" Target="notesSlides/notesSlide4.xml"/><Relationship Id="rId25" Type="http://schemas.openxmlformats.org/officeDocument/2006/relationships/notesSlide" Target="notesSlides/notesSlide5.xml"/><Relationship Id="rId26" Type="http://schemas.openxmlformats.org/officeDocument/2006/relationships/notesSlide" Target="notesSlides/notesSlide6.xml"/><Relationship Id="rId27" Type="http://schemas.openxmlformats.org/officeDocument/2006/relationships/notesSlide" Target="notesSlides/notesSlide7.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Say in one sentence: the panels should make electricity AND let the crops below get enough light, so the tilt angle is decided every few seconds from sensor data. Be clear about REAL and SIM: DHT11, soil moisture and rain are real sensors on the prototype; sunlight (pyranometer) and plant light (PAR) are simulated and can be moved with scroll bars.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the five steps left to right. Then the table: green REAL rows are measured, orange SIM rows are simulated. The sun model uses the standard solar-position equations (Duffie and Beckman) with the monthly clearness index of TCE from NASA POWER; diffuse split by the Erbs correlation. The PAR conversion is a standard textbook value. The last line is for the live numbers read from the board on the day.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Answer to "can we trust the simulated sensors?": they are not measurements, they are controllable inputs built on standard equations. What we CAN prove: (1) the equations match the PVGIS service within +5.0 % per year; (2) we measured what a wrong reading costs: on a clear day a 5 % error loses 2.5 % of the electricity on average, a 10 % error 5.1 % (worst single half-hour 35 %); (3) the dashboard flags inconsistent sunlight/PAR readings; (4) real sensors plug in without changing the code. Numbers: results/sensor_trust_study.csv.</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Graph 1 is the heart of the system. The controller evaluates electricity (amber) and crop light (green) for each angle, joins them into one score (blue) and takes the highest point. The black circle is the best angle found by trying every 0.5 degrees; the red star is what the controller chose. The shadow and electricity values come from the physics functions that were checked against PVGIS and Blender.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Read the chart as: there is a trade-off. Pure tracking maximises electricity but starves the crops (27 % of the light target). The controller gives up about a quarter of the maximum electricity to give the crops about 89 % of their light, and it beats a fixed 45 degree panel on both. The 50/50 weight is adjustable in the dashboard (energy share scroll bar). The equal-weight average favours the controller by construction, so the weight must be chosen by the farmer or operator.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MPPT is the electronics that makes sure the panel works at its maximum power point. Our main energy numbers already assume the panel works there; this slide shows how the tracker achieves it and how much it is worth compared with a fixed voltage. Be honest: this is a software model of a typical module; the hardware converter is future work.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proof slide. Letters A to F match the labelled badges on the Explain window of the dashboard, so you can point to them live. Row D has blanks to fill with the bench numbers measured on the day. Close with the honest limits.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e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8.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sp>
        <p:nvSpPr>
          <p:cNvPr name="AutoShape 6" id="6"/>
          <p:cNvSpPr/>
          <p:nvPr/>
        </p:nvSpPr>
        <p:spPr>
          <a:xfrm rot="7020">
            <a:off x="3633155" y="2015381"/>
            <a:ext cx="11235761" cy="0"/>
          </a:xfrm>
          <a:prstGeom prst="line">
            <a:avLst/>
          </a:prstGeom>
          <a:ln cap="rnd" w="9525">
            <a:solidFill>
              <a:srgbClr val="000000"/>
            </a:solidFill>
            <a:prstDash val="solid"/>
            <a:headEnd type="none" len="sm" w="sm"/>
            <a:tailEnd type="none" len="sm" w="sm"/>
          </a:ln>
        </p:spPr>
      </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sp>
        <p:nvSpPr>
          <p:cNvPr name="AutoShape 11" id="11"/>
          <p:cNvSpPr/>
          <p:nvPr/>
        </p:nvSpPr>
        <p:spPr>
          <a:xfrm rot="4140">
            <a:off x="3633155" y="6501705"/>
            <a:ext cx="11132891" cy="0"/>
          </a:xfrm>
          <a:prstGeom prst="line">
            <a:avLst/>
          </a:prstGeom>
          <a:ln cap="rnd" w="9525">
            <a:solidFill>
              <a:srgbClr val="000000"/>
            </a:solidFill>
            <a:prstDash val="solid"/>
            <a:headEnd type="none" len="sm" w="sm"/>
            <a:tailEnd type="none" len="sm" w="sm"/>
          </a:ln>
        </p:spPr>
      </p:sp>
      <p:grpSp>
        <p:nvGrpSpPr>
          <p:cNvPr name="Group 12" id="12"/>
          <p:cNvGrpSpPr/>
          <p:nvPr/>
        </p:nvGrpSpPr>
        <p:grpSpPr>
          <a:xfrm rot="0">
            <a:off x="2289576" y="2488999"/>
            <a:ext cx="13716000" cy="1835841"/>
            <a:chOff x="0" y="0"/>
            <a:chExt cx="13004800" cy="1740649"/>
          </a:xfrm>
        </p:grpSpPr>
        <p:sp>
          <p:nvSpPr>
            <p:cNvPr name="Freeform 13" id="13"/>
            <p:cNvSpPr/>
            <p:nvPr/>
          </p:nvSpPr>
          <p:spPr>
            <a:xfrm flipH="false" flipV="false" rot="0">
              <a:off x="0" y="0"/>
              <a:ext cx="13004800" cy="1740662"/>
            </a:xfrm>
            <a:custGeom>
              <a:avLst/>
              <a:gdLst/>
              <a:ahLst/>
              <a:cxnLst/>
              <a:rect r="r" b="b" t="t" l="l"/>
              <a:pathLst>
                <a:path h="1740662" w="13004800">
                  <a:moveTo>
                    <a:pt x="0" y="0"/>
                  </a:moveTo>
                  <a:lnTo>
                    <a:pt x="13004800" y="0"/>
                  </a:lnTo>
                  <a:lnTo>
                    <a:pt x="13004800" y="1740662"/>
                  </a:lnTo>
                  <a:lnTo>
                    <a:pt x="0" y="1740662"/>
                  </a:lnTo>
                  <a:close/>
                </a:path>
              </a:pathLst>
            </a:custGeom>
            <a:blipFill>
              <a:blip r:embed="rId3">
                <a:alphaModFix amt="0"/>
              </a:blip>
              <a:stretch>
                <a:fillRect l="0" t="-95475" r="0" b="-95474"/>
              </a:stretch>
            </a:blipFill>
          </p:spPr>
        </p:sp>
      </p:grpSp>
      <p:grpSp>
        <p:nvGrpSpPr>
          <p:cNvPr name="Group 14" id="14"/>
          <p:cNvGrpSpPr/>
          <p:nvPr/>
        </p:nvGrpSpPr>
        <p:grpSpPr>
          <a:xfrm rot="0">
            <a:off x="2289576" y="2529182"/>
            <a:ext cx="13716000" cy="1795650"/>
            <a:chOff x="0" y="0"/>
            <a:chExt cx="13004800" cy="1702543"/>
          </a:xfrm>
        </p:grpSpPr>
        <p:sp>
          <p:nvSpPr>
            <p:cNvPr name="Freeform 15" id="15"/>
            <p:cNvSpPr/>
            <p:nvPr/>
          </p:nvSpPr>
          <p:spPr>
            <a:xfrm flipH="false" flipV="false" rot="0">
              <a:off x="0" y="0"/>
              <a:ext cx="13004800" cy="1702549"/>
            </a:xfrm>
            <a:custGeom>
              <a:avLst/>
              <a:gdLst/>
              <a:ahLst/>
              <a:cxnLst/>
              <a:rect r="r" b="b" t="t" l="l"/>
              <a:pathLst>
                <a:path h="1702549" w="13004800">
                  <a:moveTo>
                    <a:pt x="0" y="0"/>
                  </a:moveTo>
                  <a:lnTo>
                    <a:pt x="13004800" y="0"/>
                  </a:lnTo>
                  <a:lnTo>
                    <a:pt x="13004800" y="1702549"/>
                  </a:lnTo>
                  <a:lnTo>
                    <a:pt x="0" y="1702549"/>
                  </a:lnTo>
                  <a:close/>
                </a:path>
              </a:pathLst>
            </a:custGeom>
            <a:blipFill>
              <a:blip r:embed="rId4">
                <a:alphaModFix amt="0"/>
              </a:blip>
              <a:stretch>
                <a:fillRect l="0" t="-98835" r="0" b="-98834"/>
              </a:stretch>
            </a:blipFill>
          </p:spPr>
        </p:sp>
        <p:sp>
          <p:nvSpPr>
            <p:cNvPr name="TextBox 16" id="16"/>
            <p:cNvSpPr txBox="true"/>
            <p:nvPr/>
          </p:nvSpPr>
          <p:spPr>
            <a:xfrm>
              <a:off x="0" y="57150"/>
              <a:ext cx="13004800" cy="1645393"/>
            </a:xfrm>
            <a:prstGeom prst="rect">
              <a:avLst/>
            </a:prstGeom>
          </p:spPr>
          <p:txBody>
            <a:bodyPr anchor="b" rtlCol="false" tIns="0" lIns="0" bIns="0" rIns="0"/>
            <a:lstStyle/>
            <a:p>
              <a:pPr algn="ctr">
                <a:lnSpc>
                  <a:spcPts val="4895"/>
                </a:lnSpc>
              </a:pPr>
              <a:r>
                <a:rPr lang="en-US" b="true" sz="4799" spc="-74">
                  <a:solidFill>
                    <a:srgbClr val="262626"/>
                  </a:solidFill>
                  <a:latin typeface="Times New Roman Bold"/>
                  <a:ea typeface="Times New Roman Bold"/>
                  <a:cs typeface="Times New Roman Bold"/>
                  <a:sym typeface="Times New Roman Bold"/>
                </a:rPr>
                <a:t>AGROVOLTAIC CANOPY FOR PROTECTION AND SUSTAINABLE FARMING</a:t>
              </a:r>
            </a:p>
          </p:txBody>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1</a:t>
              </a:r>
            </a:p>
          </p:txBody>
        </p:sp>
      </p:grpSp>
      <p:grpSp>
        <p:nvGrpSpPr>
          <p:cNvPr name="Group 27" id="27"/>
          <p:cNvGrpSpPr/>
          <p:nvPr/>
        </p:nvGrpSpPr>
        <p:grpSpPr>
          <a:xfrm rot="0">
            <a:off x="8257737" y="0"/>
            <a:ext cx="1669494" cy="1561534"/>
            <a:chOff x="0" y="0"/>
            <a:chExt cx="1582928" cy="1480566"/>
          </a:xfrm>
        </p:grpSpPr>
        <p:sp>
          <p:nvSpPr>
            <p:cNvPr name="Freeform 28" id="28"/>
            <p:cNvSpPr/>
            <p:nvPr/>
          </p:nvSpPr>
          <p:spPr>
            <a:xfrm flipH="false" flipV="false" rot="0">
              <a:off x="0" y="0"/>
              <a:ext cx="1582928" cy="1480566"/>
            </a:xfrm>
            <a:custGeom>
              <a:avLst/>
              <a:gdLst/>
              <a:ahLst/>
              <a:cxnLst/>
              <a:rect r="r" b="b" t="t" l="l"/>
              <a:pathLst>
                <a:path h="1480566" w="1582928">
                  <a:moveTo>
                    <a:pt x="0" y="0"/>
                  </a:moveTo>
                  <a:lnTo>
                    <a:pt x="1582928" y="0"/>
                  </a:lnTo>
                  <a:lnTo>
                    <a:pt x="1582928" y="1480566"/>
                  </a:lnTo>
                  <a:lnTo>
                    <a:pt x="0" y="1480566"/>
                  </a:lnTo>
                  <a:lnTo>
                    <a:pt x="0" y="0"/>
                  </a:lnTo>
                  <a:close/>
                </a:path>
              </a:pathLst>
            </a:custGeom>
            <a:blipFill>
              <a:blip r:embed="rId5"/>
              <a:stretch>
                <a:fillRect l="-150" t="0" r="-151" b="0"/>
              </a:stretch>
            </a:blipFill>
          </p:spPr>
        </p:sp>
      </p:grpSp>
      <p:sp>
        <p:nvSpPr>
          <p:cNvPr name="TextBox 29" id="29"/>
          <p:cNvSpPr txBox="true"/>
          <p:nvPr/>
        </p:nvSpPr>
        <p:spPr>
          <a:xfrm rot="0">
            <a:off x="2670302" y="6831181"/>
            <a:ext cx="7782491" cy="2591081"/>
          </a:xfrm>
          <a:prstGeom prst="rect">
            <a:avLst/>
          </a:prstGeom>
        </p:spPr>
        <p:txBody>
          <a:bodyPr anchor="t" rtlCol="false" tIns="0" lIns="0" bIns="0" rIns="0">
            <a:spAutoFit/>
          </a:bodyPr>
          <a:lstStyle/>
          <a:p>
            <a:pPr algn="l">
              <a:lnSpc>
                <a:spcPts val="2930"/>
              </a:lnSpc>
            </a:pPr>
            <a:r>
              <a:rPr lang="en-US" sz="2442" b="true">
                <a:solidFill>
                  <a:srgbClr val="000000"/>
                </a:solidFill>
                <a:latin typeface="Times New Roman Bold"/>
                <a:ea typeface="Times New Roman Bold"/>
                <a:cs typeface="Times New Roman Bold"/>
                <a:sym typeface="Times New Roman Bold"/>
              </a:rPr>
              <a:t>TEAM :</a:t>
            </a:r>
          </a:p>
          <a:p>
            <a:pPr algn="l">
              <a:lnSpc>
                <a:spcPts val="2930"/>
              </a:lnSpc>
            </a:pPr>
            <a:r>
              <a:rPr lang="en-US" sz="2442" b="true">
                <a:solidFill>
                  <a:srgbClr val="000000"/>
                </a:solidFill>
                <a:latin typeface="Times New Roman Bold"/>
                <a:ea typeface="Times New Roman Bold"/>
                <a:cs typeface="Times New Roman Bold"/>
                <a:sym typeface="Times New Roman Bold"/>
              </a:rPr>
              <a:t>1.THANWIN  S S                     (230391771052118)</a:t>
            </a:r>
          </a:p>
          <a:p>
            <a:pPr algn="l">
              <a:lnSpc>
                <a:spcPts val="2930"/>
              </a:lnSpc>
            </a:pPr>
            <a:r>
              <a:rPr lang="en-US" sz="2442" b="true">
                <a:solidFill>
                  <a:srgbClr val="000000"/>
                </a:solidFill>
                <a:latin typeface="Times New Roman Bold"/>
                <a:ea typeface="Times New Roman Bold"/>
                <a:cs typeface="Times New Roman Bold"/>
                <a:sym typeface="Times New Roman Bold"/>
              </a:rPr>
              <a:t>2.CHANDRU PM                     (2303917710521304)</a:t>
            </a:r>
          </a:p>
          <a:p>
            <a:pPr algn="l">
              <a:lnSpc>
                <a:spcPts val="2930"/>
              </a:lnSpc>
            </a:pPr>
            <a:r>
              <a:rPr lang="en-US" sz="2442" b="true">
                <a:solidFill>
                  <a:srgbClr val="000000"/>
                </a:solidFill>
                <a:latin typeface="Times New Roman Bold"/>
                <a:ea typeface="Times New Roman Bold"/>
                <a:cs typeface="Times New Roman Bold"/>
                <a:sym typeface="Times New Roman Bold"/>
              </a:rPr>
              <a:t>3.KUBERAESHWARAN S    (2303917710521307)</a:t>
            </a:r>
          </a:p>
          <a:p>
            <a:pPr algn="l">
              <a:lnSpc>
                <a:spcPts val="2930"/>
              </a:lnSpc>
            </a:pPr>
            <a:r>
              <a:rPr lang="en-US" sz="2442" b="true">
                <a:solidFill>
                  <a:srgbClr val="000000"/>
                </a:solidFill>
                <a:latin typeface="Times New Roman Bold"/>
                <a:ea typeface="Times New Roman Bold"/>
                <a:cs typeface="Times New Roman Bold"/>
                <a:sym typeface="Times New Roman Bold"/>
              </a:rPr>
              <a:t>4.MUKILAN A                        (2303917710521311)</a:t>
            </a:r>
          </a:p>
          <a:p>
            <a:pPr algn="l">
              <a:lnSpc>
                <a:spcPts val="2930"/>
              </a:lnSpc>
            </a:pPr>
          </a:p>
          <a:p>
            <a:pPr algn="l">
              <a:lnSpc>
                <a:spcPts val="2930"/>
              </a:lnSpc>
            </a:pPr>
          </a:p>
        </p:txBody>
      </p:sp>
      <p:sp>
        <p:nvSpPr>
          <p:cNvPr name="TextBox 30" id="30"/>
          <p:cNvSpPr txBox="true"/>
          <p:nvPr/>
        </p:nvSpPr>
        <p:spPr>
          <a:xfrm rot="0">
            <a:off x="10727595" y="7300124"/>
            <a:ext cx="4416217" cy="822722"/>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DEPARTMENT</a:t>
            </a:r>
            <a:r>
              <a:rPr lang="en-US" sz="2700">
                <a:solidFill>
                  <a:srgbClr val="000000"/>
                </a:solidFill>
                <a:latin typeface="Times New Roman"/>
                <a:ea typeface="Times New Roman"/>
                <a:cs typeface="Times New Roman"/>
                <a:sym typeface="Times New Roman"/>
              </a:rPr>
              <a:t> : EEE</a:t>
            </a:r>
          </a:p>
          <a:p>
            <a:pPr algn="l">
              <a:lnSpc>
                <a:spcPts val="3240"/>
              </a:lnSpc>
            </a:pPr>
            <a:r>
              <a:rPr lang="en-US" sz="2700" b="true">
                <a:solidFill>
                  <a:srgbClr val="000000"/>
                </a:solidFill>
                <a:latin typeface="Times New Roman Bold"/>
                <a:ea typeface="Times New Roman Bold"/>
                <a:cs typeface="Times New Roman Bold"/>
                <a:sym typeface="Times New Roman Bold"/>
              </a:rPr>
              <a:t>DATE</a:t>
            </a:r>
            <a:r>
              <a:rPr lang="en-US" sz="2700">
                <a:solidFill>
                  <a:srgbClr val="000000"/>
                </a:solidFill>
                <a:latin typeface="Times New Roman"/>
                <a:ea typeface="Times New Roman"/>
                <a:cs typeface="Times New Roman"/>
                <a:sym typeface="Times New Roman"/>
              </a:rPr>
              <a:t> : 16/10/2026</a:t>
            </a:r>
          </a:p>
        </p:txBody>
      </p:sp>
      <p:sp>
        <p:nvSpPr>
          <p:cNvPr name="TextBox 31" id="31"/>
          <p:cNvSpPr txBox="true"/>
          <p:nvPr/>
        </p:nvSpPr>
        <p:spPr>
          <a:xfrm rot="0">
            <a:off x="6561548" y="5779175"/>
            <a:ext cx="5267815" cy="447675"/>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GUIDE</a:t>
            </a:r>
            <a:r>
              <a:rPr lang="en-US" sz="2700">
                <a:solidFill>
                  <a:srgbClr val="000000"/>
                </a:solidFill>
                <a:latin typeface="Times New Roman"/>
                <a:ea typeface="Times New Roman"/>
                <a:cs typeface="Times New Roman"/>
                <a:sym typeface="Times New Roman"/>
              </a:rPr>
              <a:t> :DR.M.MEENAKSHI DEVI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Prototype demo: how the system works</a:t>
              </a:r>
            </a:p>
          </p:txBody>
        </p:sp>
      </p:grpSp>
      <p:sp>
        <p:nvSpPr>
          <p:cNvPr name="TextBox 5" id="5"/>
          <p:cNvSpPr txBox="true"/>
          <p:nvPr/>
        </p:nvSpPr>
        <p:spPr>
          <a:xfrm rot="0">
            <a:off x="869328" y="1389459"/>
            <a:ext cx="16517893" cy="559756"/>
          </a:xfrm>
          <a:prstGeom prst="rect">
            <a:avLst/>
          </a:prstGeom>
        </p:spPr>
        <p:txBody>
          <a:bodyPr anchor="t" rtlCol="false" tIns="0" lIns="0" bIns="0" rIns="0">
            <a:spAutoFit/>
          </a:bodyPr>
          <a:lstStyle/>
          <a:p>
            <a:pPr algn="l">
              <a:lnSpc>
                <a:spcPts val="2882"/>
              </a:lnSpc>
            </a:pPr>
            <a:r>
              <a:rPr lang="en-US" sz="2401">
                <a:solidFill>
                  <a:srgbClr val="5B6B62"/>
                </a:solidFill>
                <a:latin typeface="Calibri (MS)"/>
                <a:ea typeface="Calibri (MS)"/>
                <a:cs typeface="Calibri (MS)"/>
                <a:sym typeface="Calibri (MS)"/>
              </a:rPr>
              <a:t>From the sensor to the decision, in five steps</a:t>
            </a:r>
          </a:p>
        </p:txBody>
      </p:sp>
      <p:grpSp>
        <p:nvGrpSpPr>
          <p:cNvPr name="Group 6" id="6"/>
          <p:cNvGrpSpPr/>
          <p:nvPr/>
        </p:nvGrpSpPr>
        <p:grpSpPr>
          <a:xfrm rot="0">
            <a:off x="823608" y="2127647"/>
            <a:ext cx="3157147" cy="1990373"/>
            <a:chOff x="0" y="0"/>
            <a:chExt cx="4209529" cy="2653830"/>
          </a:xfrm>
        </p:grpSpPr>
        <p:sp>
          <p:nvSpPr>
            <p:cNvPr name="Freeform 7" id="7"/>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4E9A2E"/>
            </a:solidFill>
          </p:spPr>
        </p:sp>
      </p:grpSp>
      <p:sp>
        <p:nvSpPr>
          <p:cNvPr name="TextBox 8" id="8"/>
          <p:cNvSpPr txBox="true"/>
          <p:nvPr/>
        </p:nvSpPr>
        <p:spPr>
          <a:xfrm rot="0">
            <a:off x="979141" y="2176081"/>
            <a:ext cx="2859805" cy="541830"/>
          </a:xfrm>
          <a:prstGeom prst="rect">
            <a:avLst/>
          </a:prstGeom>
        </p:spPr>
        <p:txBody>
          <a:bodyPr anchor="t" rtlCol="false" tIns="0" lIns="0" bIns="0" rIns="0">
            <a:spAutoFit/>
          </a:bodyPr>
          <a:lstStyle/>
          <a:p>
            <a:pPr algn="l">
              <a:lnSpc>
                <a:spcPts val="3062"/>
              </a:lnSpc>
            </a:pPr>
            <a:r>
              <a:rPr lang="en-US" sz="2551" b="true">
                <a:solidFill>
                  <a:srgbClr val="FFFFFF"/>
                </a:solidFill>
                <a:latin typeface="Calibri (MS) Bold"/>
                <a:ea typeface="Calibri (MS) Bold"/>
                <a:cs typeface="Calibri (MS) Bold"/>
                <a:sym typeface="Calibri (MS) Bold"/>
              </a:rPr>
              <a:t>1  Sense</a:t>
            </a:r>
          </a:p>
        </p:txBody>
      </p:sp>
      <p:sp>
        <p:nvSpPr>
          <p:cNvPr name="TextBox 9" id="9"/>
          <p:cNvSpPr txBox="true"/>
          <p:nvPr/>
        </p:nvSpPr>
        <p:spPr>
          <a:xfrm rot="0">
            <a:off x="979141" y="2725150"/>
            <a:ext cx="2859805" cy="1365437"/>
          </a:xfrm>
          <a:prstGeom prst="rect">
            <a:avLst/>
          </a:prstGeom>
        </p:spPr>
        <p:txBody>
          <a:bodyPr anchor="t" rtlCol="false" tIns="0" lIns="0" bIns="0" rIns="0">
            <a:spAutoFit/>
          </a:bodyPr>
          <a:lstStyle/>
          <a:p>
            <a:pPr algn="l">
              <a:lnSpc>
                <a:spcPts val="2341"/>
              </a:lnSpc>
            </a:pPr>
            <a:r>
              <a:rPr lang="en-US" sz="1951">
                <a:solidFill>
                  <a:srgbClr val="FFFFFF"/>
                </a:solidFill>
                <a:latin typeface="Calibri (MS)"/>
                <a:ea typeface="Calibri (MS)"/>
                <a:cs typeface="Calibri (MS)"/>
                <a:sym typeface="Calibri (MS)"/>
              </a:rPr>
              <a:t>DHT11, soil probe and rain sensor read the field</a:t>
            </a:r>
          </a:p>
        </p:txBody>
      </p:sp>
      <p:sp>
        <p:nvSpPr>
          <p:cNvPr name="TextBox 10" id="10"/>
          <p:cNvSpPr txBox="true"/>
          <p:nvPr/>
        </p:nvSpPr>
        <p:spPr>
          <a:xfrm rot="0">
            <a:off x="3999014" y="2637473"/>
            <a:ext cx="183099" cy="698144"/>
          </a:xfrm>
          <a:prstGeom prst="rect">
            <a:avLst/>
          </a:prstGeom>
        </p:spPr>
        <p:txBody>
          <a:bodyPr anchor="t" rtlCol="false" tIns="0" lIns="0" bIns="0" rIns="0">
            <a:spAutoFit/>
          </a:bodyPr>
          <a:lstStyle/>
          <a:p>
            <a:pPr algn="l">
              <a:lnSpc>
                <a:spcPts val="3963"/>
              </a:lnSpc>
            </a:pPr>
            <a:r>
              <a:rPr lang="en-US" sz="3302" b="true">
                <a:solidFill>
                  <a:srgbClr val="5B6B62"/>
                </a:solidFill>
                <a:latin typeface="Calibri (MS) Bold"/>
                <a:ea typeface="Calibri (MS) Bold"/>
                <a:cs typeface="Calibri (MS) Bold"/>
                <a:sym typeface="Calibri (MS) Bold"/>
              </a:rPr>
              <a:t>&gt;</a:t>
            </a:r>
          </a:p>
        </p:txBody>
      </p:sp>
      <p:grpSp>
        <p:nvGrpSpPr>
          <p:cNvPr name="Group 11" id="11"/>
          <p:cNvGrpSpPr/>
          <p:nvPr/>
        </p:nvGrpSpPr>
        <p:grpSpPr>
          <a:xfrm rot="0">
            <a:off x="4186647" y="2127647"/>
            <a:ext cx="3157147" cy="1990373"/>
            <a:chOff x="0" y="0"/>
            <a:chExt cx="4209529" cy="2653830"/>
          </a:xfrm>
        </p:grpSpPr>
        <p:sp>
          <p:nvSpPr>
            <p:cNvPr name="Freeform 12" id="12"/>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2D7FC1"/>
            </a:solidFill>
          </p:spPr>
        </p:sp>
      </p:grpSp>
      <p:sp>
        <p:nvSpPr>
          <p:cNvPr name="TextBox 13" id="13"/>
          <p:cNvSpPr txBox="true"/>
          <p:nvPr/>
        </p:nvSpPr>
        <p:spPr>
          <a:xfrm rot="0">
            <a:off x="4342181" y="2176081"/>
            <a:ext cx="2859805" cy="541830"/>
          </a:xfrm>
          <a:prstGeom prst="rect">
            <a:avLst/>
          </a:prstGeom>
        </p:spPr>
        <p:txBody>
          <a:bodyPr anchor="t" rtlCol="false" tIns="0" lIns="0" bIns="0" rIns="0">
            <a:spAutoFit/>
          </a:bodyPr>
          <a:lstStyle/>
          <a:p>
            <a:pPr algn="l">
              <a:lnSpc>
                <a:spcPts val="3062"/>
              </a:lnSpc>
            </a:pPr>
            <a:r>
              <a:rPr lang="en-US" sz="2551" b="true">
                <a:solidFill>
                  <a:srgbClr val="FFFFFF"/>
                </a:solidFill>
                <a:latin typeface="Calibri (MS) Bold"/>
                <a:ea typeface="Calibri (MS) Bold"/>
                <a:cs typeface="Calibri (MS) Bold"/>
                <a:sym typeface="Calibri (MS) Bold"/>
              </a:rPr>
              <a:t>2  Send</a:t>
            </a:r>
          </a:p>
        </p:txBody>
      </p:sp>
      <p:sp>
        <p:nvSpPr>
          <p:cNvPr name="TextBox 14" id="14"/>
          <p:cNvSpPr txBox="true"/>
          <p:nvPr/>
        </p:nvSpPr>
        <p:spPr>
          <a:xfrm rot="0">
            <a:off x="4342181" y="2725150"/>
            <a:ext cx="2859805" cy="1365437"/>
          </a:xfrm>
          <a:prstGeom prst="rect">
            <a:avLst/>
          </a:prstGeom>
        </p:spPr>
        <p:txBody>
          <a:bodyPr anchor="t" rtlCol="false" tIns="0" lIns="0" bIns="0" rIns="0">
            <a:spAutoFit/>
          </a:bodyPr>
          <a:lstStyle/>
          <a:p>
            <a:pPr algn="l">
              <a:lnSpc>
                <a:spcPts val="2341"/>
              </a:lnSpc>
            </a:pPr>
            <a:r>
              <a:rPr lang="en-US" sz="1951">
                <a:solidFill>
                  <a:srgbClr val="FFFFFF"/>
                </a:solidFill>
                <a:latin typeface="Calibri (MS)"/>
                <a:ea typeface="Calibri (MS)"/>
                <a:cs typeface="Calibri (MS)"/>
                <a:sym typeface="Calibri (MS)"/>
              </a:rPr>
              <a:t>ESP board sends one line per second over USB</a:t>
            </a:r>
          </a:p>
        </p:txBody>
      </p:sp>
      <p:sp>
        <p:nvSpPr>
          <p:cNvPr name="TextBox 15" id="15"/>
          <p:cNvSpPr txBox="true"/>
          <p:nvPr/>
        </p:nvSpPr>
        <p:spPr>
          <a:xfrm rot="0">
            <a:off x="7362063" y="2637473"/>
            <a:ext cx="183099" cy="698144"/>
          </a:xfrm>
          <a:prstGeom prst="rect">
            <a:avLst/>
          </a:prstGeom>
        </p:spPr>
        <p:txBody>
          <a:bodyPr anchor="t" rtlCol="false" tIns="0" lIns="0" bIns="0" rIns="0">
            <a:spAutoFit/>
          </a:bodyPr>
          <a:lstStyle/>
          <a:p>
            <a:pPr algn="l">
              <a:lnSpc>
                <a:spcPts val="3963"/>
              </a:lnSpc>
            </a:pPr>
            <a:r>
              <a:rPr lang="en-US" sz="3302" b="true">
                <a:solidFill>
                  <a:srgbClr val="5B6B62"/>
                </a:solidFill>
                <a:latin typeface="Calibri (MS) Bold"/>
                <a:ea typeface="Calibri (MS) Bold"/>
                <a:cs typeface="Calibri (MS) Bold"/>
                <a:sym typeface="Calibri (MS) Bold"/>
              </a:rPr>
              <a:t>&gt;</a:t>
            </a:r>
          </a:p>
        </p:txBody>
      </p:sp>
      <p:grpSp>
        <p:nvGrpSpPr>
          <p:cNvPr name="Group 16" id="16"/>
          <p:cNvGrpSpPr/>
          <p:nvPr/>
        </p:nvGrpSpPr>
        <p:grpSpPr>
          <a:xfrm rot="0">
            <a:off x="7549696" y="2127647"/>
            <a:ext cx="3157147" cy="1990373"/>
            <a:chOff x="0" y="0"/>
            <a:chExt cx="4209529" cy="2653830"/>
          </a:xfrm>
        </p:grpSpPr>
        <p:sp>
          <p:nvSpPr>
            <p:cNvPr name="Freeform 17" id="17"/>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14342B"/>
            </a:solidFill>
          </p:spPr>
        </p:sp>
      </p:grpSp>
      <p:sp>
        <p:nvSpPr>
          <p:cNvPr name="TextBox 18" id="18"/>
          <p:cNvSpPr txBox="true"/>
          <p:nvPr/>
        </p:nvSpPr>
        <p:spPr>
          <a:xfrm rot="0">
            <a:off x="7705230" y="2176081"/>
            <a:ext cx="2859805" cy="541830"/>
          </a:xfrm>
          <a:prstGeom prst="rect">
            <a:avLst/>
          </a:prstGeom>
        </p:spPr>
        <p:txBody>
          <a:bodyPr anchor="t" rtlCol="false" tIns="0" lIns="0" bIns="0" rIns="0">
            <a:spAutoFit/>
          </a:bodyPr>
          <a:lstStyle/>
          <a:p>
            <a:pPr algn="l">
              <a:lnSpc>
                <a:spcPts val="3062"/>
              </a:lnSpc>
            </a:pPr>
            <a:r>
              <a:rPr lang="en-US" sz="2551" b="true">
                <a:solidFill>
                  <a:srgbClr val="FFFFFF"/>
                </a:solidFill>
                <a:latin typeface="Calibri (MS) Bold"/>
                <a:ea typeface="Calibri (MS) Bold"/>
                <a:cs typeface="Calibri (MS) Bold"/>
                <a:sym typeface="Calibri (MS) Bold"/>
              </a:rPr>
              <a:t>3  Decide</a:t>
            </a:r>
          </a:p>
        </p:txBody>
      </p:sp>
      <p:sp>
        <p:nvSpPr>
          <p:cNvPr name="TextBox 19" id="19"/>
          <p:cNvSpPr txBox="true"/>
          <p:nvPr/>
        </p:nvSpPr>
        <p:spPr>
          <a:xfrm rot="0">
            <a:off x="7705230" y="2725150"/>
            <a:ext cx="2859805" cy="1365437"/>
          </a:xfrm>
          <a:prstGeom prst="rect">
            <a:avLst/>
          </a:prstGeom>
        </p:spPr>
        <p:txBody>
          <a:bodyPr anchor="t" rtlCol="false" tIns="0" lIns="0" bIns="0" rIns="0">
            <a:spAutoFit/>
          </a:bodyPr>
          <a:lstStyle/>
          <a:p>
            <a:pPr algn="l">
              <a:lnSpc>
                <a:spcPts val="2341"/>
              </a:lnSpc>
            </a:pPr>
            <a:r>
              <a:rPr lang="en-US" sz="1951">
                <a:solidFill>
                  <a:srgbClr val="FFFFFF"/>
                </a:solidFill>
                <a:latin typeface="Calibri (MS)"/>
                <a:ea typeface="Calibri (MS)"/>
                <a:cs typeface="Calibri (MS)"/>
                <a:sym typeface="Calibri (MS)"/>
              </a:rPr>
              <a:t>MATLAB picks the best panel angle (rules + search)</a:t>
            </a:r>
          </a:p>
        </p:txBody>
      </p:sp>
      <p:sp>
        <p:nvSpPr>
          <p:cNvPr name="TextBox 20" id="20"/>
          <p:cNvSpPr txBox="true"/>
          <p:nvPr/>
        </p:nvSpPr>
        <p:spPr>
          <a:xfrm rot="0">
            <a:off x="10725112" y="2637473"/>
            <a:ext cx="183099" cy="698144"/>
          </a:xfrm>
          <a:prstGeom prst="rect">
            <a:avLst/>
          </a:prstGeom>
        </p:spPr>
        <p:txBody>
          <a:bodyPr anchor="t" rtlCol="false" tIns="0" lIns="0" bIns="0" rIns="0">
            <a:spAutoFit/>
          </a:bodyPr>
          <a:lstStyle/>
          <a:p>
            <a:pPr algn="l">
              <a:lnSpc>
                <a:spcPts val="3963"/>
              </a:lnSpc>
            </a:pPr>
            <a:r>
              <a:rPr lang="en-US" sz="3302" b="true">
                <a:solidFill>
                  <a:srgbClr val="5B6B62"/>
                </a:solidFill>
                <a:latin typeface="Calibri (MS) Bold"/>
                <a:ea typeface="Calibri (MS) Bold"/>
                <a:cs typeface="Calibri (MS) Bold"/>
                <a:sym typeface="Calibri (MS) Bold"/>
              </a:rPr>
              <a:t>&gt;</a:t>
            </a:r>
          </a:p>
        </p:txBody>
      </p:sp>
      <p:grpSp>
        <p:nvGrpSpPr>
          <p:cNvPr name="Group 21" id="21"/>
          <p:cNvGrpSpPr/>
          <p:nvPr/>
        </p:nvGrpSpPr>
        <p:grpSpPr>
          <a:xfrm rot="0">
            <a:off x="10912745" y="2127647"/>
            <a:ext cx="3157147" cy="1990373"/>
            <a:chOff x="0" y="0"/>
            <a:chExt cx="4209529" cy="2653830"/>
          </a:xfrm>
        </p:grpSpPr>
        <p:sp>
          <p:nvSpPr>
            <p:cNvPr name="Freeform 22" id="22"/>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C07A00"/>
            </a:solidFill>
          </p:spPr>
        </p:sp>
      </p:grpSp>
      <p:sp>
        <p:nvSpPr>
          <p:cNvPr name="TextBox 23" id="23"/>
          <p:cNvSpPr txBox="true"/>
          <p:nvPr/>
        </p:nvSpPr>
        <p:spPr>
          <a:xfrm rot="0">
            <a:off x="11068279" y="2176081"/>
            <a:ext cx="2859805" cy="541830"/>
          </a:xfrm>
          <a:prstGeom prst="rect">
            <a:avLst/>
          </a:prstGeom>
        </p:spPr>
        <p:txBody>
          <a:bodyPr anchor="t" rtlCol="false" tIns="0" lIns="0" bIns="0" rIns="0">
            <a:spAutoFit/>
          </a:bodyPr>
          <a:lstStyle/>
          <a:p>
            <a:pPr algn="l">
              <a:lnSpc>
                <a:spcPts val="3062"/>
              </a:lnSpc>
            </a:pPr>
            <a:r>
              <a:rPr lang="en-US" sz="2551" b="true">
                <a:solidFill>
                  <a:srgbClr val="FFFFFF"/>
                </a:solidFill>
                <a:latin typeface="Calibri (MS) Bold"/>
                <a:ea typeface="Calibri (MS) Bold"/>
                <a:cs typeface="Calibri (MS) Bold"/>
                <a:sym typeface="Calibri (MS) Bold"/>
              </a:rPr>
              <a:t>4  Act</a:t>
            </a:r>
          </a:p>
        </p:txBody>
      </p:sp>
      <p:sp>
        <p:nvSpPr>
          <p:cNvPr name="TextBox 24" id="24"/>
          <p:cNvSpPr txBox="true"/>
          <p:nvPr/>
        </p:nvSpPr>
        <p:spPr>
          <a:xfrm rot="0">
            <a:off x="11068279" y="2725150"/>
            <a:ext cx="2859805" cy="1365437"/>
          </a:xfrm>
          <a:prstGeom prst="rect">
            <a:avLst/>
          </a:prstGeom>
        </p:spPr>
        <p:txBody>
          <a:bodyPr anchor="t" rtlCol="false" tIns="0" lIns="0" bIns="0" rIns="0">
            <a:spAutoFit/>
          </a:bodyPr>
          <a:lstStyle/>
          <a:p>
            <a:pPr algn="l">
              <a:lnSpc>
                <a:spcPts val="2341"/>
              </a:lnSpc>
            </a:pPr>
            <a:r>
              <a:rPr lang="en-US" sz="1951">
                <a:solidFill>
                  <a:srgbClr val="FFFFFF"/>
                </a:solidFill>
                <a:latin typeface="Calibri (MS)"/>
                <a:ea typeface="Calibri (MS)"/>
                <a:cs typeface="Calibri (MS)"/>
                <a:sym typeface="Calibri (MS)"/>
              </a:rPr>
              <a:t>Panel angle, irrigation pump and MPPT voltage</a:t>
            </a:r>
          </a:p>
        </p:txBody>
      </p:sp>
      <p:sp>
        <p:nvSpPr>
          <p:cNvPr name="TextBox 25" id="25"/>
          <p:cNvSpPr txBox="true"/>
          <p:nvPr/>
        </p:nvSpPr>
        <p:spPr>
          <a:xfrm rot="0">
            <a:off x="14088161" y="2637473"/>
            <a:ext cx="183099" cy="698144"/>
          </a:xfrm>
          <a:prstGeom prst="rect">
            <a:avLst/>
          </a:prstGeom>
        </p:spPr>
        <p:txBody>
          <a:bodyPr anchor="t" rtlCol="false" tIns="0" lIns="0" bIns="0" rIns="0">
            <a:spAutoFit/>
          </a:bodyPr>
          <a:lstStyle/>
          <a:p>
            <a:pPr algn="l">
              <a:lnSpc>
                <a:spcPts val="3963"/>
              </a:lnSpc>
            </a:pPr>
            <a:r>
              <a:rPr lang="en-US" sz="3302" b="true">
                <a:solidFill>
                  <a:srgbClr val="5B6B62"/>
                </a:solidFill>
                <a:latin typeface="Calibri (MS) Bold"/>
                <a:ea typeface="Calibri (MS) Bold"/>
                <a:cs typeface="Calibri (MS) Bold"/>
                <a:sym typeface="Calibri (MS) Bold"/>
              </a:rPr>
              <a:t>&gt;</a:t>
            </a:r>
          </a:p>
        </p:txBody>
      </p:sp>
      <p:grpSp>
        <p:nvGrpSpPr>
          <p:cNvPr name="Group 26" id="26"/>
          <p:cNvGrpSpPr/>
          <p:nvPr/>
        </p:nvGrpSpPr>
        <p:grpSpPr>
          <a:xfrm rot="0">
            <a:off x="14275794" y="2127647"/>
            <a:ext cx="3157147" cy="1990373"/>
            <a:chOff x="0" y="0"/>
            <a:chExt cx="4209529" cy="2653830"/>
          </a:xfrm>
        </p:grpSpPr>
        <p:sp>
          <p:nvSpPr>
            <p:cNvPr name="Freeform 27" id="27"/>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5B6B62"/>
            </a:solidFill>
          </p:spPr>
        </p:sp>
      </p:grpSp>
      <p:sp>
        <p:nvSpPr>
          <p:cNvPr name="TextBox 28" id="28"/>
          <p:cNvSpPr txBox="true"/>
          <p:nvPr/>
        </p:nvSpPr>
        <p:spPr>
          <a:xfrm rot="0">
            <a:off x="14431327" y="2176081"/>
            <a:ext cx="2859805" cy="541830"/>
          </a:xfrm>
          <a:prstGeom prst="rect">
            <a:avLst/>
          </a:prstGeom>
        </p:spPr>
        <p:txBody>
          <a:bodyPr anchor="t" rtlCol="false" tIns="0" lIns="0" bIns="0" rIns="0">
            <a:spAutoFit/>
          </a:bodyPr>
          <a:lstStyle/>
          <a:p>
            <a:pPr algn="l">
              <a:lnSpc>
                <a:spcPts val="3062"/>
              </a:lnSpc>
            </a:pPr>
            <a:r>
              <a:rPr lang="en-US" sz="2551" b="true">
                <a:solidFill>
                  <a:srgbClr val="FFFFFF"/>
                </a:solidFill>
                <a:latin typeface="Calibri (MS) Bold"/>
                <a:ea typeface="Calibri (MS) Bold"/>
                <a:cs typeface="Calibri (MS) Bold"/>
                <a:sym typeface="Calibri (MS) Bold"/>
              </a:rPr>
              <a:t>5  Show</a:t>
            </a:r>
          </a:p>
        </p:txBody>
      </p:sp>
      <p:sp>
        <p:nvSpPr>
          <p:cNvPr name="TextBox 29" id="29"/>
          <p:cNvSpPr txBox="true"/>
          <p:nvPr/>
        </p:nvSpPr>
        <p:spPr>
          <a:xfrm rot="0">
            <a:off x="14431327" y="2725150"/>
            <a:ext cx="2859805" cy="1365437"/>
          </a:xfrm>
          <a:prstGeom prst="rect">
            <a:avLst/>
          </a:prstGeom>
        </p:spPr>
        <p:txBody>
          <a:bodyPr anchor="t" rtlCol="false" tIns="0" lIns="0" bIns="0" rIns="0">
            <a:spAutoFit/>
          </a:bodyPr>
          <a:lstStyle/>
          <a:p>
            <a:pPr algn="l">
              <a:lnSpc>
                <a:spcPts val="2341"/>
              </a:lnSpc>
            </a:pPr>
            <a:r>
              <a:rPr lang="en-US" sz="1951">
                <a:solidFill>
                  <a:srgbClr val="FFFFFF"/>
                </a:solidFill>
                <a:latin typeface="Calibri (MS)"/>
                <a:ea typeface="Calibri (MS)"/>
                <a:cs typeface="Calibri (MS)"/>
                <a:sym typeface="Calibri (MS)"/>
              </a:rPr>
              <a:t>Dashboard shows numbers, graphs and the reason in words</a:t>
            </a:r>
          </a:p>
        </p:txBody>
      </p:sp>
      <p:graphicFrame>
        <p:nvGraphicFramePr>
          <p:cNvPr name="Table 30" id="30"/>
          <p:cNvGraphicFramePr>
            <a:graphicFrameLocks noGrp="true"/>
          </p:cNvGraphicFramePr>
          <p:nvPr/>
        </p:nvGraphicFramePr>
        <p:xfrm>
          <a:off x="823603" y="4392552"/>
          <a:ext cx="16586458" cy="4137082"/>
        </p:xfrm>
        <a:graphic>
          <a:graphicData uri="http://schemas.openxmlformats.org/drawingml/2006/table">
            <a:tbl>
              <a:tblPr/>
              <a:tblGrid>
                <a:gridCol w="3426954"/>
                <a:gridCol w="4112345"/>
                <a:gridCol w="1233704"/>
                <a:gridCol w="7813456"/>
              </a:tblGrid>
              <a:tr h="591012">
                <a:tc>
                  <a:txBody>
                    <a:bodyPr anchor="t" rtlCol="false"/>
                    <a:lstStyle/>
                    <a:p>
                      <a:pPr algn="l">
                        <a:lnSpc>
                          <a:spcPts val="2251"/>
                        </a:lnSpc>
                        <a:defRPr/>
                      </a:pPr>
                      <a:r>
                        <a:rPr lang="en-US" sz="1876" b="true">
                          <a:solidFill>
                            <a:srgbClr val="FFFFFF"/>
                          </a:solidFill>
                          <a:latin typeface="Calibri (MS) Bold"/>
                          <a:ea typeface="Calibri (MS) Bold"/>
                          <a:cs typeface="Calibri (MS) Bold"/>
                          <a:sym typeface="Calibri (MS) Bold"/>
                        </a:rPr>
                        <a:t>Input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876" b="true">
                          <a:solidFill>
                            <a:srgbClr val="FFFFFF"/>
                          </a:solidFill>
                          <a:latin typeface="Calibri (MS) Bold"/>
                          <a:ea typeface="Calibri (MS) Bold"/>
                          <a:cs typeface="Calibri (MS) Bold"/>
                          <a:sym typeface="Calibri (MS) Bold"/>
                        </a:rPr>
                        <a:t>Where it comes from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876" b="true">
                          <a:solidFill>
                            <a:srgbClr val="FFFFFF"/>
                          </a:solidFill>
                          <a:latin typeface="Calibri (MS) Bold"/>
                          <a:ea typeface="Calibri (MS) Bold"/>
                          <a:cs typeface="Calibri (MS) Bold"/>
                          <a:sym typeface="Calibri (MS) Bold"/>
                        </a:rPr>
                        <a:t>Status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876" b="true">
                          <a:solidFill>
                            <a:srgbClr val="FFFFFF"/>
                          </a:solidFill>
                          <a:latin typeface="Calibri (MS) Bold"/>
                          <a:ea typeface="Calibri (MS) Bold"/>
                          <a:cs typeface="Calibri (MS) Bold"/>
                          <a:sym typeface="Calibri (MS) Bold"/>
                        </a:rPr>
                        <a:t>Proof / how</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r>
              <a:tr h="591012">
                <a:tc>
                  <a:txBody>
                    <a:bodyPr anchor="t" rtlCol="false"/>
                    <a:lstStyle/>
                    <a:p>
                      <a:pPr algn="l">
                        <a:lnSpc>
                          <a:spcPts val="2251"/>
                        </a:lnSpc>
                        <a:defRPr/>
                      </a:pPr>
                      <a:r>
                        <a:rPr lang="en-US" sz="1876" b="true">
                          <a:solidFill>
                            <a:srgbClr val="1B2A22"/>
                          </a:solidFill>
                          <a:latin typeface="Calibri (MS) Bold"/>
                          <a:ea typeface="Calibri (MS) Bold"/>
                          <a:cs typeface="Calibri (MS) Bold"/>
                          <a:sym typeface="Calibri (MS) Bold"/>
                        </a:rPr>
                        <a:t>Air temperature, humidity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DHT11 on the ESP board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b="true">
                          <a:solidFill>
                            <a:srgbClr val="4E9A2E"/>
                          </a:solidFill>
                          <a:latin typeface="Calibri (MS) Bold"/>
                          <a:ea typeface="Calibri (MS) Bold"/>
                          <a:cs typeface="Calibri (MS) Bold"/>
                          <a:sym typeface="Calibri (MS) Bold"/>
                        </a:rPr>
                        <a:t>REAL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datasheet accuracy: 2 C and 5 % RH; checked against a thermometer on the day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91012">
                <a:tc>
                  <a:txBody>
                    <a:bodyPr anchor="t" rtlCol="false"/>
                    <a:lstStyle/>
                    <a:p>
                      <a:pPr algn="l">
                        <a:lnSpc>
                          <a:spcPts val="2251"/>
                        </a:lnSpc>
                        <a:defRPr/>
                      </a:pPr>
                      <a:r>
                        <a:rPr lang="en-US" sz="1876" b="true">
                          <a:solidFill>
                            <a:srgbClr val="1B2A22"/>
                          </a:solidFill>
                          <a:latin typeface="Calibri (MS) Bold"/>
                          <a:ea typeface="Calibri (MS) Bold"/>
                          <a:cs typeface="Calibri (MS) Bold"/>
                          <a:sym typeface="Calibri (MS) Bold"/>
                        </a:rPr>
                        <a:t>Soil moisture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soil probe -&gt; analog pin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b="true">
                          <a:solidFill>
                            <a:srgbClr val="4E9A2E"/>
                          </a:solidFill>
                          <a:latin typeface="Calibri (MS) Bold"/>
                          <a:ea typeface="Calibri (MS) Bold"/>
                          <a:cs typeface="Calibri (MS) Bold"/>
                          <a:sym typeface="Calibri (MS) Bold"/>
                        </a:rPr>
                        <a:t>REAL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two-point calibration: dry in air = 0 %, wet in water = 100 %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591012">
                <a:tc>
                  <a:txBody>
                    <a:bodyPr anchor="t" rtlCol="false"/>
                    <a:lstStyle/>
                    <a:p>
                      <a:pPr algn="l">
                        <a:lnSpc>
                          <a:spcPts val="2251"/>
                        </a:lnSpc>
                        <a:defRPr/>
                      </a:pPr>
                      <a:r>
                        <a:rPr lang="en-US" sz="1876" b="true">
                          <a:solidFill>
                            <a:srgbClr val="1B2A22"/>
                          </a:solidFill>
                          <a:latin typeface="Calibri (MS) Bold"/>
                          <a:ea typeface="Calibri (MS) Bold"/>
                          <a:cs typeface="Calibri (MS) Bold"/>
                          <a:sym typeface="Calibri (MS) Bold"/>
                        </a:rPr>
                        <a:t>Rain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rain sensor module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b="true">
                          <a:solidFill>
                            <a:srgbClr val="4E9A2E"/>
                          </a:solidFill>
                          <a:latin typeface="Calibri (MS) Bold"/>
                          <a:ea typeface="Calibri (MS) Bold"/>
                          <a:cs typeface="Calibri (MS) Bold"/>
                          <a:sym typeface="Calibri (MS) Bold"/>
                        </a:rPr>
                        <a:t>REAL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wet plate gives rain = 1; sets the 3 degree slope for harvesting</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91012">
                <a:tc>
                  <a:txBody>
                    <a:bodyPr anchor="t" rtlCol="false"/>
                    <a:lstStyle/>
                    <a:p>
                      <a:pPr algn="l">
                        <a:lnSpc>
                          <a:spcPts val="2251"/>
                        </a:lnSpc>
                        <a:defRPr/>
                      </a:pPr>
                      <a:r>
                        <a:rPr lang="en-US" sz="1876" b="true">
                          <a:solidFill>
                            <a:srgbClr val="1B2A22"/>
                          </a:solidFill>
                          <a:latin typeface="Calibri (MS) Bold"/>
                          <a:ea typeface="Calibri (MS) Bold"/>
                          <a:cs typeface="Calibri (MS) Bold"/>
                          <a:sym typeface="Calibri (MS) Bold"/>
                        </a:rPr>
                        <a:t>Sunlight (pyranometer)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scroll bar, or sun model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b="true">
                          <a:solidFill>
                            <a:srgbClr val="C07A00"/>
                          </a:solidFill>
                          <a:latin typeface="Calibri (MS) Bold"/>
                          <a:ea typeface="Calibri (MS) Bold"/>
                          <a:cs typeface="Calibri (MS) Bold"/>
                          <a:sym typeface="Calibri (MS) Bold"/>
                        </a:rPr>
                        <a:t>SIM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sun position from date, time and latitude; clearness index  from NASA POWER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591012">
                <a:tc>
                  <a:txBody>
                    <a:bodyPr anchor="t" rtlCol="false"/>
                    <a:lstStyle/>
                    <a:p>
                      <a:pPr algn="l">
                        <a:lnSpc>
                          <a:spcPts val="2251"/>
                        </a:lnSpc>
                        <a:defRPr/>
                      </a:pPr>
                      <a:r>
                        <a:rPr lang="en-US" sz="1876" b="true">
                          <a:solidFill>
                            <a:srgbClr val="1B2A22"/>
                          </a:solidFill>
                          <a:latin typeface="Calibri (MS) Bold"/>
                          <a:ea typeface="Calibri (MS) Bold"/>
                          <a:cs typeface="Calibri (MS) Bold"/>
                          <a:sym typeface="Calibri (MS) Bold"/>
                        </a:rPr>
                        <a:t>Plant light (PAR)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scroll bar, or 0.45 x 4.57 x sunlight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b="true">
                          <a:solidFill>
                            <a:srgbClr val="C07A00"/>
                          </a:solidFill>
                          <a:latin typeface="Calibri (MS) Bold"/>
                          <a:ea typeface="Calibri (MS) Bold"/>
                          <a:cs typeface="Calibri (MS) Bold"/>
                          <a:sym typeface="Calibri (MS) Bold"/>
                        </a:rPr>
                        <a:t>SIM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about 45 % of sunlight is PAR; 4.57 micromol per joule (standard conversion)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91012">
                <a:tc>
                  <a:txBody>
                    <a:bodyPr anchor="t" rtlCol="false"/>
                    <a:lstStyle/>
                    <a:p>
                      <a:pPr algn="l">
                        <a:lnSpc>
                          <a:spcPts val="2251"/>
                        </a:lnSpc>
                        <a:defRPr/>
                      </a:pPr>
                      <a:r>
                        <a:rPr lang="en-US" sz="1876" b="true">
                          <a:solidFill>
                            <a:srgbClr val="1B2A22"/>
                          </a:solidFill>
                          <a:latin typeface="Calibri (MS) Bold"/>
                          <a:ea typeface="Calibri (MS) Bold"/>
                          <a:cs typeface="Calibri (MS) Bold"/>
                          <a:sym typeface="Calibri (MS) Bold"/>
                        </a:rPr>
                        <a:t>Wind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scroll bar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b="true">
                          <a:solidFill>
                            <a:srgbClr val="C07A00"/>
                          </a:solidFill>
                          <a:latin typeface="Calibri (MS) Bold"/>
                          <a:ea typeface="Calibri (MS) Bold"/>
                          <a:cs typeface="Calibri (MS) Bold"/>
                          <a:sym typeface="Calibri (MS) Bold"/>
                        </a:rPr>
                        <a:t>SIM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safety rule: 15 m/s or more turns the panels edge-on (90 degrees)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bl>
          </a:graphicData>
        </a:graphic>
      </p:graphicFrame>
      <p:sp>
        <p:nvSpPr>
          <p:cNvPr id="31" name="Rounded Rectangle 30"/>
          <p:cNvSpPr/>
          <p:nvPr/>
        </p:nvSpPr>
        <p:spPr>
          <a:xfrm>
            <a:off x="12755880" y="822959"/>
            <a:ext cx="4663440" cy="466344"/>
          </a:xfrm>
          <a:prstGeom prst="roundRect">
            <a:avLst>
              <a:gd name="adj" fmla="val 6000"/>
            </a:avLst>
          </a:prstGeom>
          <a:solidFill>
            <a:srgbClr val="4E9A2E"/>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PROTOTYPE DEMO  |  20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0"/>
              <a:ext cx="22145777" cy="1372667"/>
            </a:xfrm>
            <a:prstGeom prst="rect">
              <a:avLst/>
            </a:prstGeom>
          </p:spPr>
          <p:txBody>
            <a:bodyPr anchor="ctr" rtlCol="false" tIns="0" lIns="0" bIns="0" rIns="0"/>
            <a:lstStyle/>
            <a:p>
              <a:pPr algn="l">
                <a:lnSpc>
                  <a:spcPts val="4683"/>
                </a:lnSpc>
              </a:pPr>
              <a:r>
                <a:rPr lang="en-US" sz="3903" b="true">
                  <a:solidFill>
                    <a:srgbClr val="14342B"/>
                  </a:solidFill>
                  <a:latin typeface="Cambria Bold"/>
                  <a:ea typeface="Cambria Bold"/>
                  <a:cs typeface="Cambria Bold"/>
                  <a:sym typeface="Cambria Bold"/>
                </a:rPr>
                <a:t>Prototype demo: the two simulated sensors</a:t>
              </a:r>
            </a:p>
          </p:txBody>
        </p:sp>
      </p:grpSp>
      <p:sp>
        <p:nvSpPr>
          <p:cNvPr name="TextBox 5" id="5"/>
          <p:cNvSpPr txBox="true"/>
          <p:nvPr/>
        </p:nvSpPr>
        <p:spPr>
          <a:xfrm rot="0">
            <a:off x="869328" y="1389459"/>
            <a:ext cx="16517893" cy="559756"/>
          </a:xfrm>
          <a:prstGeom prst="rect">
            <a:avLst/>
          </a:prstGeom>
        </p:spPr>
        <p:txBody>
          <a:bodyPr anchor="t" rtlCol="false" tIns="0" lIns="0" bIns="0" rIns="0">
            <a:spAutoFit/>
          </a:bodyPr>
          <a:lstStyle/>
          <a:p>
            <a:pPr algn="l">
              <a:lnSpc>
                <a:spcPts val="2882"/>
              </a:lnSpc>
            </a:pPr>
            <a:r>
              <a:rPr lang="en-US" sz="2401">
                <a:solidFill>
                  <a:srgbClr val="5B6B62"/>
                </a:solidFill>
                <a:latin typeface="Calibri (MS)"/>
                <a:ea typeface="Calibri (MS)"/>
                <a:cs typeface="Calibri (MS)"/>
                <a:sym typeface="Calibri (MS)"/>
              </a:rPr>
              <a:t>Move the scroll bar and watch the angle, the electricity and the irrigation react</a:t>
            </a:r>
          </a:p>
        </p:txBody>
      </p:sp>
      <p:grpSp>
        <p:nvGrpSpPr>
          <p:cNvPr name="Group 6" id="6"/>
          <p:cNvGrpSpPr/>
          <p:nvPr/>
        </p:nvGrpSpPr>
        <p:grpSpPr>
          <a:xfrm rot="0">
            <a:off x="823608" y="2162661"/>
            <a:ext cx="8785108" cy="4802953"/>
            <a:chOff x="0" y="0"/>
            <a:chExt cx="11713477" cy="6403937"/>
          </a:xfrm>
        </p:grpSpPr>
        <p:sp>
          <p:nvSpPr>
            <p:cNvPr name="Freeform 7" id="7" descr="dashboard_v2_manual_cloudy.png"/>
            <p:cNvSpPr/>
            <p:nvPr/>
          </p:nvSpPr>
          <p:spPr>
            <a:xfrm flipH="false" flipV="false" rot="0">
              <a:off x="0" y="0"/>
              <a:ext cx="11713464" cy="6403975"/>
            </a:xfrm>
            <a:custGeom>
              <a:avLst/>
              <a:gdLst/>
              <a:ahLst/>
              <a:cxnLst/>
              <a:rect r="r" b="b" t="t" l="l"/>
              <a:pathLst>
                <a:path h="6403975" w="11713464">
                  <a:moveTo>
                    <a:pt x="0" y="0"/>
                  </a:moveTo>
                  <a:lnTo>
                    <a:pt x="11713464" y="0"/>
                  </a:lnTo>
                  <a:lnTo>
                    <a:pt x="11713464" y="6403975"/>
                  </a:lnTo>
                  <a:lnTo>
                    <a:pt x="0" y="6403975"/>
                  </a:lnTo>
                  <a:lnTo>
                    <a:pt x="0" y="0"/>
                  </a:lnTo>
                  <a:close/>
                </a:path>
              </a:pathLst>
            </a:custGeom>
            <a:blipFill>
              <a:blip r:embed="rId4"/>
              <a:stretch>
                <a:fillRect l="0" t="0" r="0" b="0"/>
              </a:stretch>
            </a:blipFill>
          </p:spPr>
        </p:sp>
      </p:grpSp>
      <p:grpSp>
        <p:nvGrpSpPr>
          <p:cNvPr name="Group 8" id="8"/>
          <p:cNvGrpSpPr/>
          <p:nvPr/>
        </p:nvGrpSpPr>
        <p:grpSpPr>
          <a:xfrm rot="0">
            <a:off x="811692" y="7537780"/>
            <a:ext cx="8808939" cy="2357371"/>
            <a:chOff x="0" y="0"/>
            <a:chExt cx="11745252" cy="3143161"/>
          </a:xfrm>
        </p:grpSpPr>
        <p:sp>
          <p:nvSpPr>
            <p:cNvPr name="Freeform 9" id="9"/>
            <p:cNvSpPr/>
            <p:nvPr/>
          </p:nvSpPr>
          <p:spPr>
            <a:xfrm flipH="false" flipV="false" rot="0">
              <a:off x="0" y="0"/>
              <a:ext cx="11745213" cy="3143123"/>
            </a:xfrm>
            <a:custGeom>
              <a:avLst/>
              <a:gdLst/>
              <a:ahLst/>
              <a:cxnLst/>
              <a:rect r="r" b="b" t="t" l="l"/>
              <a:pathLst>
                <a:path h="3143123" w="11745213">
                  <a:moveTo>
                    <a:pt x="0" y="188595"/>
                  </a:moveTo>
                  <a:cubicBezTo>
                    <a:pt x="0" y="84455"/>
                    <a:pt x="84455" y="0"/>
                    <a:pt x="188595" y="0"/>
                  </a:cubicBezTo>
                  <a:lnTo>
                    <a:pt x="11556619" y="0"/>
                  </a:lnTo>
                  <a:cubicBezTo>
                    <a:pt x="11660759" y="0"/>
                    <a:pt x="11745213" y="84455"/>
                    <a:pt x="11745213" y="188595"/>
                  </a:cubicBezTo>
                  <a:lnTo>
                    <a:pt x="11745213" y="2954528"/>
                  </a:lnTo>
                  <a:cubicBezTo>
                    <a:pt x="11745213" y="3058668"/>
                    <a:pt x="11660759" y="3143123"/>
                    <a:pt x="11556619" y="3143123"/>
                  </a:cubicBezTo>
                  <a:lnTo>
                    <a:pt x="188595" y="3143123"/>
                  </a:lnTo>
                  <a:cubicBezTo>
                    <a:pt x="84455" y="3143123"/>
                    <a:pt x="0" y="3058668"/>
                    <a:pt x="0" y="2954528"/>
                  </a:cubicBezTo>
                  <a:close/>
                </a:path>
              </a:pathLst>
            </a:custGeom>
            <a:solidFill>
              <a:srgbClr val="FFF6DC"/>
            </a:solidFill>
            <a:ln w="23831" cap="sq">
              <a:solidFill>
                <a:srgbClr val="E8A317"/>
              </a:solidFill>
              <a:prstDash val="solid"/>
              <a:miter/>
            </a:ln>
          </p:spPr>
        </p:sp>
      </p:grpSp>
      <p:sp>
        <p:nvSpPr>
          <p:cNvPr name="TextBox 10" id="10"/>
          <p:cNvSpPr txBox="true"/>
          <p:nvPr/>
        </p:nvSpPr>
        <p:spPr>
          <a:xfrm rot="0">
            <a:off x="1034044" y="7621391"/>
            <a:ext cx="8364226" cy="395040"/>
          </a:xfrm>
          <a:prstGeom prst="rect">
            <a:avLst/>
          </a:prstGeom>
        </p:spPr>
        <p:txBody>
          <a:bodyPr anchor="t" rtlCol="false" tIns="0" lIns="0" bIns="0" rIns="0">
            <a:spAutoFit/>
          </a:bodyPr>
          <a:lstStyle/>
          <a:p>
            <a:pPr algn="l">
              <a:lnSpc>
                <a:spcPts val="2251"/>
              </a:lnSpc>
            </a:pPr>
            <a:r>
              <a:rPr lang="en-US" sz="1876" b="true">
                <a:solidFill>
                  <a:srgbClr val="8A5A00"/>
                </a:solidFill>
                <a:latin typeface="Calibri (MS) Bold"/>
                <a:ea typeface="Calibri (MS) Bold"/>
                <a:cs typeface="Calibri (MS) Bold"/>
                <a:sym typeface="Calibri (MS) Bold"/>
              </a:rPr>
              <a:t>PROOF: how it works and where it comes from</a:t>
            </a:r>
          </a:p>
        </p:txBody>
      </p:sp>
      <p:sp>
        <p:nvSpPr>
          <p:cNvPr name="TextBox 11" id="11"/>
          <p:cNvSpPr txBox="true"/>
          <p:nvPr/>
        </p:nvSpPr>
        <p:spPr>
          <a:xfrm rot="0">
            <a:off x="1079764" y="8078934"/>
            <a:ext cx="8272786" cy="1703680"/>
          </a:xfrm>
          <a:prstGeom prst="rect">
            <a:avLst/>
          </a:prstGeom>
        </p:spPr>
        <p:txBody>
          <a:bodyPr anchor="t" rtlCol="false" tIns="0" lIns="0" bIns="0" rIns="0">
            <a:spAutoFit/>
          </a:bodyPr>
          <a:lstStyle/>
          <a:p>
            <a:pPr algn="l">
              <a:lnSpc>
                <a:spcPts val="2161"/>
              </a:lnSpc>
            </a:pPr>
            <a:r>
              <a:rPr lang="en-US" sz="1801">
                <a:solidFill>
                  <a:srgbClr val="1B2A22"/>
                </a:solidFill>
                <a:latin typeface="Calibri (MS)"/>
                <a:ea typeface="Calibri (MS)"/>
                <a:cs typeface="Calibri (MS)"/>
                <a:sym typeface="Calibri (MS)"/>
              </a:rPr>
              <a:t>•  Sun position: standard solar equations; sky clearness for TCE: NASA POWER monthly data</a:t>
            </a:r>
          </a:p>
          <a:p>
            <a:pPr algn="l">
              <a:lnSpc>
                <a:spcPts val="2161"/>
              </a:lnSpc>
            </a:pPr>
            <a:r>
              <a:rPr lang="en-US" sz="1801">
                <a:solidFill>
                  <a:srgbClr val="1B2A22"/>
                </a:solidFill>
                <a:latin typeface="Calibri (MS)"/>
                <a:ea typeface="Calibri (MS)"/>
                <a:cs typeface="Calibri (MS)"/>
                <a:sym typeface="Calibri (MS)"/>
              </a:rPr>
              <a:t>•  PAR = 0.45 x 4.57 x sunlight (standard conversion); the dashboard flags it if PAR / sunlight is far from 2.06</a:t>
            </a:r>
          </a:p>
          <a:p>
            <a:pPr algn="l">
              <a:lnSpc>
                <a:spcPts val="2161"/>
              </a:lnSpc>
            </a:pPr>
            <a:r>
              <a:rPr lang="en-US" sz="1801">
                <a:solidFill>
                  <a:srgbClr val="1B2A22"/>
                </a:solidFill>
                <a:latin typeface="Calibri (MS)"/>
                <a:ea typeface="Calibri (MS)"/>
                <a:cs typeface="Calibri (MS)"/>
                <a:sym typeface="Calibri (MS)"/>
              </a:rPr>
              <a:t>•  Same equations were checked against the PVGIS service: +5.0 % per year</a:t>
            </a:r>
          </a:p>
        </p:txBody>
      </p:sp>
      <p:sp>
        <p:nvSpPr>
          <p:cNvPr name="TextBox 12" id="12"/>
          <p:cNvSpPr txBox="true"/>
          <p:nvPr/>
        </p:nvSpPr>
        <p:spPr>
          <a:xfrm rot="0">
            <a:off x="10111950" y="2057105"/>
            <a:ext cx="7298188" cy="3181969"/>
          </a:xfrm>
          <a:prstGeom prst="rect">
            <a:avLst/>
          </a:prstGeom>
        </p:spPr>
        <p:txBody>
          <a:bodyPr anchor="t" rtlCol="false" tIns="0" lIns="0" bIns="0" rIns="0">
            <a:spAutoFit/>
          </a:bodyPr>
          <a:lstStyle/>
          <a:p>
            <a:pPr algn="l">
              <a:lnSpc>
                <a:spcPts val="2521"/>
              </a:lnSpc>
            </a:pPr>
            <a:r>
              <a:rPr lang="en-US" sz="2101" b="true">
                <a:solidFill>
                  <a:srgbClr val="1B2A22"/>
                </a:solidFill>
                <a:latin typeface="Calibri (MS) Bold"/>
                <a:ea typeface="Calibri (MS) Bold"/>
                <a:cs typeface="Calibri (MS) Bold"/>
                <a:sym typeface="Calibri (MS) Bold"/>
              </a:rPr>
              <a:t>•  Dim sky (300 W/m2): </a:t>
            </a:r>
            <a:r>
              <a:rPr lang="en-US" sz="2101">
                <a:solidFill>
                  <a:srgbClr val="1B2A22"/>
                </a:solidFill>
                <a:latin typeface="Calibri (MS)"/>
                <a:ea typeface="Calibri (MS)"/>
                <a:cs typeface="Calibri (MS)"/>
                <a:sym typeface="Calibri (MS)"/>
              </a:rPr>
              <a:t>panels go steep (55.5 degrees) to give crops light; electricity 36 W/m2</a:t>
            </a:r>
          </a:p>
          <a:p>
            <a:pPr algn="l">
              <a:lnSpc>
                <a:spcPts val="2521"/>
              </a:lnSpc>
            </a:pPr>
            <a:r>
              <a:rPr lang="en-US" sz="2101" b="true">
                <a:solidFill>
                  <a:srgbClr val="1B2A22"/>
                </a:solidFill>
                <a:latin typeface="Calibri (MS) Bold"/>
                <a:ea typeface="Calibri (MS) Bold"/>
                <a:cs typeface="Calibri (MS) Bold"/>
                <a:sym typeface="Calibri (MS) Bold"/>
              </a:rPr>
              <a:t>•  Bright sky (1000 W/m2): </a:t>
            </a:r>
            <a:r>
              <a:rPr lang="en-US" sz="2101">
                <a:solidFill>
                  <a:srgbClr val="1B2A22"/>
                </a:solidFill>
                <a:latin typeface="Calibri (MS)"/>
                <a:ea typeface="Calibri (MS)"/>
                <a:cs typeface="Calibri (MS)"/>
                <a:sym typeface="Calibri (MS)"/>
              </a:rPr>
              <a:t>flatter (39.5 degrees); electricity 124 W/m2</a:t>
            </a:r>
          </a:p>
          <a:p>
            <a:pPr algn="l">
              <a:lnSpc>
                <a:spcPts val="2521"/>
              </a:lnSpc>
            </a:pPr>
            <a:r>
              <a:rPr lang="en-US" sz="2101" b="true">
                <a:solidFill>
                  <a:srgbClr val="1B2A22"/>
                </a:solidFill>
                <a:latin typeface="Calibri (MS) Bold"/>
                <a:ea typeface="Calibri (MS) Bold"/>
                <a:cs typeface="Calibri (MS) Bold"/>
                <a:sym typeface="Calibri (MS) Bold"/>
              </a:rPr>
              <a:t>•  Real sensors later: </a:t>
            </a:r>
            <a:r>
              <a:rPr lang="en-US" sz="2101">
                <a:solidFill>
                  <a:srgbClr val="1B2A22"/>
                </a:solidFill>
                <a:latin typeface="Calibri (MS)"/>
                <a:ea typeface="Calibri (MS)"/>
                <a:cs typeface="Calibri (MS)"/>
                <a:sym typeface="Calibri (MS)"/>
              </a:rPr>
              <a:t>the serial line takes two extra numbers and replaces the simulated ones</a:t>
            </a:r>
          </a:p>
        </p:txBody>
      </p:sp>
      <p:pic>
        <p:nvPicPr>
          <p:cNvPr name="Picture 13" id="13"/>
          <p:cNvPicPr>
            <a:picLocks noChangeAspect="true"/>
          </p:cNvPicPr>
          <p:nvPr/>
        </p:nvPicPr>
        <p:blipFill>
          <a:blip r:embed="rId5"/>
          <a:stretch>
            <a:fillRect/>
          </a:stretch>
        </p:blipFill>
        <p:spPr>
          <a:xfrm rot="0">
            <a:off x="9272402" y="4536682"/>
            <a:ext cx="8977278" cy="6094666"/>
          </a:xfrm>
          <a:prstGeom prst="rect">
            <a:avLst/>
          </a:prstGeom>
        </p:spPr>
      </p:pic>
      <p:sp>
        <p:nvSpPr>
          <p:cNvPr id="14" name="Rounded Rectangle 13"/>
          <p:cNvSpPr/>
          <p:nvPr/>
        </p:nvSpPr>
        <p:spPr>
          <a:xfrm>
            <a:off x="12755880" y="822959"/>
            <a:ext cx="4663440" cy="466344"/>
          </a:xfrm>
          <a:prstGeom prst="roundRect">
            <a:avLst>
              <a:gd name="adj" fmla="val 6000"/>
            </a:avLst>
          </a:prstGeom>
          <a:solidFill>
            <a:srgbClr val="4E9A2E"/>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PROTOTYPE DEMO  |  20</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Prototype demo: how the tilt angle is chosen</a:t>
              </a:r>
            </a:p>
          </p:txBody>
        </p:sp>
      </p:grpSp>
      <p:sp>
        <p:nvSpPr>
          <p:cNvPr name="TextBox 5" id="5"/>
          <p:cNvSpPr txBox="true"/>
          <p:nvPr/>
        </p:nvSpPr>
        <p:spPr>
          <a:xfrm rot="0">
            <a:off x="869328" y="1389459"/>
            <a:ext cx="16517893" cy="559756"/>
          </a:xfrm>
          <a:prstGeom prst="rect">
            <a:avLst/>
          </a:prstGeom>
        </p:spPr>
        <p:txBody>
          <a:bodyPr anchor="t" rtlCol="false" tIns="0" lIns="0" bIns="0" rIns="0">
            <a:spAutoFit/>
          </a:bodyPr>
          <a:lstStyle/>
          <a:p>
            <a:pPr algn="l">
              <a:lnSpc>
                <a:spcPts val="2882"/>
              </a:lnSpc>
            </a:pPr>
            <a:r>
              <a:rPr lang="en-US" sz="2401">
                <a:solidFill>
                  <a:srgbClr val="5B6B62"/>
                </a:solidFill>
                <a:latin typeface="Calibri (MS)"/>
                <a:ea typeface="Calibri (MS)"/>
                <a:cs typeface="Calibri (MS)"/>
                <a:sym typeface="Calibri (MS)"/>
              </a:rPr>
              <a:t>It tries every angle from 15 to 60 degrees and keeps the one with the best combined score</a:t>
            </a:r>
          </a:p>
        </p:txBody>
      </p:sp>
      <p:grpSp>
        <p:nvGrpSpPr>
          <p:cNvPr name="Group 6" id="6"/>
          <p:cNvGrpSpPr/>
          <p:nvPr/>
        </p:nvGrpSpPr>
        <p:grpSpPr>
          <a:xfrm rot="0">
            <a:off x="823608" y="2114217"/>
            <a:ext cx="16609333" cy="4693939"/>
            <a:chOff x="0" y="0"/>
            <a:chExt cx="22145777" cy="6258585"/>
          </a:xfrm>
        </p:grpSpPr>
        <p:sp>
          <p:nvSpPr>
            <p:cNvPr name="Freeform 7" id="7" descr="explain_top.png"/>
            <p:cNvSpPr/>
            <p:nvPr/>
          </p:nvSpPr>
          <p:spPr>
            <a:xfrm flipH="false" flipV="false" rot="0">
              <a:off x="0" y="0"/>
              <a:ext cx="22145752" cy="6258560"/>
            </a:xfrm>
            <a:custGeom>
              <a:avLst/>
              <a:gdLst/>
              <a:ahLst/>
              <a:cxnLst/>
              <a:rect r="r" b="b" t="t" l="l"/>
              <a:pathLst>
                <a:path h="6258560" w="22145752">
                  <a:moveTo>
                    <a:pt x="0" y="0"/>
                  </a:moveTo>
                  <a:lnTo>
                    <a:pt x="22145752" y="0"/>
                  </a:lnTo>
                  <a:lnTo>
                    <a:pt x="22145752" y="6258560"/>
                  </a:lnTo>
                  <a:lnTo>
                    <a:pt x="0" y="6258560"/>
                  </a:lnTo>
                  <a:lnTo>
                    <a:pt x="0" y="0"/>
                  </a:lnTo>
                  <a:close/>
                </a:path>
              </a:pathLst>
            </a:custGeom>
            <a:blipFill>
              <a:blip r:embed="rId4"/>
              <a:stretch>
                <a:fillRect l="0" t="0" r="0" b="0"/>
              </a:stretch>
            </a:blipFill>
          </p:spPr>
        </p:sp>
      </p:grpSp>
      <p:grpSp>
        <p:nvGrpSpPr>
          <p:cNvPr name="Group 8" id="8"/>
          <p:cNvGrpSpPr/>
          <p:nvPr/>
        </p:nvGrpSpPr>
        <p:grpSpPr>
          <a:xfrm rot="0">
            <a:off x="811692" y="6961261"/>
            <a:ext cx="5445890" cy="2082841"/>
            <a:chOff x="0" y="0"/>
            <a:chExt cx="7261187" cy="2777122"/>
          </a:xfrm>
        </p:grpSpPr>
        <p:sp>
          <p:nvSpPr>
            <p:cNvPr name="Freeform 9" id="9"/>
            <p:cNvSpPr/>
            <p:nvPr/>
          </p:nvSpPr>
          <p:spPr>
            <a:xfrm flipH="false" flipV="false" rot="0">
              <a:off x="0" y="0"/>
              <a:ext cx="7261225" cy="2777109"/>
            </a:xfrm>
            <a:custGeom>
              <a:avLst/>
              <a:gdLst/>
              <a:ahLst/>
              <a:cxnLst/>
              <a:rect r="r" b="b" t="t" l="l"/>
              <a:pathLst>
                <a:path h="2777109" w="7261225">
                  <a:moveTo>
                    <a:pt x="0" y="166624"/>
                  </a:moveTo>
                  <a:cubicBezTo>
                    <a:pt x="0" y="74549"/>
                    <a:pt x="74549" y="0"/>
                    <a:pt x="166624" y="0"/>
                  </a:cubicBezTo>
                  <a:lnTo>
                    <a:pt x="7094601" y="0"/>
                  </a:lnTo>
                  <a:cubicBezTo>
                    <a:pt x="7186676" y="0"/>
                    <a:pt x="7261225" y="74549"/>
                    <a:pt x="7261225" y="166624"/>
                  </a:cubicBezTo>
                  <a:lnTo>
                    <a:pt x="7261225" y="2610485"/>
                  </a:lnTo>
                  <a:cubicBezTo>
                    <a:pt x="7261225" y="2702560"/>
                    <a:pt x="7186676" y="2777109"/>
                    <a:pt x="7094601" y="2777109"/>
                  </a:cubicBezTo>
                  <a:lnTo>
                    <a:pt x="166624" y="2777109"/>
                  </a:lnTo>
                  <a:cubicBezTo>
                    <a:pt x="74549" y="2777109"/>
                    <a:pt x="0" y="2702560"/>
                    <a:pt x="0" y="2610485"/>
                  </a:cubicBezTo>
                  <a:close/>
                </a:path>
              </a:pathLst>
            </a:custGeom>
            <a:solidFill>
              <a:srgbClr val="FFFFFF"/>
            </a:solidFill>
            <a:ln w="23831" cap="sq">
              <a:solidFill>
                <a:srgbClr val="E6EEE0"/>
              </a:solidFill>
              <a:prstDash val="solid"/>
              <a:miter/>
            </a:ln>
          </p:spPr>
        </p:sp>
      </p:grpSp>
      <p:sp>
        <p:nvSpPr>
          <p:cNvPr name="TextBox 10" id="10"/>
          <p:cNvSpPr txBox="true"/>
          <p:nvPr/>
        </p:nvSpPr>
        <p:spPr>
          <a:xfrm rot="0">
            <a:off x="1006592" y="6989959"/>
            <a:ext cx="5056080" cy="395040"/>
          </a:xfrm>
          <a:prstGeom prst="rect">
            <a:avLst/>
          </a:prstGeom>
        </p:spPr>
        <p:txBody>
          <a:bodyPr anchor="t" rtlCol="false" tIns="0" lIns="0" bIns="0" rIns="0">
            <a:spAutoFit/>
          </a:bodyPr>
          <a:lstStyle/>
          <a:p>
            <a:pPr algn="l">
              <a:lnSpc>
                <a:spcPts val="2431"/>
              </a:lnSpc>
            </a:pPr>
            <a:r>
              <a:rPr lang="en-US" sz="2026" b="true">
                <a:solidFill>
                  <a:srgbClr val="14342B"/>
                </a:solidFill>
                <a:latin typeface="Calibri (MS) Bold"/>
                <a:ea typeface="Calibri (MS) Bold"/>
                <a:cs typeface="Calibri (MS) Bold"/>
                <a:sym typeface="Calibri (MS) Bold"/>
              </a:rPr>
              <a:t>Rules first (safety and water)</a:t>
            </a:r>
          </a:p>
        </p:txBody>
      </p:sp>
      <p:sp>
        <p:nvSpPr>
          <p:cNvPr name="TextBox 11" id="11"/>
          <p:cNvSpPr txBox="true"/>
          <p:nvPr/>
        </p:nvSpPr>
        <p:spPr>
          <a:xfrm rot="0">
            <a:off x="1052312" y="7420051"/>
            <a:ext cx="4964640" cy="1593866"/>
          </a:xfrm>
          <a:prstGeom prst="rect">
            <a:avLst/>
          </a:prstGeom>
        </p:spPr>
        <p:txBody>
          <a:bodyPr anchor="t" rtlCol="false" tIns="0" lIns="0" bIns="0" rIns="0">
            <a:spAutoFit/>
          </a:bodyPr>
          <a:lstStyle/>
          <a:p>
            <a:pPr algn="l">
              <a:lnSpc>
                <a:spcPts val="2071"/>
              </a:lnSpc>
            </a:pPr>
            <a:r>
              <a:rPr lang="en-US" sz="1726">
                <a:solidFill>
                  <a:srgbClr val="1B2A22"/>
                </a:solidFill>
                <a:latin typeface="Calibri (MS)"/>
                <a:ea typeface="Calibri (MS)"/>
                <a:cs typeface="Calibri (MS)"/>
                <a:sym typeface="Calibri (MS)"/>
              </a:rPr>
              <a:t>•  Wind 15 m/s or more: panels edge-on (90 degrees)</a:t>
            </a:r>
          </a:p>
          <a:p>
            <a:pPr algn="l">
              <a:lnSpc>
                <a:spcPts val="2071"/>
              </a:lnSpc>
            </a:pPr>
            <a:r>
              <a:rPr lang="en-US" sz="1726">
                <a:solidFill>
                  <a:srgbClr val="1B2A22"/>
                </a:solidFill>
                <a:latin typeface="Calibri (MS)"/>
                <a:ea typeface="Calibri (MS)"/>
                <a:cs typeface="Calibri (MS)"/>
                <a:sym typeface="Calibri (MS)"/>
              </a:rPr>
              <a:t>•  Rain detected: 3 degree slope, rain goes to the tank</a:t>
            </a:r>
          </a:p>
          <a:p>
            <a:pPr algn="l">
              <a:lnSpc>
                <a:spcPts val="2071"/>
              </a:lnSpc>
            </a:pPr>
            <a:r>
              <a:rPr lang="en-US" sz="1726">
                <a:solidFill>
                  <a:srgbClr val="1B2A22"/>
                </a:solidFill>
                <a:latin typeface="Calibri (MS)"/>
                <a:ea typeface="Calibri (MS)"/>
                <a:cs typeface="Calibri (MS)"/>
                <a:sym typeface="Calibri (MS)"/>
              </a:rPr>
              <a:t>•  Night: rest at 15 degrees</a:t>
            </a:r>
          </a:p>
        </p:txBody>
      </p:sp>
      <p:grpSp>
        <p:nvGrpSpPr>
          <p:cNvPr name="Group 12" id="12"/>
          <p:cNvGrpSpPr/>
          <p:nvPr/>
        </p:nvGrpSpPr>
        <p:grpSpPr>
          <a:xfrm rot="0">
            <a:off x="6439643" y="6961261"/>
            <a:ext cx="5445890" cy="2082841"/>
            <a:chOff x="0" y="0"/>
            <a:chExt cx="7261187" cy="2777122"/>
          </a:xfrm>
        </p:grpSpPr>
        <p:sp>
          <p:nvSpPr>
            <p:cNvPr name="Freeform 13" id="13"/>
            <p:cNvSpPr/>
            <p:nvPr/>
          </p:nvSpPr>
          <p:spPr>
            <a:xfrm flipH="false" flipV="false" rot="0">
              <a:off x="0" y="0"/>
              <a:ext cx="7261225" cy="2777109"/>
            </a:xfrm>
            <a:custGeom>
              <a:avLst/>
              <a:gdLst/>
              <a:ahLst/>
              <a:cxnLst/>
              <a:rect r="r" b="b" t="t" l="l"/>
              <a:pathLst>
                <a:path h="2777109" w="7261225">
                  <a:moveTo>
                    <a:pt x="0" y="166624"/>
                  </a:moveTo>
                  <a:cubicBezTo>
                    <a:pt x="0" y="74549"/>
                    <a:pt x="74549" y="0"/>
                    <a:pt x="166624" y="0"/>
                  </a:cubicBezTo>
                  <a:lnTo>
                    <a:pt x="7094601" y="0"/>
                  </a:lnTo>
                  <a:cubicBezTo>
                    <a:pt x="7186676" y="0"/>
                    <a:pt x="7261225" y="74549"/>
                    <a:pt x="7261225" y="166624"/>
                  </a:cubicBezTo>
                  <a:lnTo>
                    <a:pt x="7261225" y="2610485"/>
                  </a:lnTo>
                  <a:cubicBezTo>
                    <a:pt x="7261225" y="2702560"/>
                    <a:pt x="7186676" y="2777109"/>
                    <a:pt x="7094601" y="2777109"/>
                  </a:cubicBezTo>
                  <a:lnTo>
                    <a:pt x="166624" y="2777109"/>
                  </a:lnTo>
                  <a:cubicBezTo>
                    <a:pt x="74549" y="2777109"/>
                    <a:pt x="0" y="2702560"/>
                    <a:pt x="0" y="2610485"/>
                  </a:cubicBezTo>
                  <a:close/>
                </a:path>
              </a:pathLst>
            </a:custGeom>
            <a:solidFill>
              <a:srgbClr val="FFFFFF"/>
            </a:solidFill>
            <a:ln w="23831" cap="sq">
              <a:solidFill>
                <a:srgbClr val="E6EEE0"/>
              </a:solidFill>
              <a:prstDash val="solid"/>
              <a:miter/>
            </a:ln>
          </p:spPr>
        </p:sp>
      </p:grpSp>
      <p:sp>
        <p:nvSpPr>
          <p:cNvPr name="TextBox 14" id="14"/>
          <p:cNvSpPr txBox="true"/>
          <p:nvPr/>
        </p:nvSpPr>
        <p:spPr>
          <a:xfrm rot="0">
            <a:off x="6634544" y="6989959"/>
            <a:ext cx="5056080" cy="395040"/>
          </a:xfrm>
          <a:prstGeom prst="rect">
            <a:avLst/>
          </a:prstGeom>
        </p:spPr>
        <p:txBody>
          <a:bodyPr anchor="t" rtlCol="false" tIns="0" lIns="0" bIns="0" rIns="0">
            <a:spAutoFit/>
          </a:bodyPr>
          <a:lstStyle/>
          <a:p>
            <a:pPr algn="l">
              <a:lnSpc>
                <a:spcPts val="2431"/>
              </a:lnSpc>
            </a:pPr>
            <a:r>
              <a:rPr lang="en-US" sz="2026" b="true">
                <a:solidFill>
                  <a:srgbClr val="14342B"/>
                </a:solidFill>
                <a:latin typeface="Calibri (MS) Bold"/>
                <a:ea typeface="Calibri (MS) Bold"/>
                <a:cs typeface="Calibri (MS) Bold"/>
                <a:sym typeface="Calibri (MS) Bold"/>
              </a:rPr>
              <a:t>Then the search (graph 1)</a:t>
            </a:r>
          </a:p>
        </p:txBody>
      </p:sp>
      <p:sp>
        <p:nvSpPr>
          <p:cNvPr name="TextBox 15" id="15"/>
          <p:cNvSpPr txBox="true"/>
          <p:nvPr/>
        </p:nvSpPr>
        <p:spPr>
          <a:xfrm rot="0">
            <a:off x="6680264" y="7420051"/>
            <a:ext cx="4964640" cy="1593866"/>
          </a:xfrm>
          <a:prstGeom prst="rect">
            <a:avLst/>
          </a:prstGeom>
        </p:spPr>
        <p:txBody>
          <a:bodyPr anchor="t" rtlCol="false" tIns="0" lIns="0" bIns="0" rIns="0">
            <a:spAutoFit/>
          </a:bodyPr>
          <a:lstStyle/>
          <a:p>
            <a:pPr algn="l">
              <a:lnSpc>
                <a:spcPts val="2071"/>
              </a:lnSpc>
            </a:pPr>
            <a:r>
              <a:rPr lang="en-US" sz="1726">
                <a:solidFill>
                  <a:srgbClr val="1B2A22"/>
                </a:solidFill>
                <a:latin typeface="Calibri (MS)"/>
                <a:ea typeface="Calibri (MS)"/>
                <a:cs typeface="Calibri (MS)"/>
                <a:sym typeface="Calibri (MS)"/>
              </a:rPr>
              <a:t>•  Amber line: electricity at each angle</a:t>
            </a:r>
          </a:p>
          <a:p>
            <a:pPr algn="l">
              <a:lnSpc>
                <a:spcPts val="2071"/>
              </a:lnSpc>
            </a:pPr>
            <a:r>
              <a:rPr lang="en-US" sz="1726">
                <a:solidFill>
                  <a:srgbClr val="1B2A22"/>
                </a:solidFill>
                <a:latin typeface="Calibri (MS)"/>
                <a:ea typeface="Calibri (MS)"/>
                <a:cs typeface="Calibri (MS)"/>
                <a:sym typeface="Calibri (MS)"/>
              </a:rPr>
              <a:t>•  Green line: light that reaches the crops</a:t>
            </a:r>
          </a:p>
          <a:p>
            <a:pPr algn="l">
              <a:lnSpc>
                <a:spcPts val="2071"/>
              </a:lnSpc>
            </a:pPr>
            <a:r>
              <a:rPr lang="en-US" sz="1726">
                <a:solidFill>
                  <a:srgbClr val="1B2A22"/>
                </a:solidFill>
                <a:latin typeface="Calibri (MS)"/>
                <a:ea typeface="Calibri (MS)"/>
                <a:cs typeface="Calibri (MS)"/>
                <a:sym typeface="Calibri (MS)"/>
              </a:rPr>
              <a:t>•  Blue line: combined score = 0.5 x electricity + 0.5 x crop light; red star = the angle chosen</a:t>
            </a:r>
          </a:p>
        </p:txBody>
      </p:sp>
      <p:grpSp>
        <p:nvGrpSpPr>
          <p:cNvPr name="Group 16" id="16"/>
          <p:cNvGrpSpPr/>
          <p:nvPr/>
        </p:nvGrpSpPr>
        <p:grpSpPr>
          <a:xfrm rot="0">
            <a:off x="12067604" y="6961261"/>
            <a:ext cx="5445890" cy="2082841"/>
            <a:chOff x="0" y="0"/>
            <a:chExt cx="7261187" cy="2777122"/>
          </a:xfrm>
        </p:grpSpPr>
        <p:sp>
          <p:nvSpPr>
            <p:cNvPr name="Freeform 17" id="17"/>
            <p:cNvSpPr/>
            <p:nvPr/>
          </p:nvSpPr>
          <p:spPr>
            <a:xfrm flipH="false" flipV="false" rot="0">
              <a:off x="0" y="0"/>
              <a:ext cx="7261225" cy="2777109"/>
            </a:xfrm>
            <a:custGeom>
              <a:avLst/>
              <a:gdLst/>
              <a:ahLst/>
              <a:cxnLst/>
              <a:rect r="r" b="b" t="t" l="l"/>
              <a:pathLst>
                <a:path h="2777109" w="7261225">
                  <a:moveTo>
                    <a:pt x="0" y="166624"/>
                  </a:moveTo>
                  <a:cubicBezTo>
                    <a:pt x="0" y="74549"/>
                    <a:pt x="74549" y="0"/>
                    <a:pt x="166624" y="0"/>
                  </a:cubicBezTo>
                  <a:lnTo>
                    <a:pt x="7094601" y="0"/>
                  </a:lnTo>
                  <a:cubicBezTo>
                    <a:pt x="7186676" y="0"/>
                    <a:pt x="7261225" y="74549"/>
                    <a:pt x="7261225" y="166624"/>
                  </a:cubicBezTo>
                  <a:lnTo>
                    <a:pt x="7261225" y="2610485"/>
                  </a:lnTo>
                  <a:cubicBezTo>
                    <a:pt x="7261225" y="2702560"/>
                    <a:pt x="7186676" y="2777109"/>
                    <a:pt x="7094601" y="2777109"/>
                  </a:cubicBezTo>
                  <a:lnTo>
                    <a:pt x="166624" y="2777109"/>
                  </a:lnTo>
                  <a:cubicBezTo>
                    <a:pt x="74549" y="2777109"/>
                    <a:pt x="0" y="2702560"/>
                    <a:pt x="0" y="2610485"/>
                  </a:cubicBezTo>
                  <a:close/>
                </a:path>
              </a:pathLst>
            </a:custGeom>
            <a:solidFill>
              <a:srgbClr val="FFFFFF"/>
            </a:solidFill>
            <a:ln w="23831" cap="sq">
              <a:solidFill>
                <a:srgbClr val="E6EEE0"/>
              </a:solidFill>
              <a:prstDash val="solid"/>
              <a:miter/>
            </a:ln>
          </p:spPr>
        </p:sp>
      </p:grpSp>
      <p:sp>
        <p:nvSpPr>
          <p:cNvPr name="TextBox 18" id="18"/>
          <p:cNvSpPr txBox="true"/>
          <p:nvPr/>
        </p:nvSpPr>
        <p:spPr>
          <a:xfrm rot="0">
            <a:off x="12262504" y="6989959"/>
            <a:ext cx="5056080" cy="395040"/>
          </a:xfrm>
          <a:prstGeom prst="rect">
            <a:avLst/>
          </a:prstGeom>
        </p:spPr>
        <p:txBody>
          <a:bodyPr anchor="t" rtlCol="false" tIns="0" lIns="0" bIns="0" rIns="0">
            <a:spAutoFit/>
          </a:bodyPr>
          <a:lstStyle/>
          <a:p>
            <a:pPr algn="l">
              <a:lnSpc>
                <a:spcPts val="2431"/>
              </a:lnSpc>
            </a:pPr>
            <a:r>
              <a:rPr lang="en-US" sz="2026" b="true">
                <a:solidFill>
                  <a:srgbClr val="14342B"/>
                </a:solidFill>
                <a:latin typeface="Calibri (MS) Bold"/>
                <a:ea typeface="Calibri (MS) Bold"/>
                <a:cs typeface="Calibri (MS) Bold"/>
                <a:sym typeface="Calibri (MS) Bold"/>
              </a:rPr>
              <a:t>Stress changes the need</a:t>
            </a:r>
          </a:p>
        </p:txBody>
      </p:sp>
      <p:sp>
        <p:nvSpPr>
          <p:cNvPr name="TextBox 19" id="19"/>
          <p:cNvSpPr txBox="true"/>
          <p:nvPr/>
        </p:nvSpPr>
        <p:spPr>
          <a:xfrm rot="0">
            <a:off x="12308224" y="7420051"/>
            <a:ext cx="4964640" cy="1593866"/>
          </a:xfrm>
          <a:prstGeom prst="rect">
            <a:avLst/>
          </a:prstGeom>
        </p:spPr>
        <p:txBody>
          <a:bodyPr anchor="t" rtlCol="false" tIns="0" lIns="0" bIns="0" rIns="0">
            <a:spAutoFit/>
          </a:bodyPr>
          <a:lstStyle/>
          <a:p>
            <a:pPr algn="l">
              <a:lnSpc>
                <a:spcPts val="2071"/>
              </a:lnSpc>
            </a:pPr>
            <a:r>
              <a:rPr lang="en-US" sz="1726">
                <a:solidFill>
                  <a:srgbClr val="1B2A22"/>
                </a:solidFill>
                <a:latin typeface="Calibri (MS)"/>
                <a:ea typeface="Calibri (MS)"/>
                <a:cs typeface="Calibri (MS)"/>
                <a:sym typeface="Calibri (MS)"/>
              </a:rPr>
              <a:t>•  Hot, dry air (VPD above 2.5 kPa) or dry soil: crops need less light</a:t>
            </a:r>
          </a:p>
          <a:p>
            <a:pPr algn="l">
              <a:lnSpc>
                <a:spcPts val="2071"/>
              </a:lnSpc>
            </a:pPr>
            <a:r>
              <a:rPr lang="en-US" sz="1726">
                <a:solidFill>
                  <a:srgbClr val="1B2A22"/>
                </a:solidFill>
                <a:latin typeface="Calibri (MS)"/>
                <a:ea typeface="Calibri (MS)"/>
                <a:cs typeface="Calibri (MS)"/>
                <a:sym typeface="Calibri (MS)"/>
              </a:rPr>
              <a:t>•  The panels can then shade more and make more electricity</a:t>
            </a:r>
          </a:p>
          <a:p>
            <a:pPr algn="l">
              <a:lnSpc>
                <a:spcPts val="2071"/>
              </a:lnSpc>
            </a:pPr>
            <a:r>
              <a:rPr lang="en-US" sz="1726">
                <a:solidFill>
                  <a:srgbClr val="1B2A22"/>
                </a:solidFill>
                <a:latin typeface="Calibri (MS)"/>
                <a:ea typeface="Calibri (MS)"/>
                <a:cs typeface="Calibri (MS)"/>
                <a:sym typeface="Calibri (MS)"/>
              </a:rPr>
              <a:t>•  Dry soil: pump on below 35 %, off at 55 %</a:t>
            </a:r>
          </a:p>
        </p:txBody>
      </p:sp>
      <p:grpSp>
        <p:nvGrpSpPr>
          <p:cNvPr name="Group 20" id="20"/>
          <p:cNvGrpSpPr/>
          <p:nvPr/>
        </p:nvGrpSpPr>
        <p:grpSpPr>
          <a:xfrm rot="0">
            <a:off x="811692" y="9075172"/>
            <a:ext cx="16633165" cy="1121969"/>
            <a:chOff x="0" y="0"/>
            <a:chExt cx="22177553" cy="1495958"/>
          </a:xfrm>
        </p:grpSpPr>
        <p:sp>
          <p:nvSpPr>
            <p:cNvPr name="Freeform 21" id="21"/>
            <p:cNvSpPr/>
            <p:nvPr/>
          </p:nvSpPr>
          <p:spPr>
            <a:xfrm flipH="false" flipV="false" rot="0">
              <a:off x="0" y="0"/>
              <a:ext cx="22177629" cy="1495933"/>
            </a:xfrm>
            <a:custGeom>
              <a:avLst/>
              <a:gdLst/>
              <a:ahLst/>
              <a:cxnLst/>
              <a:rect r="r" b="b" t="t" l="l"/>
              <a:pathLst>
                <a:path h="1495933" w="22177629">
                  <a:moveTo>
                    <a:pt x="0" y="89789"/>
                  </a:moveTo>
                  <a:cubicBezTo>
                    <a:pt x="0" y="40132"/>
                    <a:pt x="40132" y="0"/>
                    <a:pt x="89789" y="0"/>
                  </a:cubicBezTo>
                  <a:lnTo>
                    <a:pt x="22087839" y="0"/>
                  </a:lnTo>
                  <a:cubicBezTo>
                    <a:pt x="22137370" y="0"/>
                    <a:pt x="22177629" y="40132"/>
                    <a:pt x="22177629" y="89789"/>
                  </a:cubicBezTo>
                  <a:lnTo>
                    <a:pt x="22177629" y="1406144"/>
                  </a:lnTo>
                  <a:cubicBezTo>
                    <a:pt x="22177629" y="1455674"/>
                    <a:pt x="22137497" y="1495933"/>
                    <a:pt x="22087839" y="1495933"/>
                  </a:cubicBezTo>
                  <a:lnTo>
                    <a:pt x="89789" y="1495933"/>
                  </a:lnTo>
                  <a:cubicBezTo>
                    <a:pt x="40259" y="1495933"/>
                    <a:pt x="0" y="1455801"/>
                    <a:pt x="0" y="1406144"/>
                  </a:cubicBezTo>
                  <a:close/>
                </a:path>
              </a:pathLst>
            </a:custGeom>
            <a:solidFill>
              <a:srgbClr val="FFF6DC"/>
            </a:solidFill>
            <a:ln w="23831" cap="sq">
              <a:solidFill>
                <a:srgbClr val="E8A317"/>
              </a:solidFill>
              <a:prstDash val="solid"/>
              <a:miter/>
            </a:ln>
          </p:spPr>
        </p:sp>
      </p:grpSp>
      <p:sp>
        <p:nvSpPr>
          <p:cNvPr name="TextBox 22" id="22"/>
          <p:cNvSpPr txBox="true"/>
          <p:nvPr/>
        </p:nvSpPr>
        <p:spPr>
          <a:xfrm rot="0">
            <a:off x="1034044" y="9158783"/>
            <a:ext cx="16188452" cy="395040"/>
          </a:xfrm>
          <a:prstGeom prst="rect">
            <a:avLst/>
          </a:prstGeom>
        </p:spPr>
        <p:txBody>
          <a:bodyPr anchor="t" rtlCol="false" tIns="0" lIns="0" bIns="0" rIns="0">
            <a:spAutoFit/>
          </a:bodyPr>
          <a:lstStyle/>
          <a:p>
            <a:pPr algn="l">
              <a:lnSpc>
                <a:spcPts val="2251"/>
              </a:lnSpc>
            </a:pPr>
            <a:r>
              <a:rPr lang="en-US" sz="1876" b="true">
                <a:solidFill>
                  <a:srgbClr val="8A5A00"/>
                </a:solidFill>
                <a:latin typeface="Calibri (MS) Bold"/>
                <a:ea typeface="Calibri (MS) Bold"/>
                <a:cs typeface="Calibri (MS) Bold"/>
                <a:sym typeface="Calibri (MS) Bold"/>
              </a:rPr>
              <a:t>PROOF</a:t>
            </a:r>
          </a:p>
        </p:txBody>
      </p:sp>
      <p:sp>
        <p:nvSpPr>
          <p:cNvPr name="TextBox 23" id="23"/>
          <p:cNvSpPr txBox="true"/>
          <p:nvPr/>
        </p:nvSpPr>
        <p:spPr>
          <a:xfrm rot="0">
            <a:off x="1079764" y="9635376"/>
            <a:ext cx="16097012" cy="449228"/>
          </a:xfrm>
          <a:prstGeom prst="rect">
            <a:avLst/>
          </a:prstGeom>
        </p:spPr>
        <p:txBody>
          <a:bodyPr anchor="t" rtlCol="false" tIns="0" lIns="0" bIns="0" rIns="0">
            <a:spAutoFit/>
          </a:bodyPr>
          <a:lstStyle/>
          <a:p>
            <a:pPr algn="l">
              <a:lnSpc>
                <a:spcPts val="1891"/>
              </a:lnSpc>
            </a:pPr>
            <a:r>
              <a:rPr lang="en-US" sz="1576">
                <a:solidFill>
                  <a:srgbClr val="1B2A22"/>
                </a:solidFill>
                <a:latin typeface="Calibri (MS)"/>
                <a:ea typeface="Calibri (MS)"/>
                <a:cs typeface="Calibri (MS)"/>
                <a:sym typeface="Calibri (MS)"/>
              </a:rPr>
              <a:t>•  Accuracy point A: the chosen angle is compared with a full search of every 0.5 degree step. Clear noon: difference 0.0 degrees. Worst case tested: 3 degrees, with the score within 0.02 % (a flat top).  Light and shadow come from the same equations checked against Blender 3-D ray tracing (mean difference 0.010).</a:t>
            </a:r>
          </a:p>
        </p:txBody>
      </p:sp>
      <p:sp>
        <p:nvSpPr>
          <p:cNvPr id="24" name="Rounded Rectangle 23"/>
          <p:cNvSpPr/>
          <p:nvPr/>
        </p:nvSpPr>
        <p:spPr>
          <a:xfrm>
            <a:off x="12755880" y="822959"/>
            <a:ext cx="4663440" cy="466344"/>
          </a:xfrm>
          <a:prstGeom prst="roundRect">
            <a:avLst>
              <a:gd name="adj" fmla="val 6000"/>
            </a:avLst>
          </a:prstGeom>
          <a:solidFill>
            <a:srgbClr val="4E9A2E"/>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PROTOTYPE DEMO  |  20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0"/>
              <a:ext cx="22145777" cy="1372667"/>
            </a:xfrm>
            <a:prstGeom prst="rect">
              <a:avLst/>
            </a:prstGeom>
          </p:spPr>
          <p:txBody>
            <a:bodyPr anchor="ctr" rtlCol="false" tIns="0" lIns="0" bIns="0" rIns="0"/>
            <a:lstStyle/>
            <a:p>
              <a:pPr algn="l">
                <a:lnSpc>
                  <a:spcPts val="4683"/>
                </a:lnSpc>
              </a:pPr>
              <a:r>
                <a:rPr lang="en-US" sz="3903" b="true">
                  <a:solidFill>
                    <a:srgbClr val="14342B"/>
                  </a:solidFill>
                  <a:latin typeface="Cambria Bold"/>
                  <a:ea typeface="Cambria Bold"/>
                  <a:cs typeface="Cambria Bold"/>
                  <a:sym typeface="Cambria Bold"/>
                </a:rPr>
                <a:t>Validation: electricity and crop light together</a:t>
              </a:r>
            </a:p>
          </p:txBody>
        </p:sp>
      </p:grpSp>
      <p:sp>
        <p:nvSpPr>
          <p:cNvPr name="TextBox 5" id="5"/>
          <p:cNvSpPr txBox="true"/>
          <p:nvPr/>
        </p:nvSpPr>
        <p:spPr>
          <a:xfrm rot="0">
            <a:off x="869328" y="1389459"/>
            <a:ext cx="16517893" cy="559756"/>
          </a:xfrm>
          <a:prstGeom prst="rect">
            <a:avLst/>
          </a:prstGeom>
        </p:spPr>
        <p:txBody>
          <a:bodyPr anchor="t" rtlCol="false" tIns="0" lIns="0" bIns="0" rIns="0">
            <a:spAutoFit/>
          </a:bodyPr>
          <a:lstStyle/>
          <a:p>
            <a:pPr algn="l">
              <a:lnSpc>
                <a:spcPts val="2882"/>
              </a:lnSpc>
            </a:pPr>
            <a:r>
              <a:rPr lang="en-US" sz="2401">
                <a:solidFill>
                  <a:srgbClr val="5B6B62"/>
                </a:solidFill>
                <a:latin typeface="Calibri (MS)"/>
                <a:ea typeface="Calibri (MS)"/>
                <a:cs typeface="Calibri (MS)"/>
                <a:sym typeface="Calibri (MS)"/>
              </a:rPr>
              <a:t>Each bar is a percentage of the best way for that quantity; simulated day, 6 to 18 h</a:t>
            </a:r>
          </a:p>
        </p:txBody>
      </p:sp>
      <p:pic>
        <p:nvPicPr>
          <p:cNvPr name="Picture 6" id="6"/>
          <p:cNvPicPr>
            <a:picLocks noChangeAspect="true"/>
          </p:cNvPicPr>
          <p:nvPr/>
        </p:nvPicPr>
        <p:blipFill>
          <a:blip r:embed="rId4"/>
          <a:stretch>
            <a:fillRect/>
          </a:stretch>
        </p:blipFill>
        <p:spPr>
          <a:xfrm rot="0">
            <a:off x="-192175" y="1043231"/>
            <a:ext cx="12189331" cy="7522245"/>
          </a:xfrm>
          <a:prstGeom prst="rect">
            <a:avLst/>
          </a:prstGeom>
        </p:spPr>
      </p:pic>
      <p:grpSp>
        <p:nvGrpSpPr>
          <p:cNvPr name="Group 7" id="7"/>
          <p:cNvGrpSpPr/>
          <p:nvPr/>
        </p:nvGrpSpPr>
        <p:grpSpPr>
          <a:xfrm rot="0">
            <a:off x="11381270" y="2047094"/>
            <a:ext cx="6132224" cy="5514518"/>
            <a:chOff x="0" y="0"/>
            <a:chExt cx="8176298" cy="7352690"/>
          </a:xfrm>
        </p:grpSpPr>
        <p:sp>
          <p:nvSpPr>
            <p:cNvPr name="Freeform 8" id="8"/>
            <p:cNvSpPr/>
            <p:nvPr/>
          </p:nvSpPr>
          <p:spPr>
            <a:xfrm flipH="false" flipV="false" rot="0">
              <a:off x="0" y="0"/>
              <a:ext cx="8176387" cy="7352792"/>
            </a:xfrm>
            <a:custGeom>
              <a:avLst/>
              <a:gdLst/>
              <a:ahLst/>
              <a:cxnLst/>
              <a:rect r="r" b="b" t="t" l="l"/>
              <a:pathLst>
                <a:path h="7352792" w="8176387">
                  <a:moveTo>
                    <a:pt x="0" y="441198"/>
                  </a:moveTo>
                  <a:cubicBezTo>
                    <a:pt x="0" y="197485"/>
                    <a:pt x="197485" y="0"/>
                    <a:pt x="441198" y="0"/>
                  </a:cubicBezTo>
                  <a:lnTo>
                    <a:pt x="7735189" y="0"/>
                  </a:lnTo>
                  <a:cubicBezTo>
                    <a:pt x="7978775" y="0"/>
                    <a:pt x="8176387" y="197485"/>
                    <a:pt x="8176387" y="441198"/>
                  </a:cubicBezTo>
                  <a:lnTo>
                    <a:pt x="8176387" y="6911594"/>
                  </a:lnTo>
                  <a:cubicBezTo>
                    <a:pt x="8176387" y="7155180"/>
                    <a:pt x="7978902" y="7352792"/>
                    <a:pt x="7735189" y="7352792"/>
                  </a:cubicBezTo>
                  <a:lnTo>
                    <a:pt x="441198" y="7352792"/>
                  </a:lnTo>
                  <a:cubicBezTo>
                    <a:pt x="197485" y="7352665"/>
                    <a:pt x="0" y="7155180"/>
                    <a:pt x="0" y="6911594"/>
                  </a:cubicBezTo>
                  <a:close/>
                </a:path>
              </a:pathLst>
            </a:custGeom>
            <a:solidFill>
              <a:srgbClr val="FFFFFF"/>
            </a:solidFill>
            <a:ln w="23831" cap="sq">
              <a:solidFill>
                <a:srgbClr val="E6EEE0"/>
              </a:solidFill>
              <a:prstDash val="solid"/>
              <a:miter/>
            </a:ln>
          </p:spPr>
        </p:sp>
      </p:grpSp>
      <p:sp>
        <p:nvSpPr>
          <p:cNvPr name="TextBox 9" id="9"/>
          <p:cNvSpPr txBox="true"/>
          <p:nvPr/>
        </p:nvSpPr>
        <p:spPr>
          <a:xfrm rot="0">
            <a:off x="11644798" y="2107454"/>
            <a:ext cx="5673785" cy="541830"/>
          </a:xfrm>
          <a:prstGeom prst="rect">
            <a:avLst/>
          </a:prstGeom>
        </p:spPr>
        <p:txBody>
          <a:bodyPr anchor="t" rtlCol="false" tIns="0" lIns="0" bIns="0" rIns="0">
            <a:spAutoFit/>
          </a:bodyPr>
          <a:lstStyle/>
          <a:p>
            <a:pPr algn="l">
              <a:lnSpc>
                <a:spcPts val="3062"/>
              </a:lnSpc>
            </a:pPr>
            <a:r>
              <a:rPr lang="en-US" sz="2551" b="true">
                <a:solidFill>
                  <a:srgbClr val="14342B"/>
                </a:solidFill>
                <a:latin typeface="Calibri (MS) Bold"/>
                <a:ea typeface="Calibri (MS) Bold"/>
                <a:cs typeface="Calibri (MS) Bold"/>
                <a:sym typeface="Calibri (MS) Bold"/>
              </a:rPr>
              <a:t>In simple words</a:t>
            </a:r>
          </a:p>
        </p:txBody>
      </p:sp>
      <p:sp>
        <p:nvSpPr>
          <p:cNvPr name="TextBox 10" id="10"/>
          <p:cNvSpPr txBox="true"/>
          <p:nvPr/>
        </p:nvSpPr>
        <p:spPr>
          <a:xfrm rot="0">
            <a:off x="11690518" y="2743438"/>
            <a:ext cx="5582345" cy="4760538"/>
          </a:xfrm>
          <a:prstGeom prst="rect">
            <a:avLst/>
          </a:prstGeom>
        </p:spPr>
        <p:txBody>
          <a:bodyPr anchor="t" rtlCol="false" tIns="0" lIns="0" bIns="0" rIns="0">
            <a:spAutoFit/>
          </a:bodyPr>
          <a:lstStyle/>
          <a:p>
            <a:pPr algn="l">
              <a:lnSpc>
                <a:spcPts val="2521"/>
              </a:lnSpc>
            </a:pPr>
            <a:r>
              <a:rPr lang="en-US" sz="2101" b="true">
                <a:solidFill>
                  <a:srgbClr val="1B2A22"/>
                </a:solidFill>
                <a:latin typeface="Calibri (MS) Bold"/>
                <a:ea typeface="Calibri (MS) Bold"/>
                <a:cs typeface="Calibri (MS) Bold"/>
                <a:sym typeface="Calibri (MS) Bold"/>
              </a:rPr>
              <a:t>•  Sun tracking: </a:t>
            </a:r>
            <a:r>
              <a:rPr lang="en-US" sz="2101">
                <a:solidFill>
                  <a:srgbClr val="1B2A22"/>
                </a:solidFill>
                <a:latin typeface="Calibri (MS)"/>
                <a:ea typeface="Calibri (MS)"/>
                <a:cs typeface="Calibri (MS)"/>
                <a:sym typeface="Calibri (MS)"/>
              </a:rPr>
              <a:t>most electricity, but the crops get only 27 % of the light they need.</a:t>
            </a:r>
          </a:p>
          <a:p>
            <a:pPr algn="l">
              <a:lnSpc>
                <a:spcPts val="2521"/>
              </a:lnSpc>
            </a:pPr>
            <a:r>
              <a:rPr lang="en-US" sz="2101" b="true">
                <a:solidFill>
                  <a:srgbClr val="1B2A22"/>
                </a:solidFill>
                <a:latin typeface="Calibri (MS) Bold"/>
                <a:ea typeface="Calibri (MS) Bold"/>
                <a:cs typeface="Calibri (MS) Bold"/>
                <a:sym typeface="Calibri (MS) Bold"/>
              </a:rPr>
              <a:t>•  Fixed 45 degrees: </a:t>
            </a:r>
            <a:r>
              <a:rPr lang="en-US" sz="2101">
                <a:solidFill>
                  <a:srgbClr val="1B2A22"/>
                </a:solidFill>
                <a:latin typeface="Calibri (MS)"/>
                <a:ea typeface="Calibri (MS)"/>
                <a:cs typeface="Calibri (MS)"/>
                <a:sym typeface="Calibri (MS)"/>
              </a:rPr>
              <a:t>crops fine, electricity 74 % of best.</a:t>
            </a:r>
          </a:p>
          <a:p>
            <a:pPr algn="l">
              <a:lnSpc>
                <a:spcPts val="2521"/>
              </a:lnSpc>
            </a:pPr>
            <a:r>
              <a:rPr lang="en-US" sz="2101" b="true">
                <a:solidFill>
                  <a:srgbClr val="1B2A22"/>
                </a:solidFill>
                <a:latin typeface="Calibri (MS) Bold"/>
                <a:ea typeface="Calibri (MS) Bold"/>
                <a:cs typeface="Calibri (MS) Bold"/>
                <a:sym typeface="Calibri (MS) Bold"/>
              </a:rPr>
              <a:t>•  SRMC controller: </a:t>
            </a:r>
            <a:r>
              <a:rPr lang="en-US" sz="2101">
                <a:solidFill>
                  <a:srgbClr val="1B2A22"/>
                </a:solidFill>
                <a:latin typeface="Calibri (MS)"/>
                <a:ea typeface="Calibri (MS)"/>
                <a:cs typeface="Calibri (MS)"/>
                <a:sym typeface="Calibri (MS)"/>
              </a:rPr>
              <a:t>75 % of the best electricity and 89 % of the best crop light.</a:t>
            </a:r>
          </a:p>
          <a:p>
            <a:pPr algn="l">
              <a:lnSpc>
                <a:spcPts val="2521"/>
              </a:lnSpc>
            </a:pPr>
            <a:r>
              <a:rPr lang="en-US" sz="2101" b="true">
                <a:solidFill>
                  <a:srgbClr val="1B2A22"/>
                </a:solidFill>
                <a:latin typeface="Calibri (MS) Bold"/>
                <a:ea typeface="Calibri (MS) Bold"/>
                <a:cs typeface="Calibri (MS) Bold"/>
                <a:sym typeface="Calibri (MS) Bold"/>
              </a:rPr>
              <a:t>•  Against fixed 45 degrees: </a:t>
            </a:r>
            <a:r>
              <a:rPr lang="en-US" sz="2101">
                <a:solidFill>
                  <a:srgbClr val="1B2A22"/>
                </a:solidFill>
                <a:latin typeface="Calibri (MS)"/>
                <a:ea typeface="Calibri (MS)"/>
                <a:cs typeface="Calibri (MS)"/>
                <a:sym typeface="Calibri (MS)"/>
              </a:rPr>
              <a:t>electricity +2.5 %, crop light +9.7 %.</a:t>
            </a:r>
          </a:p>
        </p:txBody>
      </p:sp>
      <p:graphicFrame>
        <p:nvGraphicFramePr>
          <p:cNvPr name="Table 11" id="11"/>
          <p:cNvGraphicFramePr>
            <a:graphicFrameLocks noGrp="true"/>
          </p:cNvGraphicFramePr>
          <p:nvPr/>
        </p:nvGraphicFramePr>
        <p:xfrm>
          <a:off x="823603" y="7755599"/>
          <a:ext cx="10142524" cy="1429867"/>
        </p:xfrm>
        <a:graphic>
          <a:graphicData uri="http://schemas.openxmlformats.org/drawingml/2006/table">
            <a:tbl>
              <a:tblPr/>
              <a:tblGrid>
                <a:gridCol w="4660079"/>
                <a:gridCol w="2741223"/>
                <a:gridCol w="2741223"/>
              </a:tblGrid>
              <a:tr h="476622">
                <a:tc>
                  <a:txBody>
                    <a:bodyPr anchor="t" rtlCol="false"/>
                    <a:lstStyle/>
                    <a:p>
                      <a:pPr algn="l">
                        <a:lnSpc>
                          <a:spcPts val="2251"/>
                        </a:lnSpc>
                        <a:defRPr/>
                      </a:pPr>
                      <a:r>
                        <a:rPr lang="en-US" sz="1876" b="true">
                          <a:solidFill>
                            <a:srgbClr val="FFFFFF"/>
                          </a:solidFill>
                          <a:latin typeface="Calibri (MS) Bold"/>
                          <a:ea typeface="Calibri (MS) Bold"/>
                          <a:cs typeface="Calibri (MS) Bold"/>
                          <a:sym typeface="Calibri (MS) Bold"/>
                        </a:rPr>
                        <a:t>Other days (same controller)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876" b="true">
                          <a:solidFill>
                            <a:srgbClr val="FFFFFF"/>
                          </a:solidFill>
                          <a:latin typeface="Calibri (MS) Bold"/>
                          <a:ea typeface="Calibri (MS) Bold"/>
                          <a:cs typeface="Calibri (MS) Bold"/>
                          <a:sym typeface="Calibri (MS) Bold"/>
                        </a:rPr>
                        <a:t>Electricity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876" b="true">
                          <a:solidFill>
                            <a:srgbClr val="FFFFFF"/>
                          </a:solidFill>
                          <a:latin typeface="Calibri (MS) Bold"/>
                          <a:ea typeface="Calibri (MS) Bold"/>
                          <a:cs typeface="Calibri (MS) Bold"/>
                          <a:sym typeface="Calibri (MS) Bold"/>
                        </a:rPr>
                        <a:t>Crop light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r>
              <a:tr h="476622">
                <a:tc>
                  <a:txBody>
                    <a:bodyPr anchor="t" rtlCol="false"/>
                    <a:lstStyle/>
                    <a:p>
                      <a:pPr algn="l">
                        <a:lnSpc>
                          <a:spcPts val="2251"/>
                        </a:lnSpc>
                        <a:defRPr/>
                      </a:pPr>
                      <a:r>
                        <a:rPr lang="en-US" sz="1876" b="true">
                          <a:solidFill>
                            <a:srgbClr val="1B2A22"/>
                          </a:solidFill>
                          <a:latin typeface="Calibri (MS) Bold"/>
                          <a:ea typeface="Calibri (MS) Bold"/>
                          <a:cs typeface="Calibri (MS) Bold"/>
                          <a:sym typeface="Calibri (MS) Bold"/>
                        </a:rPr>
                        <a:t>Partly cloudy day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78 % of best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97 % of best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76622">
                <a:tc>
                  <a:txBody>
                    <a:bodyPr anchor="t" rtlCol="false"/>
                    <a:lstStyle/>
                    <a:p>
                      <a:pPr algn="l">
                        <a:lnSpc>
                          <a:spcPts val="2251"/>
                        </a:lnSpc>
                        <a:defRPr/>
                      </a:pPr>
                      <a:r>
                        <a:rPr lang="en-US" sz="1876" b="true">
                          <a:solidFill>
                            <a:srgbClr val="1B2A22"/>
                          </a:solidFill>
                          <a:latin typeface="Calibri (MS) Bold"/>
                          <a:ea typeface="Calibri (MS) Bold"/>
                          <a:cs typeface="Calibri (MS) Bold"/>
                          <a:sym typeface="Calibri (MS) Bold"/>
                        </a:rPr>
                        <a:t>Hot, dry day (plant stress)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79 % of best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876">
                          <a:solidFill>
                            <a:srgbClr val="1B2A22"/>
                          </a:solidFill>
                          <a:latin typeface="Calibri (MS)"/>
                          <a:ea typeface="Calibri (MS)"/>
                          <a:cs typeface="Calibri (MS)"/>
                          <a:sym typeface="Calibri (MS)"/>
                        </a:rPr>
                        <a:t>88 % of best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bl>
          </a:graphicData>
        </a:graphic>
      </p:graphicFrame>
      <p:grpSp>
        <p:nvGrpSpPr>
          <p:cNvPr name="Group 12" id="12"/>
          <p:cNvGrpSpPr/>
          <p:nvPr/>
        </p:nvGrpSpPr>
        <p:grpSpPr>
          <a:xfrm rot="0">
            <a:off x="11381270" y="7743682"/>
            <a:ext cx="6132224" cy="2220106"/>
            <a:chOff x="0" y="0"/>
            <a:chExt cx="8176298" cy="2960141"/>
          </a:xfrm>
        </p:grpSpPr>
        <p:sp>
          <p:nvSpPr>
            <p:cNvPr name="Freeform 13" id="13"/>
            <p:cNvSpPr/>
            <p:nvPr/>
          </p:nvSpPr>
          <p:spPr>
            <a:xfrm flipH="false" flipV="false" rot="0">
              <a:off x="0" y="0"/>
              <a:ext cx="8176260" cy="2960116"/>
            </a:xfrm>
            <a:custGeom>
              <a:avLst/>
              <a:gdLst/>
              <a:ahLst/>
              <a:cxnLst/>
              <a:rect r="r" b="b" t="t" l="l"/>
              <a:pathLst>
                <a:path h="2960116" w="8176260">
                  <a:moveTo>
                    <a:pt x="0" y="177546"/>
                  </a:moveTo>
                  <a:cubicBezTo>
                    <a:pt x="0" y="79502"/>
                    <a:pt x="79502" y="0"/>
                    <a:pt x="177546" y="0"/>
                  </a:cubicBezTo>
                  <a:lnTo>
                    <a:pt x="7998714" y="0"/>
                  </a:lnTo>
                  <a:cubicBezTo>
                    <a:pt x="8096758" y="0"/>
                    <a:pt x="8176260" y="79502"/>
                    <a:pt x="8176260" y="177546"/>
                  </a:cubicBezTo>
                  <a:lnTo>
                    <a:pt x="8176260" y="2782570"/>
                  </a:lnTo>
                  <a:cubicBezTo>
                    <a:pt x="8176260" y="2880614"/>
                    <a:pt x="8096758" y="2960116"/>
                    <a:pt x="7998714" y="2960116"/>
                  </a:cubicBezTo>
                  <a:lnTo>
                    <a:pt x="177546" y="2960116"/>
                  </a:lnTo>
                  <a:cubicBezTo>
                    <a:pt x="79502" y="2960116"/>
                    <a:pt x="0" y="2880614"/>
                    <a:pt x="0" y="2782570"/>
                  </a:cubicBezTo>
                  <a:close/>
                </a:path>
              </a:pathLst>
            </a:custGeom>
            <a:solidFill>
              <a:srgbClr val="FFF6DC"/>
            </a:solidFill>
            <a:ln w="23831" cap="sq">
              <a:solidFill>
                <a:srgbClr val="E8A317"/>
              </a:solidFill>
              <a:prstDash val="solid"/>
              <a:miter/>
            </a:ln>
          </p:spPr>
        </p:sp>
      </p:grpSp>
      <p:sp>
        <p:nvSpPr>
          <p:cNvPr name="TextBox 14" id="14"/>
          <p:cNvSpPr txBox="true"/>
          <p:nvPr/>
        </p:nvSpPr>
        <p:spPr>
          <a:xfrm rot="0">
            <a:off x="11603622" y="7827293"/>
            <a:ext cx="5687511" cy="395040"/>
          </a:xfrm>
          <a:prstGeom prst="rect">
            <a:avLst/>
          </a:prstGeom>
        </p:spPr>
        <p:txBody>
          <a:bodyPr anchor="t" rtlCol="false" tIns="0" lIns="0" bIns="0" rIns="0">
            <a:spAutoFit/>
          </a:bodyPr>
          <a:lstStyle/>
          <a:p>
            <a:pPr algn="l">
              <a:lnSpc>
                <a:spcPts val="2251"/>
              </a:lnSpc>
            </a:pPr>
            <a:r>
              <a:rPr lang="en-US" sz="1876" b="true">
                <a:solidFill>
                  <a:srgbClr val="8A5A00"/>
                </a:solidFill>
                <a:latin typeface="Calibri (MS) Bold"/>
                <a:ea typeface="Calibri (MS) Bold"/>
                <a:cs typeface="Calibri (MS) Bold"/>
                <a:sym typeface="Calibri (MS) Bold"/>
              </a:rPr>
              <a:t>PROOF: how it works and where it comes from</a:t>
            </a:r>
          </a:p>
        </p:txBody>
      </p:sp>
      <p:sp>
        <p:nvSpPr>
          <p:cNvPr name="TextBox 15" id="15"/>
          <p:cNvSpPr txBox="true"/>
          <p:nvPr/>
        </p:nvSpPr>
        <p:spPr>
          <a:xfrm rot="0">
            <a:off x="11649342" y="8284835"/>
            <a:ext cx="5596071" cy="1566415"/>
          </a:xfrm>
          <a:prstGeom prst="rect">
            <a:avLst/>
          </a:prstGeom>
        </p:spPr>
        <p:txBody>
          <a:bodyPr anchor="t" rtlCol="false" tIns="0" lIns="0" bIns="0" rIns="0">
            <a:spAutoFit/>
          </a:bodyPr>
          <a:lstStyle/>
          <a:p>
            <a:pPr algn="l">
              <a:lnSpc>
                <a:spcPts val="2071"/>
              </a:lnSpc>
            </a:pPr>
            <a:r>
              <a:rPr lang="en-US" sz="1726">
                <a:solidFill>
                  <a:srgbClr val="1B2A22"/>
                </a:solidFill>
                <a:latin typeface="Calibri (MS)"/>
                <a:ea typeface="Calibri (MS)"/>
                <a:cs typeface="Calibri (MS)"/>
                <a:sym typeface="Calibri (MS)"/>
              </a:rPr>
              <a:t>•  Simulated day same functions as the dashboard</a:t>
            </a:r>
          </a:p>
          <a:p>
            <a:pPr algn="l">
              <a:lnSpc>
                <a:spcPts val="2071"/>
              </a:lnSpc>
            </a:pPr>
            <a:r>
              <a:rPr lang="en-US" sz="1726">
                <a:solidFill>
                  <a:srgbClr val="1B2A22"/>
                </a:solidFill>
                <a:latin typeface="Calibri (MS)"/>
                <a:ea typeface="Calibri (MS)"/>
                <a:cs typeface="Calibri (MS)"/>
                <a:sym typeface="Calibri (MS)"/>
              </a:rPr>
              <a:t>•  Sun tracking is only a reference: our panels have two positions</a:t>
            </a:r>
          </a:p>
          <a:p>
            <a:pPr algn="l">
              <a:lnSpc>
                <a:spcPts val="2071"/>
              </a:lnSpc>
            </a:pPr>
            <a:r>
              <a:rPr lang="en-US" sz="1726">
                <a:solidFill>
                  <a:srgbClr val="1B2A22"/>
                </a:solidFill>
                <a:latin typeface="Calibri (MS)"/>
                <a:ea typeface="Calibri (MS)"/>
                <a:cs typeface="Calibri (MS)"/>
                <a:sym typeface="Calibri (MS)"/>
              </a:rPr>
              <a:t>•  Files: results/day_comparison.csv, fig_energy_vs_crop_clear_day.png</a:t>
            </a:r>
          </a:p>
        </p:txBody>
      </p:sp>
      <p:sp>
        <p:nvSpPr>
          <p:cNvPr id="16" name="Rounded Rectangle 15"/>
          <p:cNvSpPr/>
          <p:nvPr/>
        </p:nvSpPr>
        <p:spPr>
          <a:xfrm>
            <a:off x="12755880" y="822959"/>
            <a:ext cx="4663440" cy="466344"/>
          </a:xfrm>
          <a:prstGeom prst="roundRect">
            <a:avLst>
              <a:gd name="adj" fmla="val 6000"/>
            </a:avLst>
          </a:prstGeom>
          <a:solidFill>
            <a:srgbClr val="E8A317"/>
          </a:solidFill>
          <a:ln>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VALIDATION  |  10</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Prototype demo: MPPT at maximum power</a:t>
              </a:r>
            </a:p>
          </p:txBody>
        </p:sp>
      </p:grpSp>
      <p:sp>
        <p:nvSpPr>
          <p:cNvPr name="TextBox 5" id="5"/>
          <p:cNvSpPr txBox="true"/>
          <p:nvPr/>
        </p:nvSpPr>
        <p:spPr>
          <a:xfrm rot="0">
            <a:off x="869328" y="1389459"/>
            <a:ext cx="16517893" cy="559756"/>
          </a:xfrm>
          <a:prstGeom prst="rect">
            <a:avLst/>
          </a:prstGeom>
        </p:spPr>
        <p:txBody>
          <a:bodyPr anchor="t" rtlCol="false" tIns="0" lIns="0" bIns="0" rIns="0">
            <a:spAutoFit/>
          </a:bodyPr>
          <a:lstStyle/>
          <a:p>
            <a:pPr algn="l">
              <a:lnSpc>
                <a:spcPts val="2882"/>
              </a:lnSpc>
            </a:pPr>
            <a:r>
              <a:rPr lang="en-US" sz="2401">
                <a:solidFill>
                  <a:srgbClr val="5B6B62"/>
                </a:solidFill>
                <a:latin typeface="Calibri (MS)"/>
                <a:ea typeface="Calibri (MS)"/>
                <a:cs typeface="Calibri (MS)"/>
                <a:sym typeface="Calibri (MS)"/>
              </a:rPr>
              <a:t>Maximum power point tracking, Perturb and Observe</a:t>
            </a:r>
          </a:p>
        </p:txBody>
      </p:sp>
      <p:grpSp>
        <p:nvGrpSpPr>
          <p:cNvPr name="Group 6" id="6"/>
          <p:cNvGrpSpPr/>
          <p:nvPr/>
        </p:nvGrpSpPr>
        <p:grpSpPr>
          <a:xfrm rot="0">
            <a:off x="882739" y="2059010"/>
            <a:ext cx="9902238" cy="4186647"/>
            <a:chOff x="0" y="0"/>
            <a:chExt cx="13202984" cy="5582196"/>
          </a:xfrm>
        </p:grpSpPr>
        <p:sp>
          <p:nvSpPr>
            <p:cNvPr name="Freeform 7" id="7" descr="fig_mppt_curves.png"/>
            <p:cNvSpPr/>
            <p:nvPr/>
          </p:nvSpPr>
          <p:spPr>
            <a:xfrm flipH="false" flipV="false" rot="0">
              <a:off x="0" y="0"/>
              <a:ext cx="13202920" cy="5582158"/>
            </a:xfrm>
            <a:custGeom>
              <a:avLst/>
              <a:gdLst/>
              <a:ahLst/>
              <a:cxnLst/>
              <a:rect r="r" b="b" t="t" l="l"/>
              <a:pathLst>
                <a:path h="5582158" w="13202920">
                  <a:moveTo>
                    <a:pt x="0" y="0"/>
                  </a:moveTo>
                  <a:lnTo>
                    <a:pt x="13202920" y="0"/>
                  </a:lnTo>
                  <a:lnTo>
                    <a:pt x="13202920" y="5582158"/>
                  </a:lnTo>
                  <a:lnTo>
                    <a:pt x="0" y="5582158"/>
                  </a:lnTo>
                  <a:lnTo>
                    <a:pt x="0" y="0"/>
                  </a:lnTo>
                  <a:close/>
                </a:path>
              </a:pathLst>
            </a:custGeom>
            <a:blipFill>
              <a:blip r:embed="rId4"/>
              <a:stretch>
                <a:fillRect l="0" t="0" r="0" b="0"/>
              </a:stretch>
            </a:blipFill>
          </p:spPr>
        </p:sp>
      </p:grpSp>
      <p:grpSp>
        <p:nvGrpSpPr>
          <p:cNvPr name="Group 8" id="8"/>
          <p:cNvGrpSpPr/>
          <p:nvPr/>
        </p:nvGrpSpPr>
        <p:grpSpPr>
          <a:xfrm rot="0">
            <a:off x="11346161" y="2059010"/>
            <a:ext cx="5927884" cy="4186647"/>
            <a:chOff x="0" y="0"/>
            <a:chExt cx="7903845" cy="5582196"/>
          </a:xfrm>
        </p:grpSpPr>
        <p:sp>
          <p:nvSpPr>
            <p:cNvPr name="Freeform 9" id="9" descr="fig_mppt_tracking.png"/>
            <p:cNvSpPr/>
            <p:nvPr/>
          </p:nvSpPr>
          <p:spPr>
            <a:xfrm flipH="false" flipV="false" rot="0">
              <a:off x="0" y="0"/>
              <a:ext cx="7903845" cy="5582158"/>
            </a:xfrm>
            <a:custGeom>
              <a:avLst/>
              <a:gdLst/>
              <a:ahLst/>
              <a:cxnLst/>
              <a:rect r="r" b="b" t="t" l="l"/>
              <a:pathLst>
                <a:path h="5582158" w="7903845">
                  <a:moveTo>
                    <a:pt x="0" y="0"/>
                  </a:moveTo>
                  <a:lnTo>
                    <a:pt x="7903845" y="0"/>
                  </a:lnTo>
                  <a:lnTo>
                    <a:pt x="7903845" y="5582158"/>
                  </a:lnTo>
                  <a:lnTo>
                    <a:pt x="0" y="5582158"/>
                  </a:lnTo>
                  <a:lnTo>
                    <a:pt x="0" y="0"/>
                  </a:lnTo>
                  <a:close/>
                </a:path>
              </a:pathLst>
            </a:custGeom>
            <a:blipFill>
              <a:blip r:embed="rId5"/>
              <a:stretch>
                <a:fillRect l="0" t="0" r="0" b="0"/>
              </a:stretch>
            </a:blipFill>
          </p:spPr>
        </p:sp>
      </p:grpSp>
      <p:grpSp>
        <p:nvGrpSpPr>
          <p:cNvPr name="Group 10" id="10"/>
          <p:cNvGrpSpPr/>
          <p:nvPr/>
        </p:nvGrpSpPr>
        <p:grpSpPr>
          <a:xfrm rot="0">
            <a:off x="811692" y="6371015"/>
            <a:ext cx="5445890" cy="1945576"/>
            <a:chOff x="0" y="0"/>
            <a:chExt cx="7261187" cy="2594102"/>
          </a:xfrm>
        </p:grpSpPr>
        <p:sp>
          <p:nvSpPr>
            <p:cNvPr name="Freeform 11" id="11"/>
            <p:cNvSpPr/>
            <p:nvPr/>
          </p:nvSpPr>
          <p:spPr>
            <a:xfrm flipH="false" flipV="false" rot="0">
              <a:off x="0" y="0"/>
              <a:ext cx="7261225" cy="2594102"/>
            </a:xfrm>
            <a:custGeom>
              <a:avLst/>
              <a:gdLst/>
              <a:ahLst/>
              <a:cxnLst/>
              <a:rect r="r" b="b" t="t" l="l"/>
              <a:pathLst>
                <a:path h="2594102" w="7261225">
                  <a:moveTo>
                    <a:pt x="0" y="155702"/>
                  </a:moveTo>
                  <a:cubicBezTo>
                    <a:pt x="0" y="69723"/>
                    <a:pt x="69723" y="0"/>
                    <a:pt x="155702" y="0"/>
                  </a:cubicBezTo>
                  <a:lnTo>
                    <a:pt x="7105523" y="0"/>
                  </a:lnTo>
                  <a:cubicBezTo>
                    <a:pt x="7191502" y="0"/>
                    <a:pt x="7261225" y="69723"/>
                    <a:pt x="7261225" y="155702"/>
                  </a:cubicBezTo>
                  <a:lnTo>
                    <a:pt x="7261225" y="2438400"/>
                  </a:lnTo>
                  <a:cubicBezTo>
                    <a:pt x="7261225" y="2524379"/>
                    <a:pt x="7191502" y="2594102"/>
                    <a:pt x="7105523" y="2594102"/>
                  </a:cubicBezTo>
                  <a:lnTo>
                    <a:pt x="155702" y="2594102"/>
                  </a:lnTo>
                  <a:cubicBezTo>
                    <a:pt x="69723" y="2594102"/>
                    <a:pt x="0" y="2524379"/>
                    <a:pt x="0" y="2438400"/>
                  </a:cubicBezTo>
                  <a:close/>
                </a:path>
              </a:pathLst>
            </a:custGeom>
            <a:solidFill>
              <a:srgbClr val="FFFFFF"/>
            </a:solidFill>
            <a:ln w="23831" cap="sq">
              <a:solidFill>
                <a:srgbClr val="E6EEE0"/>
              </a:solidFill>
              <a:prstDash val="solid"/>
              <a:miter/>
            </a:ln>
          </p:spPr>
        </p:sp>
      </p:grpSp>
      <p:sp>
        <p:nvSpPr>
          <p:cNvPr name="TextBox 12" id="12"/>
          <p:cNvSpPr txBox="true"/>
          <p:nvPr/>
        </p:nvSpPr>
        <p:spPr>
          <a:xfrm rot="0">
            <a:off x="1006592" y="6403915"/>
            <a:ext cx="5056080" cy="404565"/>
          </a:xfrm>
          <a:prstGeom prst="rect">
            <a:avLst/>
          </a:prstGeom>
        </p:spPr>
        <p:txBody>
          <a:bodyPr anchor="t" rtlCol="false" tIns="0" lIns="0" bIns="0" rIns="0">
            <a:spAutoFit/>
          </a:bodyPr>
          <a:lstStyle/>
          <a:p>
            <a:pPr algn="l">
              <a:lnSpc>
                <a:spcPts val="2521"/>
              </a:lnSpc>
            </a:pPr>
            <a:r>
              <a:rPr lang="en-US" sz="2101" b="true">
                <a:solidFill>
                  <a:srgbClr val="14342B"/>
                </a:solidFill>
                <a:latin typeface="Calibri (MS) Bold"/>
                <a:ea typeface="Calibri (MS) Bold"/>
                <a:cs typeface="Calibri (MS) Bold"/>
                <a:sym typeface="Calibri (MS) Bold"/>
              </a:rPr>
              <a:t>What it is</a:t>
            </a:r>
          </a:p>
        </p:txBody>
      </p:sp>
      <p:sp>
        <p:nvSpPr>
          <p:cNvPr name="TextBox 13" id="13"/>
          <p:cNvSpPr txBox="true"/>
          <p:nvPr/>
        </p:nvSpPr>
        <p:spPr>
          <a:xfrm rot="0">
            <a:off x="1006592" y="6870621"/>
            <a:ext cx="5056080" cy="1365437"/>
          </a:xfrm>
          <a:prstGeom prst="rect">
            <a:avLst/>
          </a:prstGeom>
        </p:spPr>
        <p:txBody>
          <a:bodyPr anchor="t" rtlCol="false" tIns="0" lIns="0" bIns="0" rIns="0">
            <a:spAutoFit/>
          </a:bodyPr>
          <a:lstStyle/>
          <a:p>
            <a:pPr algn="l">
              <a:lnSpc>
                <a:spcPts val="2341"/>
              </a:lnSpc>
            </a:pPr>
            <a:r>
              <a:rPr lang="en-US" sz="1951">
                <a:solidFill>
                  <a:srgbClr val="1B2A22"/>
                </a:solidFill>
                <a:latin typeface="Calibri (MS)"/>
                <a:ea typeface="Calibri (MS)"/>
                <a:cs typeface="Calibri (MS)"/>
                <a:sym typeface="Calibri (MS)"/>
              </a:rPr>
              <a:t>A solar panel gives the most power at one voltage (red star). That voltage moves with sunlight and cell temperature.</a:t>
            </a:r>
          </a:p>
        </p:txBody>
      </p:sp>
      <p:grpSp>
        <p:nvGrpSpPr>
          <p:cNvPr name="Group 14" id="14"/>
          <p:cNvGrpSpPr/>
          <p:nvPr/>
        </p:nvGrpSpPr>
        <p:grpSpPr>
          <a:xfrm rot="0">
            <a:off x="6439643" y="6371015"/>
            <a:ext cx="5445890" cy="1945576"/>
            <a:chOff x="0" y="0"/>
            <a:chExt cx="7261187" cy="2594102"/>
          </a:xfrm>
        </p:grpSpPr>
        <p:sp>
          <p:nvSpPr>
            <p:cNvPr name="Freeform 15" id="15"/>
            <p:cNvSpPr/>
            <p:nvPr/>
          </p:nvSpPr>
          <p:spPr>
            <a:xfrm flipH="false" flipV="false" rot="0">
              <a:off x="0" y="0"/>
              <a:ext cx="7261225" cy="2594102"/>
            </a:xfrm>
            <a:custGeom>
              <a:avLst/>
              <a:gdLst/>
              <a:ahLst/>
              <a:cxnLst/>
              <a:rect r="r" b="b" t="t" l="l"/>
              <a:pathLst>
                <a:path h="2594102" w="7261225">
                  <a:moveTo>
                    <a:pt x="0" y="155702"/>
                  </a:moveTo>
                  <a:cubicBezTo>
                    <a:pt x="0" y="69723"/>
                    <a:pt x="69723" y="0"/>
                    <a:pt x="155702" y="0"/>
                  </a:cubicBezTo>
                  <a:lnTo>
                    <a:pt x="7105523" y="0"/>
                  </a:lnTo>
                  <a:cubicBezTo>
                    <a:pt x="7191502" y="0"/>
                    <a:pt x="7261225" y="69723"/>
                    <a:pt x="7261225" y="155702"/>
                  </a:cubicBezTo>
                  <a:lnTo>
                    <a:pt x="7261225" y="2438400"/>
                  </a:lnTo>
                  <a:cubicBezTo>
                    <a:pt x="7261225" y="2524379"/>
                    <a:pt x="7191502" y="2594102"/>
                    <a:pt x="7105523" y="2594102"/>
                  </a:cubicBezTo>
                  <a:lnTo>
                    <a:pt x="155702" y="2594102"/>
                  </a:lnTo>
                  <a:cubicBezTo>
                    <a:pt x="69723" y="2594102"/>
                    <a:pt x="0" y="2524379"/>
                    <a:pt x="0" y="2438400"/>
                  </a:cubicBezTo>
                  <a:close/>
                </a:path>
              </a:pathLst>
            </a:custGeom>
            <a:solidFill>
              <a:srgbClr val="FFFFFF"/>
            </a:solidFill>
            <a:ln w="23831" cap="sq">
              <a:solidFill>
                <a:srgbClr val="E6EEE0"/>
              </a:solidFill>
              <a:prstDash val="solid"/>
              <a:miter/>
            </a:ln>
          </p:spPr>
        </p:sp>
      </p:grpSp>
      <p:sp>
        <p:nvSpPr>
          <p:cNvPr name="TextBox 16" id="16"/>
          <p:cNvSpPr txBox="true"/>
          <p:nvPr/>
        </p:nvSpPr>
        <p:spPr>
          <a:xfrm rot="0">
            <a:off x="6634544" y="6403915"/>
            <a:ext cx="5056080" cy="404565"/>
          </a:xfrm>
          <a:prstGeom prst="rect">
            <a:avLst/>
          </a:prstGeom>
        </p:spPr>
        <p:txBody>
          <a:bodyPr anchor="t" rtlCol="false" tIns="0" lIns="0" bIns="0" rIns="0">
            <a:spAutoFit/>
          </a:bodyPr>
          <a:lstStyle/>
          <a:p>
            <a:pPr algn="l">
              <a:lnSpc>
                <a:spcPts val="2521"/>
              </a:lnSpc>
            </a:pPr>
            <a:r>
              <a:rPr lang="en-US" sz="2101" b="true">
                <a:solidFill>
                  <a:srgbClr val="14342B"/>
                </a:solidFill>
                <a:latin typeface="Calibri (MS) Bold"/>
                <a:ea typeface="Calibri (MS) Bold"/>
                <a:cs typeface="Calibri (MS) Bold"/>
                <a:sym typeface="Calibri (MS) Bold"/>
              </a:rPr>
              <a:t>What MPPT does</a:t>
            </a:r>
          </a:p>
        </p:txBody>
      </p:sp>
      <p:sp>
        <p:nvSpPr>
          <p:cNvPr name="TextBox 17" id="17"/>
          <p:cNvSpPr txBox="true"/>
          <p:nvPr/>
        </p:nvSpPr>
        <p:spPr>
          <a:xfrm rot="0">
            <a:off x="6634544" y="6870621"/>
            <a:ext cx="5056080" cy="1365437"/>
          </a:xfrm>
          <a:prstGeom prst="rect">
            <a:avLst/>
          </a:prstGeom>
        </p:spPr>
        <p:txBody>
          <a:bodyPr anchor="t" rtlCol="false" tIns="0" lIns="0" bIns="0" rIns="0">
            <a:spAutoFit/>
          </a:bodyPr>
          <a:lstStyle/>
          <a:p>
            <a:pPr algn="l">
              <a:lnSpc>
                <a:spcPts val="2341"/>
              </a:lnSpc>
            </a:pPr>
            <a:r>
              <a:rPr lang="en-US" sz="1951">
                <a:solidFill>
                  <a:srgbClr val="1B2A22"/>
                </a:solidFill>
                <a:latin typeface="Calibri (MS)"/>
                <a:ea typeface="Calibri (MS)"/>
                <a:cs typeface="Calibri (MS)"/>
                <a:sym typeface="Calibri (MS)"/>
              </a:rPr>
              <a:t>A small controller nudges the voltage up and down and keeps the point where power is highest.</a:t>
            </a:r>
          </a:p>
        </p:txBody>
      </p:sp>
      <p:grpSp>
        <p:nvGrpSpPr>
          <p:cNvPr name="Group 18" id="18"/>
          <p:cNvGrpSpPr/>
          <p:nvPr/>
        </p:nvGrpSpPr>
        <p:grpSpPr>
          <a:xfrm rot="0">
            <a:off x="12067604" y="6371015"/>
            <a:ext cx="5445890" cy="1945576"/>
            <a:chOff x="0" y="0"/>
            <a:chExt cx="7261187" cy="2594102"/>
          </a:xfrm>
        </p:grpSpPr>
        <p:sp>
          <p:nvSpPr>
            <p:cNvPr name="Freeform 19" id="19"/>
            <p:cNvSpPr/>
            <p:nvPr/>
          </p:nvSpPr>
          <p:spPr>
            <a:xfrm flipH="false" flipV="false" rot="0">
              <a:off x="0" y="0"/>
              <a:ext cx="7261225" cy="2594102"/>
            </a:xfrm>
            <a:custGeom>
              <a:avLst/>
              <a:gdLst/>
              <a:ahLst/>
              <a:cxnLst/>
              <a:rect r="r" b="b" t="t" l="l"/>
              <a:pathLst>
                <a:path h="2594102" w="7261225">
                  <a:moveTo>
                    <a:pt x="0" y="155702"/>
                  </a:moveTo>
                  <a:cubicBezTo>
                    <a:pt x="0" y="69723"/>
                    <a:pt x="69723" y="0"/>
                    <a:pt x="155702" y="0"/>
                  </a:cubicBezTo>
                  <a:lnTo>
                    <a:pt x="7105523" y="0"/>
                  </a:lnTo>
                  <a:cubicBezTo>
                    <a:pt x="7191502" y="0"/>
                    <a:pt x="7261225" y="69723"/>
                    <a:pt x="7261225" y="155702"/>
                  </a:cubicBezTo>
                  <a:lnTo>
                    <a:pt x="7261225" y="2438400"/>
                  </a:lnTo>
                  <a:cubicBezTo>
                    <a:pt x="7261225" y="2524379"/>
                    <a:pt x="7191502" y="2594102"/>
                    <a:pt x="7105523" y="2594102"/>
                  </a:cubicBezTo>
                  <a:lnTo>
                    <a:pt x="155702" y="2594102"/>
                  </a:lnTo>
                  <a:cubicBezTo>
                    <a:pt x="69723" y="2594102"/>
                    <a:pt x="0" y="2524379"/>
                    <a:pt x="0" y="2438400"/>
                  </a:cubicBezTo>
                  <a:close/>
                </a:path>
              </a:pathLst>
            </a:custGeom>
            <a:solidFill>
              <a:srgbClr val="FFFFFF"/>
            </a:solidFill>
            <a:ln w="23831" cap="sq">
              <a:solidFill>
                <a:srgbClr val="E6EEE0"/>
              </a:solidFill>
              <a:prstDash val="solid"/>
              <a:miter/>
            </a:ln>
          </p:spPr>
        </p:sp>
      </p:grpSp>
      <p:sp>
        <p:nvSpPr>
          <p:cNvPr name="TextBox 20" id="20"/>
          <p:cNvSpPr txBox="true"/>
          <p:nvPr/>
        </p:nvSpPr>
        <p:spPr>
          <a:xfrm rot="0">
            <a:off x="12262504" y="6403915"/>
            <a:ext cx="5056080" cy="404565"/>
          </a:xfrm>
          <a:prstGeom prst="rect">
            <a:avLst/>
          </a:prstGeom>
        </p:spPr>
        <p:txBody>
          <a:bodyPr anchor="t" rtlCol="false" tIns="0" lIns="0" bIns="0" rIns="0">
            <a:spAutoFit/>
          </a:bodyPr>
          <a:lstStyle/>
          <a:p>
            <a:pPr algn="l">
              <a:lnSpc>
                <a:spcPts val="2521"/>
              </a:lnSpc>
            </a:pPr>
            <a:r>
              <a:rPr lang="en-US" sz="2101" b="true">
                <a:solidFill>
                  <a:srgbClr val="14342B"/>
                </a:solidFill>
                <a:latin typeface="Calibri (MS) Bold"/>
                <a:ea typeface="Calibri (MS) Bold"/>
                <a:cs typeface="Calibri (MS) Bold"/>
                <a:sym typeface="Calibri (MS) Bold"/>
              </a:rPr>
              <a:t>What we gain</a:t>
            </a:r>
          </a:p>
        </p:txBody>
      </p:sp>
      <p:sp>
        <p:nvSpPr>
          <p:cNvPr name="TextBox 21" id="21"/>
          <p:cNvSpPr txBox="true"/>
          <p:nvPr/>
        </p:nvSpPr>
        <p:spPr>
          <a:xfrm rot="0">
            <a:off x="12262504" y="6870621"/>
            <a:ext cx="5056080" cy="1365437"/>
          </a:xfrm>
          <a:prstGeom prst="rect">
            <a:avLst/>
          </a:prstGeom>
        </p:spPr>
        <p:txBody>
          <a:bodyPr anchor="t" rtlCol="false" tIns="0" lIns="0" bIns="0" rIns="0">
            <a:spAutoFit/>
          </a:bodyPr>
          <a:lstStyle/>
          <a:p>
            <a:pPr algn="l">
              <a:lnSpc>
                <a:spcPts val="2341"/>
              </a:lnSpc>
            </a:pPr>
            <a:r>
              <a:rPr lang="en-US" sz="1951">
                <a:solidFill>
                  <a:srgbClr val="1B2A22"/>
                </a:solidFill>
                <a:latin typeface="Calibri (MS)"/>
                <a:ea typeface="Calibri (MS)"/>
                <a:cs typeface="Calibri (MS)"/>
                <a:sym typeface="Calibri (MS)"/>
              </a:rPr>
              <a:t>Cloud test: MPPT keeps 99.83 % of the maximum energy; a fixed voltage keeps 96.95 % (gain +2.96 %).</a:t>
            </a:r>
          </a:p>
        </p:txBody>
      </p:sp>
      <p:grpSp>
        <p:nvGrpSpPr>
          <p:cNvPr name="Group 22" id="22"/>
          <p:cNvGrpSpPr/>
          <p:nvPr/>
        </p:nvGrpSpPr>
        <p:grpSpPr>
          <a:xfrm rot="0">
            <a:off x="811692" y="8361388"/>
            <a:ext cx="16633165" cy="1808302"/>
            <a:chOff x="0" y="0"/>
            <a:chExt cx="22177553" cy="2411070"/>
          </a:xfrm>
        </p:grpSpPr>
        <p:sp>
          <p:nvSpPr>
            <p:cNvPr name="Freeform 23" id="23"/>
            <p:cNvSpPr/>
            <p:nvPr/>
          </p:nvSpPr>
          <p:spPr>
            <a:xfrm flipH="false" flipV="false" rot="0">
              <a:off x="0" y="0"/>
              <a:ext cx="22177502" cy="2411095"/>
            </a:xfrm>
            <a:custGeom>
              <a:avLst/>
              <a:gdLst/>
              <a:ahLst/>
              <a:cxnLst/>
              <a:rect r="r" b="b" t="t" l="l"/>
              <a:pathLst>
                <a:path h="2411095" w="22177502">
                  <a:moveTo>
                    <a:pt x="0" y="144653"/>
                  </a:moveTo>
                  <a:cubicBezTo>
                    <a:pt x="0" y="64770"/>
                    <a:pt x="64770" y="0"/>
                    <a:pt x="144653" y="0"/>
                  </a:cubicBezTo>
                  <a:lnTo>
                    <a:pt x="22032849" y="0"/>
                  </a:lnTo>
                  <a:cubicBezTo>
                    <a:pt x="22112732" y="0"/>
                    <a:pt x="22177502" y="64770"/>
                    <a:pt x="22177502" y="144653"/>
                  </a:cubicBezTo>
                  <a:lnTo>
                    <a:pt x="22177502" y="2266442"/>
                  </a:lnTo>
                  <a:cubicBezTo>
                    <a:pt x="22177502" y="2346325"/>
                    <a:pt x="22112732" y="2411095"/>
                    <a:pt x="22032849" y="2411095"/>
                  </a:cubicBezTo>
                  <a:lnTo>
                    <a:pt x="144653" y="2411095"/>
                  </a:lnTo>
                  <a:cubicBezTo>
                    <a:pt x="64770" y="2411095"/>
                    <a:pt x="0" y="2346325"/>
                    <a:pt x="0" y="2266442"/>
                  </a:cubicBezTo>
                  <a:close/>
                </a:path>
              </a:pathLst>
            </a:custGeom>
            <a:solidFill>
              <a:srgbClr val="FFF6DC"/>
            </a:solidFill>
            <a:ln w="23831" cap="sq">
              <a:solidFill>
                <a:srgbClr val="E8A317"/>
              </a:solidFill>
              <a:prstDash val="solid"/>
              <a:miter/>
            </a:ln>
          </p:spPr>
        </p:sp>
      </p:grpSp>
      <p:sp>
        <p:nvSpPr>
          <p:cNvPr name="TextBox 24" id="24"/>
          <p:cNvSpPr txBox="true"/>
          <p:nvPr/>
        </p:nvSpPr>
        <p:spPr>
          <a:xfrm rot="0">
            <a:off x="1034044" y="8444989"/>
            <a:ext cx="16188452" cy="395040"/>
          </a:xfrm>
          <a:prstGeom prst="rect">
            <a:avLst/>
          </a:prstGeom>
        </p:spPr>
        <p:txBody>
          <a:bodyPr anchor="t" rtlCol="false" tIns="0" lIns="0" bIns="0" rIns="0">
            <a:spAutoFit/>
          </a:bodyPr>
          <a:lstStyle/>
          <a:p>
            <a:pPr algn="l">
              <a:lnSpc>
                <a:spcPts val="2251"/>
              </a:lnSpc>
            </a:pPr>
            <a:r>
              <a:rPr lang="en-US" sz="1876" b="true">
                <a:solidFill>
                  <a:srgbClr val="8A5A00"/>
                </a:solidFill>
                <a:latin typeface="Calibri (MS) Bold"/>
                <a:ea typeface="Calibri (MS) Bold"/>
                <a:cs typeface="Calibri (MS) Bold"/>
                <a:sym typeface="Calibri (MS) Bold"/>
              </a:rPr>
              <a:t>PROOF</a:t>
            </a:r>
          </a:p>
        </p:txBody>
      </p:sp>
      <p:sp>
        <p:nvSpPr>
          <p:cNvPr name="TextBox 25" id="25"/>
          <p:cNvSpPr txBox="true"/>
          <p:nvPr/>
        </p:nvSpPr>
        <p:spPr>
          <a:xfrm rot="0">
            <a:off x="1079764" y="8902541"/>
            <a:ext cx="16097012" cy="1154611"/>
          </a:xfrm>
          <a:prstGeom prst="rect">
            <a:avLst/>
          </a:prstGeom>
        </p:spPr>
        <p:txBody>
          <a:bodyPr anchor="t" rtlCol="false" tIns="0" lIns="0" bIns="0" rIns="0">
            <a:spAutoFit/>
          </a:bodyPr>
          <a:lstStyle/>
          <a:p>
            <a:pPr algn="l">
              <a:lnSpc>
                <a:spcPts val="2071"/>
              </a:lnSpc>
            </a:pPr>
            <a:r>
              <a:rPr lang="en-US" sz="1726">
                <a:solidFill>
                  <a:srgbClr val="1B2A22"/>
                </a:solidFill>
                <a:latin typeface="Calibri (MS)"/>
                <a:ea typeface="Calibri (MS)"/>
                <a:cs typeface="Calibri (MS)"/>
                <a:sym typeface="Calibri (MS)"/>
              </a:rPr>
              <a:t>•  Model: single-diode PV model of a typical 400 W module (Isc 10.5 A, Voc 49.6 V, Vmp 40.5 V; replace with your datasheet). Tracker: Perturb and Observe, 0.5 V steps. Hotter cell: best voltage falls from 41.1 V (25 C) to 35.6 V (65 C).</a:t>
            </a:r>
          </a:p>
          <a:p>
            <a:pPr algn="l">
              <a:lnSpc>
                <a:spcPts val="2071"/>
              </a:lnSpc>
            </a:pPr>
            <a:r>
              <a:rPr lang="en-US" sz="1726">
                <a:solidFill>
                  <a:srgbClr val="1B2A22"/>
                </a:solidFill>
                <a:latin typeface="Calibri (MS)"/>
                <a:ea typeface="Calibri (MS)"/>
                <a:cs typeface="Calibri (MS)"/>
                <a:sym typeface="Calibri (MS)"/>
              </a:rPr>
              <a:t>•  Accuracy point C: tracking efficiency 99.83 %.  Tested in MATLAB (5 MPPT tests pass).  This is a model of the tracker, not yet a hardware DC-DC converter.</a:t>
            </a:r>
          </a:p>
        </p:txBody>
      </p:sp>
      <p:sp>
        <p:nvSpPr>
          <p:cNvPr id="26" name="Rounded Rectangle 25"/>
          <p:cNvSpPr/>
          <p:nvPr/>
        </p:nvSpPr>
        <p:spPr>
          <a:xfrm>
            <a:off x="12755880" y="822959"/>
            <a:ext cx="4663440" cy="466344"/>
          </a:xfrm>
          <a:prstGeom prst="roundRect">
            <a:avLst>
              <a:gd name="adj" fmla="val 6000"/>
            </a:avLst>
          </a:prstGeom>
          <a:solidFill>
            <a:srgbClr val="4E9A2E"/>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PROTOTYPE DEMO  |  20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Validation: accuracy points and proof</a:t>
              </a:r>
            </a:p>
          </p:txBody>
        </p:sp>
      </p:grpSp>
      <p:sp>
        <p:nvSpPr>
          <p:cNvPr name="TextBox 5" id="5"/>
          <p:cNvSpPr txBox="true"/>
          <p:nvPr/>
        </p:nvSpPr>
        <p:spPr>
          <a:xfrm rot="0">
            <a:off x="869328" y="1389459"/>
            <a:ext cx="16517893" cy="559756"/>
          </a:xfrm>
          <a:prstGeom prst="rect">
            <a:avLst/>
          </a:prstGeom>
        </p:spPr>
        <p:txBody>
          <a:bodyPr anchor="t" rtlCol="false" tIns="0" lIns="0" bIns="0" rIns="0">
            <a:spAutoFit/>
          </a:bodyPr>
          <a:lstStyle/>
          <a:p>
            <a:pPr algn="l">
              <a:lnSpc>
                <a:spcPts val="2882"/>
              </a:lnSpc>
            </a:pPr>
            <a:r>
              <a:rPr lang="en-US" sz="2401">
                <a:solidFill>
                  <a:srgbClr val="5B6B62"/>
                </a:solidFill>
                <a:latin typeface="Calibri (MS)"/>
                <a:ea typeface="Calibri (MS)"/>
                <a:cs typeface="Calibri (MS)"/>
                <a:sym typeface="Calibri (MS)"/>
              </a:rPr>
              <a:t>Every number: what it means, and where it comes from</a:t>
            </a:r>
          </a:p>
        </p:txBody>
      </p:sp>
      <p:graphicFrame>
        <p:nvGraphicFramePr>
          <p:cNvPr name="Table 6" id="6"/>
          <p:cNvGraphicFramePr>
            <a:graphicFrameLocks noGrp="true"/>
          </p:cNvGraphicFramePr>
          <p:nvPr/>
        </p:nvGraphicFramePr>
        <p:xfrm>
          <a:off x="823603" y="2059009"/>
          <a:ext cx="16586458" cy="5490690"/>
        </p:xfrm>
        <a:graphic>
          <a:graphicData uri="http://schemas.openxmlformats.org/drawingml/2006/table">
            <a:tbl>
              <a:tblPr/>
              <a:tblGrid>
                <a:gridCol w="685391"/>
                <a:gridCol w="4660658"/>
                <a:gridCol w="6853908"/>
                <a:gridCol w="4386501"/>
              </a:tblGrid>
              <a:tr h="686336">
                <a:tc>
                  <a:txBody>
                    <a:bodyPr anchor="t" rtlCol="false"/>
                    <a:lstStyle/>
                    <a:p>
                      <a:pPr algn="l">
                        <a:lnSpc>
                          <a:spcPts val="1679"/>
                        </a:lnSpc>
                        <a:defRPr/>
                      </a:pP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161"/>
                        </a:lnSpc>
                        <a:defRPr/>
                      </a:pPr>
                      <a:r>
                        <a:rPr lang="en-US" sz="1801" b="true">
                          <a:solidFill>
                            <a:srgbClr val="FFFFFF"/>
                          </a:solidFill>
                          <a:latin typeface="Calibri (MS) Bold"/>
                          <a:ea typeface="Calibri (MS) Bold"/>
                          <a:cs typeface="Calibri (MS) Bold"/>
                          <a:sym typeface="Calibri (MS) Bold"/>
                        </a:rPr>
                        <a:t>Accuracy point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161"/>
                        </a:lnSpc>
                        <a:defRPr/>
                      </a:pPr>
                      <a:r>
                        <a:rPr lang="en-US" sz="1801" b="true">
                          <a:solidFill>
                            <a:srgbClr val="FFFFFF"/>
                          </a:solidFill>
                          <a:latin typeface="Calibri (MS) Bold"/>
                          <a:ea typeface="Calibri (MS) Bold"/>
                          <a:cs typeface="Calibri (MS) Bold"/>
                          <a:sym typeface="Calibri (MS) Bold"/>
                        </a:rPr>
                        <a:t>Number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161"/>
                        </a:lnSpc>
                        <a:defRPr/>
                      </a:pPr>
                      <a:r>
                        <a:rPr lang="en-US" sz="1801" b="true">
                          <a:solidFill>
                            <a:srgbClr val="FFFFFF"/>
                          </a:solidFill>
                          <a:latin typeface="Calibri (MS) Bold"/>
                          <a:ea typeface="Calibri (MS) Bold"/>
                          <a:cs typeface="Calibri (MS) Bold"/>
                          <a:sym typeface="Calibri (MS) Bold"/>
                        </a:rPr>
                        <a:t>Where it comes from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r>
              <a:tr h="686336">
                <a:tc>
                  <a:txBody>
                    <a:bodyPr anchor="t" rtlCol="false"/>
                    <a:lstStyle/>
                    <a:p>
                      <a:pPr algn="l">
                        <a:lnSpc>
                          <a:spcPts val="2161"/>
                        </a:lnSpc>
                        <a:defRPr/>
                      </a:pPr>
                      <a:r>
                        <a:rPr lang="en-US" sz="1801" b="true">
                          <a:solidFill>
                            <a:srgbClr val="1B2A22"/>
                          </a:solidFill>
                          <a:latin typeface="Calibri (MS) Bold"/>
                          <a:ea typeface="Calibri (MS) Bold"/>
                          <a:cs typeface="Calibri (MS) Bold"/>
                          <a:sym typeface="Calibri (MS) Bold"/>
                        </a:rPr>
                        <a:t>A</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Angle chosen vs full 0.5 degree search</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0.0 degrees at clear noon (worst tested 3 degrees, score within 0.02 %)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search built into the dashboard (Explain window)</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6336">
                <a:tc>
                  <a:txBody>
                    <a:bodyPr anchor="t" rtlCol="false"/>
                    <a:lstStyle/>
                    <a:p>
                      <a:pPr algn="l">
                        <a:lnSpc>
                          <a:spcPts val="2161"/>
                        </a:lnSpc>
                        <a:defRPr/>
                      </a:pPr>
                      <a:r>
                        <a:rPr lang="en-US" sz="1801" b="true">
                          <a:solidFill>
                            <a:srgbClr val="1B2A22"/>
                          </a:solidFill>
                          <a:latin typeface="Calibri (MS) Bold"/>
                          <a:ea typeface="Calibri (MS) Bold"/>
                          <a:cs typeface="Calibri (MS) Bold"/>
                          <a:sym typeface="Calibri (MS) Bold"/>
                        </a:rPr>
                        <a:t>B</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Gain over a fixed 45 degree panel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electricity +2.5 %, crop light +9.7 % (clear day)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results/day_comparison.csv</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686336">
                <a:tc>
                  <a:txBody>
                    <a:bodyPr anchor="t" rtlCol="false"/>
                    <a:lstStyle/>
                    <a:p>
                      <a:pPr algn="l">
                        <a:lnSpc>
                          <a:spcPts val="2161"/>
                        </a:lnSpc>
                        <a:defRPr/>
                      </a:pPr>
                      <a:r>
                        <a:rPr lang="en-US" sz="1801" b="true">
                          <a:solidFill>
                            <a:srgbClr val="1B2A22"/>
                          </a:solidFill>
                          <a:latin typeface="Calibri (MS) Bold"/>
                          <a:ea typeface="Calibri (MS) Bold"/>
                          <a:cs typeface="Calibri (MS) Bold"/>
                          <a:sym typeface="Calibri (MS) Bold"/>
                        </a:rPr>
                        <a:t>C</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MPPT tracking efficiency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99.83 % (fixed voltage 96.95 %)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results/mppt_study.md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6336">
                <a:tc>
                  <a:txBody>
                    <a:bodyPr anchor="t" rtlCol="false"/>
                    <a:lstStyle/>
                    <a:p>
                      <a:pPr algn="l">
                        <a:lnSpc>
                          <a:spcPts val="2161"/>
                        </a:lnSpc>
                        <a:defRPr/>
                      </a:pPr>
                      <a:r>
                        <a:rPr lang="en-US" sz="1801" b="true">
                          <a:solidFill>
                            <a:srgbClr val="1B2A22"/>
                          </a:solidFill>
                          <a:latin typeface="Calibri (MS) Bold"/>
                          <a:ea typeface="Calibri (MS) Bold"/>
                          <a:cs typeface="Calibri (MS) Bold"/>
                          <a:sym typeface="Calibri (MS) Bold"/>
                        </a:rPr>
                        <a:t>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Real sensors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DHT11: 2 C, 5 % RH (datasheet). Bench: ______ C vs ______ C</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datasheet; thermometer check on the day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686336">
                <a:tc>
                  <a:txBody>
                    <a:bodyPr anchor="t" rtlCol="false"/>
                    <a:lstStyle/>
                    <a:p>
                      <a:pPr algn="l">
                        <a:lnSpc>
                          <a:spcPts val="2161"/>
                        </a:lnSpc>
                        <a:defRPr/>
                      </a:pPr>
                      <a:r>
                        <a:rPr lang="en-US" sz="1801" b="true">
                          <a:solidFill>
                            <a:srgbClr val="1B2A22"/>
                          </a:solidFill>
                          <a:latin typeface="Calibri (MS) Bold"/>
                          <a:ea typeface="Calibri (MS) Bold"/>
                          <a:cs typeface="Calibri (MS) Bold"/>
                          <a:sym typeface="Calibri (MS) Bold"/>
                        </a:rPr>
                        <a:t>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Solar and shadow equations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+5.0 % per year vs PVGIS; shadow difference 0.010 vs Blender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PVGIS service; Blender Cycles ray tracing</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6336">
                <a:tc>
                  <a:txBody>
                    <a:bodyPr anchor="t" rtlCol="false"/>
                    <a:lstStyle/>
                    <a:p>
                      <a:pPr algn="l">
                        <a:lnSpc>
                          <a:spcPts val="2161"/>
                        </a:lnSpc>
                        <a:defRPr/>
                      </a:pPr>
                      <a:r>
                        <a:rPr lang="en-US" sz="1801" b="true">
                          <a:solidFill>
                            <a:srgbClr val="1B2A22"/>
                          </a:solidFill>
                          <a:latin typeface="Calibri (MS) Bold"/>
                          <a:ea typeface="Calibri (MS) Bold"/>
                          <a:cs typeface="Calibri (MS) Bold"/>
                          <a:sym typeface="Calibri (MS) Bold"/>
                        </a:rPr>
                        <a:t>F</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Simulated-sensor error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wrong by 5 %: 2.5 % less electricity; by 10 %: 5.1 % (worst half-hour 35 %)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results/sensor_trust_study.csv</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686336">
                <a:tc>
                  <a:txBody>
                    <a:bodyPr anchor="t" rtlCol="false"/>
                    <a:lstStyle/>
                    <a:p>
                      <a:pPr algn="l">
                        <a:lnSpc>
                          <a:spcPts val="2161"/>
                        </a:lnSpc>
                        <a:defRPr/>
                      </a:pPr>
                      <a:r>
                        <a:rPr lang="en-US" sz="1801" b="true">
                          <a:solidFill>
                            <a:srgbClr val="1B2A22"/>
                          </a:solidFill>
                          <a:latin typeface="Calibri (MS) Bold"/>
                          <a:ea typeface="Calibri (MS) Bold"/>
                          <a:cs typeface="Calibri (MS) Bold"/>
                          <a:sym typeface="Calibri (MS) Bold"/>
                        </a:rPr>
                        <a:t>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Software tests of every rule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29 of 29 pass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801">
                          <a:solidFill>
                            <a:srgbClr val="1B2A22"/>
                          </a:solidFill>
                          <a:latin typeface="Calibri (MS)"/>
                          <a:ea typeface="Calibri (MS)"/>
                          <a:cs typeface="Calibri (MS)"/>
                          <a:sym typeface="Calibri (MS)"/>
                        </a:rPr>
                        <a:t>results/test_results.md, sensor_and_mppt_tests.md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7" id="7"/>
          <p:cNvGrpSpPr/>
          <p:nvPr/>
        </p:nvGrpSpPr>
        <p:grpSpPr>
          <a:xfrm rot="0">
            <a:off x="811692" y="7743682"/>
            <a:ext cx="8122596" cy="2220106"/>
            <a:chOff x="0" y="0"/>
            <a:chExt cx="10830128" cy="2960141"/>
          </a:xfrm>
        </p:grpSpPr>
        <p:sp>
          <p:nvSpPr>
            <p:cNvPr name="Freeform 8" id="8"/>
            <p:cNvSpPr/>
            <p:nvPr/>
          </p:nvSpPr>
          <p:spPr>
            <a:xfrm flipH="false" flipV="false" rot="0">
              <a:off x="0" y="0"/>
              <a:ext cx="10830052" cy="2960116"/>
            </a:xfrm>
            <a:custGeom>
              <a:avLst/>
              <a:gdLst/>
              <a:ahLst/>
              <a:cxnLst/>
              <a:rect r="r" b="b" t="t" l="l"/>
              <a:pathLst>
                <a:path h="2960116" w="10830052">
                  <a:moveTo>
                    <a:pt x="0" y="177546"/>
                  </a:moveTo>
                  <a:cubicBezTo>
                    <a:pt x="0" y="79502"/>
                    <a:pt x="79502" y="0"/>
                    <a:pt x="177546" y="0"/>
                  </a:cubicBezTo>
                  <a:lnTo>
                    <a:pt x="10652506" y="0"/>
                  </a:lnTo>
                  <a:cubicBezTo>
                    <a:pt x="10750550" y="0"/>
                    <a:pt x="10830052" y="79502"/>
                    <a:pt x="10830052" y="177546"/>
                  </a:cubicBezTo>
                  <a:lnTo>
                    <a:pt x="10830052" y="2782570"/>
                  </a:lnTo>
                  <a:cubicBezTo>
                    <a:pt x="10830052" y="2880614"/>
                    <a:pt x="10750550" y="2960116"/>
                    <a:pt x="10652506" y="2960116"/>
                  </a:cubicBezTo>
                  <a:lnTo>
                    <a:pt x="177546" y="2960116"/>
                  </a:lnTo>
                  <a:cubicBezTo>
                    <a:pt x="79502" y="2960116"/>
                    <a:pt x="0" y="2880614"/>
                    <a:pt x="0" y="2782570"/>
                  </a:cubicBezTo>
                  <a:close/>
                </a:path>
              </a:pathLst>
            </a:custGeom>
            <a:solidFill>
              <a:srgbClr val="FFFFFF"/>
            </a:solidFill>
            <a:ln w="23831" cap="sq">
              <a:solidFill>
                <a:srgbClr val="B03030"/>
              </a:solidFill>
              <a:prstDash val="solid"/>
              <a:miter/>
            </a:ln>
          </p:spPr>
        </p:sp>
      </p:grpSp>
      <p:sp>
        <p:nvSpPr>
          <p:cNvPr name="TextBox 9" id="9"/>
          <p:cNvSpPr txBox="true"/>
          <p:nvPr/>
        </p:nvSpPr>
        <p:spPr>
          <a:xfrm rot="0">
            <a:off x="1075220" y="7776581"/>
            <a:ext cx="7595521" cy="404565"/>
          </a:xfrm>
          <a:prstGeom prst="rect">
            <a:avLst/>
          </a:prstGeom>
        </p:spPr>
        <p:txBody>
          <a:bodyPr anchor="t" rtlCol="false" tIns="0" lIns="0" bIns="0" rIns="0">
            <a:spAutoFit/>
          </a:bodyPr>
          <a:lstStyle/>
          <a:p>
            <a:pPr algn="l">
              <a:lnSpc>
                <a:spcPts val="2521"/>
              </a:lnSpc>
            </a:pPr>
            <a:r>
              <a:rPr lang="en-US" sz="2101" b="true">
                <a:solidFill>
                  <a:srgbClr val="B03030"/>
                </a:solidFill>
                <a:latin typeface="Calibri (MS) Bold"/>
                <a:ea typeface="Calibri (MS) Bold"/>
                <a:cs typeface="Calibri (MS) Bold"/>
                <a:sym typeface="Calibri (MS) Bold"/>
              </a:rPr>
              <a:t>What we do NOT claim</a:t>
            </a:r>
          </a:p>
        </p:txBody>
      </p:sp>
      <p:sp>
        <p:nvSpPr>
          <p:cNvPr name="TextBox 10" id="10"/>
          <p:cNvSpPr txBox="true"/>
          <p:nvPr/>
        </p:nvSpPr>
        <p:spPr>
          <a:xfrm rot="0">
            <a:off x="1120940" y="8243659"/>
            <a:ext cx="7572718" cy="1593866"/>
          </a:xfrm>
          <a:prstGeom prst="rect">
            <a:avLst/>
          </a:prstGeom>
        </p:spPr>
        <p:txBody>
          <a:bodyPr anchor="t" rtlCol="false" tIns="0" lIns="0" bIns="0" rIns="0">
            <a:spAutoFit/>
          </a:bodyPr>
          <a:lstStyle/>
          <a:p>
            <a:pPr algn="l">
              <a:lnSpc>
                <a:spcPts val="2161"/>
              </a:lnSpc>
            </a:pPr>
            <a:r>
              <a:rPr lang="en-US" sz="1801">
                <a:solidFill>
                  <a:srgbClr val="1B2A22"/>
                </a:solidFill>
                <a:latin typeface="Calibri (MS)"/>
                <a:ea typeface="Calibri (MS)"/>
                <a:cs typeface="Calibri (MS)"/>
                <a:sym typeface="Calibri (MS)"/>
              </a:rPr>
              <a:t>•  Sunlight and PAR are simulated, not measured</a:t>
            </a:r>
          </a:p>
          <a:p>
            <a:pPr algn="l">
              <a:lnSpc>
                <a:spcPts val="2161"/>
              </a:lnSpc>
            </a:pPr>
            <a:r>
              <a:rPr lang="en-US" sz="1801">
                <a:solidFill>
                  <a:srgbClr val="1B2A22"/>
                </a:solidFill>
                <a:latin typeface="Calibri (MS)"/>
                <a:ea typeface="Calibri (MS)"/>
                <a:cs typeface="Calibri (MS)"/>
                <a:sym typeface="Calibri (MS)"/>
              </a:rPr>
              <a:t>•  No field data yet; the tilt is shown on screen only</a:t>
            </a:r>
          </a:p>
          <a:p>
            <a:pPr algn="l">
              <a:lnSpc>
                <a:spcPts val="2161"/>
              </a:lnSpc>
            </a:pPr>
            <a:r>
              <a:rPr lang="en-US" sz="1801">
                <a:solidFill>
                  <a:srgbClr val="1B2A22"/>
                </a:solidFill>
                <a:latin typeface="Calibri (MS)"/>
                <a:ea typeface="Calibri (MS)"/>
                <a:cs typeface="Calibri (MS)"/>
                <a:sym typeface="Calibri (MS)"/>
              </a:rPr>
              <a:t>•  MPPT and module data are for a typical 400 W module</a:t>
            </a:r>
          </a:p>
        </p:txBody>
      </p:sp>
      <p:sp>
        <p:nvSpPr>
          <p:cNvPr id="11" name="Rounded Rectangle 10"/>
          <p:cNvSpPr/>
          <p:nvPr/>
        </p:nvSpPr>
        <p:spPr>
          <a:xfrm>
            <a:off x="12755880" y="822959"/>
            <a:ext cx="4663440" cy="466344"/>
          </a:xfrm>
          <a:prstGeom prst="roundRect">
            <a:avLst>
              <a:gd name="adj" fmla="val 6000"/>
            </a:avLst>
          </a:prstGeom>
          <a:solidFill>
            <a:srgbClr val="E8A317"/>
          </a:solidFill>
          <a:ln>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VALIDATION  |  10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sp>
        <p:nvSpPr>
          <p:cNvPr name="AutoShape 6" id="6"/>
          <p:cNvSpPr/>
          <p:nvPr/>
        </p:nvSpPr>
        <p:spPr>
          <a:xfrm rot="4080">
            <a:off x="3617256" y="2593369"/>
            <a:ext cx="11235761" cy="0"/>
          </a:xfrm>
          <a:prstGeom prst="line">
            <a:avLst/>
          </a:prstGeom>
          <a:ln cap="rnd" w="9525">
            <a:solidFill>
              <a:srgbClr val="000000"/>
            </a:solidFill>
            <a:prstDash val="solid"/>
            <a:headEnd type="none" len="sm" w="sm"/>
            <a:tailEnd type="none" len="sm" w="sm"/>
          </a:ln>
        </p:spPr>
      </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1" id="11"/>
          <p:cNvGrpSpPr/>
          <p:nvPr/>
        </p:nvGrpSpPr>
        <p:grpSpPr>
          <a:xfrm rot="0">
            <a:off x="13424022" y="9689684"/>
            <a:ext cx="1476024" cy="547689"/>
            <a:chOff x="0" y="0"/>
            <a:chExt cx="1399489" cy="519290"/>
          </a:xfrm>
        </p:grpSpPr>
        <p:sp>
          <p:nvSpPr>
            <p:cNvPr name="Freeform 12" id="12"/>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2">
                <a:alphaModFix amt="0"/>
              </a:blip>
              <a:stretch>
                <a:fillRect l="0" t="-2474" r="3" b="-2474"/>
              </a:stretch>
            </a:blipFill>
          </p:spPr>
        </p:sp>
      </p:grpSp>
      <p:grpSp>
        <p:nvGrpSpPr>
          <p:cNvPr name="Group 13" id="13"/>
          <p:cNvGrpSpPr/>
          <p:nvPr/>
        </p:nvGrpSpPr>
        <p:grpSpPr>
          <a:xfrm rot="0">
            <a:off x="13424022" y="9659547"/>
            <a:ext cx="1476024" cy="577826"/>
            <a:chOff x="0" y="0"/>
            <a:chExt cx="1399489" cy="547864"/>
          </a:xfrm>
        </p:grpSpPr>
        <p:sp>
          <p:nvSpPr>
            <p:cNvPr name="Freeform 14" id="14"/>
            <p:cNvSpPr/>
            <p:nvPr/>
          </p:nvSpPr>
          <p:spPr>
            <a:xfrm flipH="false" flipV="false" rot="0">
              <a:off x="0" y="0"/>
              <a:ext cx="1399489" cy="547863"/>
            </a:xfrm>
            <a:custGeom>
              <a:avLst/>
              <a:gdLst/>
              <a:ahLst/>
              <a:cxnLst/>
              <a:rect r="r" b="b" t="t" l="l"/>
              <a:pathLst>
                <a:path h="547863" w="1399489">
                  <a:moveTo>
                    <a:pt x="0" y="0"/>
                  </a:moveTo>
                  <a:lnTo>
                    <a:pt x="1399489" y="0"/>
                  </a:lnTo>
                  <a:lnTo>
                    <a:pt x="1399489" y="547863"/>
                  </a:lnTo>
                  <a:lnTo>
                    <a:pt x="0" y="547863"/>
                  </a:lnTo>
                  <a:close/>
                </a:path>
              </a:pathLst>
            </a:custGeom>
            <a:blipFill>
              <a:blip r:embed="rId3">
                <a:alphaModFix amt="0"/>
              </a:blip>
              <a:stretch>
                <a:fillRect l="-227" t="0" r="-227" b="0"/>
              </a:stretch>
            </a:blipFill>
          </p:spPr>
        </p:sp>
        <p:sp>
          <p:nvSpPr>
            <p:cNvPr name="TextBox 15" id="15"/>
            <p:cNvSpPr txBox="true"/>
            <p:nvPr/>
          </p:nvSpPr>
          <p:spPr>
            <a:xfrm>
              <a:off x="0" y="-19050"/>
              <a:ext cx="1399489" cy="566914"/>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8</a:t>
              </a:r>
            </a:p>
          </p:txBody>
        </p:sp>
      </p:grpSp>
      <p:sp>
        <p:nvSpPr>
          <p:cNvPr name="TextBox 16" id="16"/>
          <p:cNvSpPr txBox="true"/>
          <p:nvPr/>
        </p:nvSpPr>
        <p:spPr>
          <a:xfrm rot="0">
            <a:off x="2414588" y="3929360"/>
            <a:ext cx="13458825" cy="1196191"/>
          </a:xfrm>
          <a:prstGeom prst="rect">
            <a:avLst/>
          </a:prstGeom>
        </p:spPr>
        <p:txBody>
          <a:bodyPr anchor="t" rtlCol="false" tIns="0" lIns="0" bIns="0" rIns="0">
            <a:spAutoFit/>
          </a:bodyPr>
          <a:lstStyle/>
          <a:p>
            <a:pPr algn="ctr">
              <a:lnSpc>
                <a:spcPts val="8638"/>
              </a:lnSpc>
            </a:pPr>
            <a:r>
              <a:rPr lang="en-US" sz="7198">
                <a:solidFill>
                  <a:srgbClr val="000000"/>
                </a:solidFill>
                <a:latin typeface="Times New Roman"/>
                <a:ea typeface="Times New Roman"/>
                <a:cs typeface="Times New Roman"/>
                <a:sym typeface="Times New Roman"/>
              </a:rPr>
              <a:t>THANK YOU</a:t>
            </a:r>
          </a:p>
        </p:txBody>
      </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2">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3">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Feasibility and practical constraints</a:t>
              </a:r>
            </a:p>
          </p:txBody>
        </p:sp>
      </p:grpSp>
      <p:sp>
        <p:nvSpPr>
          <p:cNvPr id="5" name="TextBox 4"/>
          <p:cNvSpPr txBox="1"/>
          <p:nvPr/>
        </p:nvSpPr>
        <p:spPr>
          <a:xfrm>
            <a:off x="822959" y="1399032"/>
            <a:ext cx="16459200" cy="576072"/>
          </a:xfrm>
          <a:prstGeom prst="rect">
            <a:avLst/>
          </a:prstGeom>
          <a:noFill/>
        </p:spPr>
        <p:txBody>
          <a:bodyPr wrap="square">
            <a:spAutoFit/>
          </a:bodyPr>
          <a:lstStyle/>
          <a:p>
            <a:pPr>
              <a:spcAft>
                <a:spcPts val="600"/>
              </a:spcAft>
            </a:pPr>
            <a:r>
              <a:rPr sz="2400" b="0">
                <a:solidFill>
                  <a:srgbClr val="5B6B62"/>
                </a:solidFill>
                <a:latin typeface="Calibri"/>
              </a:rPr>
              <a:t>What can be built and shown now, and what is still open</a:t>
            </a:r>
          </a:p>
        </p:txBody>
      </p:sp>
      <p:graphicFrame>
        <p:nvGraphicFramePr>
          <p:cNvPr id="6" name="Table 5"/>
          <p:cNvGraphicFramePr>
            <a:graphicFrameLocks noGrp="1"/>
          </p:cNvGraphicFramePr>
          <p:nvPr/>
        </p:nvGraphicFramePr>
        <p:xfrm>
          <a:off x="822959" y="2194560"/>
          <a:ext cx="16596359" cy="6419088"/>
        </p:xfrm>
        <a:graphic>
          <a:graphicData uri="http://schemas.openxmlformats.org/drawingml/2006/table">
            <a:tbl>
              <a:tblPr firstRow="1" bandRow="1">
                <a:tableStyleId>{5C22544A-7EE6-4342-B048-85BDC9FD1C3A}</a:tableStyleId>
              </a:tblPr>
              <a:tblGrid>
                <a:gridCol w="3154679"/>
                <a:gridCol w="6720840"/>
                <a:gridCol w="6720840"/>
              </a:tblGrid>
              <a:tr h="1069848">
                <a:tc>
                  <a:txBody>
                    <a:bodyPr wrap="square"/>
                    <a:lstStyle/>
                    <a:p>
                      <a:r>
                        <a:rPr sz="1875" b="1">
                          <a:solidFill>
                            <a:srgbClr val="FFFFFF"/>
                          </a:solidFill>
                          <a:latin typeface="Calibri"/>
                        </a:rPr>
                        <a:t>Area</a:t>
                      </a:r>
                    </a:p>
                  </a:txBody>
                  <a:tcPr anchor="ctr">
                    <a:solidFill>
                      <a:srgbClr val="14342B"/>
                    </a:solidFill>
                  </a:tcPr>
                </a:tc>
                <a:tc>
                  <a:txBody>
                    <a:bodyPr wrap="square"/>
                    <a:lstStyle/>
                    <a:p>
                      <a:r>
                        <a:rPr sz="1875" b="1">
                          <a:solidFill>
                            <a:srgbClr val="FFFFFF"/>
                          </a:solidFill>
                          <a:latin typeface="Calibri"/>
                        </a:rPr>
                        <a:t>Where we are now (Review 0)</a:t>
                      </a:r>
                    </a:p>
                  </a:txBody>
                  <a:tcPr anchor="ctr">
                    <a:solidFill>
                      <a:srgbClr val="14342B"/>
                    </a:solidFill>
                  </a:tcPr>
                </a:tc>
                <a:tc>
                  <a:txBody>
                    <a:bodyPr wrap="square"/>
                    <a:lstStyle/>
                    <a:p>
                      <a:r>
                        <a:rPr sz="1875" b="1">
                          <a:solidFill>
                            <a:srgbClr val="FFFFFF"/>
                          </a:solidFill>
                          <a:latin typeface="Calibri"/>
                        </a:rPr>
                        <a:t>Constraint / next step</a:t>
                      </a:r>
                    </a:p>
                  </a:txBody>
                  <a:tcPr anchor="ctr">
                    <a:solidFill>
                      <a:srgbClr val="14342B"/>
                    </a:solidFill>
                  </a:tcPr>
                </a:tc>
              </a:tr>
              <a:tr h="1069848">
                <a:tc>
                  <a:txBody>
                    <a:bodyPr wrap="square"/>
                    <a:lstStyle/>
                    <a:p>
                      <a:r>
                        <a:rPr sz="1875" b="1">
                          <a:solidFill>
                            <a:srgbClr val="1B2A22"/>
                          </a:solidFill>
                          <a:latin typeface="Calibri"/>
                        </a:rPr>
                        <a:t>Sensors</a:t>
                      </a:r>
                    </a:p>
                  </a:txBody>
                  <a:tcPr anchor="ctr">
                    <a:solidFill>
                      <a:srgbClr val="FFFFFF"/>
                    </a:solidFill>
                  </a:tcPr>
                </a:tc>
                <a:tc>
                  <a:txBody>
                    <a:bodyPr wrap="square"/>
                    <a:lstStyle/>
                    <a:p>
                      <a:r>
                        <a:rPr sz="1875" b="0">
                          <a:solidFill>
                            <a:srgbClr val="1B2A22"/>
                          </a:solidFill>
                          <a:latin typeface="Calibri"/>
                        </a:rPr>
                        <a:t>DHT11, soil and rain are real on the prototype</a:t>
                      </a:r>
                    </a:p>
                  </a:txBody>
                  <a:tcPr anchor="ctr">
                    <a:solidFill>
                      <a:srgbClr val="FFFFFF"/>
                    </a:solidFill>
                  </a:tcPr>
                </a:tc>
                <a:tc>
                  <a:txBody>
                    <a:bodyPr wrap="square"/>
                    <a:lstStyle/>
                    <a:p>
                      <a:r>
                        <a:rPr sz="1875" b="0">
                          <a:solidFill>
                            <a:srgbClr val="1B2A22"/>
                          </a:solidFill>
                          <a:latin typeface="Calibri"/>
                        </a:rPr>
                        <a:t>Pyranometer and PAR are simulated; real ones plug into the same serial line</a:t>
                      </a:r>
                    </a:p>
                  </a:txBody>
                  <a:tcPr anchor="ctr">
                    <a:solidFill>
                      <a:srgbClr val="FFFFFF"/>
                    </a:solidFill>
                  </a:tcPr>
                </a:tc>
              </a:tr>
              <a:tr h="1069848">
                <a:tc>
                  <a:txBody>
                    <a:bodyPr wrap="square"/>
                    <a:lstStyle/>
                    <a:p>
                      <a:r>
                        <a:rPr sz="1875" b="1">
                          <a:solidFill>
                            <a:srgbClr val="1B2A22"/>
                          </a:solidFill>
                          <a:latin typeface="Calibri"/>
                        </a:rPr>
                        <a:t>Controller</a:t>
                      </a:r>
                    </a:p>
                  </a:txBody>
                  <a:tcPr anchor="ctr">
                    <a:solidFill>
                      <a:srgbClr val="E6EEE0"/>
                    </a:solidFill>
                  </a:tcPr>
                </a:tc>
                <a:tc>
                  <a:txBody>
                    <a:bodyPr wrap="square"/>
                    <a:lstStyle/>
                    <a:p>
                      <a:r>
                        <a:rPr sz="1875" b="0">
                          <a:solidFill>
                            <a:srgbClr val="1B2A22"/>
                          </a:solidFill>
                          <a:latin typeface="Calibri"/>
                        </a:rPr>
                        <a:t>Runs live in MATLAB from the ESP serial data</a:t>
                      </a:r>
                    </a:p>
                  </a:txBody>
                  <a:tcPr anchor="ctr">
                    <a:solidFill>
                      <a:srgbClr val="E6EEE0"/>
                    </a:solidFill>
                  </a:tcPr>
                </a:tc>
                <a:tc>
                  <a:txBody>
                    <a:bodyPr wrap="square"/>
                    <a:lstStyle/>
                    <a:p>
                      <a:r>
                        <a:rPr sz="1875" b="0">
                          <a:solidFill>
                            <a:srgbClr val="1B2A22"/>
                          </a:solidFill>
                          <a:latin typeface="Calibri"/>
                        </a:rPr>
                        <a:t>Panel angle shown on screen only; no motor yet</a:t>
                      </a:r>
                    </a:p>
                  </a:txBody>
                  <a:tcPr anchor="ctr">
                    <a:solidFill>
                      <a:srgbClr val="E6EEE0"/>
                    </a:solidFill>
                  </a:tcPr>
                </a:tc>
              </a:tr>
              <a:tr h="1069848">
                <a:tc>
                  <a:txBody>
                    <a:bodyPr wrap="square"/>
                    <a:lstStyle/>
                    <a:p>
                      <a:r>
                        <a:rPr sz="1875" b="1">
                          <a:solidFill>
                            <a:srgbClr val="1B2A22"/>
                          </a:solidFill>
                          <a:latin typeface="Calibri"/>
                        </a:rPr>
                        <a:t>Structure</a:t>
                      </a:r>
                    </a:p>
                  </a:txBody>
                  <a:tcPr anchor="ctr">
                    <a:solidFill>
                      <a:srgbClr val="FFFFFF"/>
                    </a:solidFill>
                  </a:tcPr>
                </a:tc>
                <a:tc>
                  <a:txBody>
                    <a:bodyPr wrap="square"/>
                    <a:lstStyle/>
                    <a:p>
                      <a:r>
                        <a:rPr sz="1875" b="0">
                          <a:solidFill>
                            <a:srgbClr val="1B2A22"/>
                          </a:solidFill>
                          <a:latin typeface="Calibri"/>
                        </a:rPr>
                        <a:t>SS316 wire-rope canopy, screened with IS 875 wind (39 m/s)</a:t>
                      </a:r>
                    </a:p>
                  </a:txBody>
                  <a:tcPr anchor="ctr">
                    <a:solidFill>
                      <a:srgbClr val="FFFFFF"/>
                    </a:solidFill>
                  </a:tcPr>
                </a:tc>
                <a:tc>
                  <a:txBody>
                    <a:bodyPr wrap="square"/>
                    <a:lstStyle/>
                    <a:p>
                      <a:r>
                        <a:rPr sz="1875" b="0">
                          <a:solidFill>
                            <a:srgbClr val="1B2A22"/>
                          </a:solidFill>
                          <a:latin typeface="Calibri"/>
                        </a:rPr>
                        <a:t>12.5 m spans fail, a 5 m rope grid passes; screening only, not a certified design</a:t>
                      </a:r>
                    </a:p>
                  </a:txBody>
                  <a:tcPr anchor="ctr">
                    <a:solidFill>
                      <a:srgbClr val="FFFFFF"/>
                    </a:solidFill>
                  </a:tcPr>
                </a:tc>
              </a:tr>
              <a:tr h="1069848">
                <a:tc>
                  <a:txBody>
                    <a:bodyPr wrap="square"/>
                    <a:lstStyle/>
                    <a:p>
                      <a:r>
                        <a:rPr sz="1875" b="1">
                          <a:solidFill>
                            <a:srgbClr val="1B2A22"/>
                          </a:solidFill>
                          <a:latin typeface="Calibri"/>
                        </a:rPr>
                        <a:t>Power electronics</a:t>
                      </a:r>
                    </a:p>
                  </a:txBody>
                  <a:tcPr anchor="ctr">
                    <a:solidFill>
                      <a:srgbClr val="E6EEE0"/>
                    </a:solidFill>
                  </a:tcPr>
                </a:tc>
                <a:tc>
                  <a:txBody>
                    <a:bodyPr wrap="square"/>
                    <a:lstStyle/>
                    <a:p>
                      <a:r>
                        <a:rPr sz="1875" b="0">
                          <a:solidFill>
                            <a:srgbClr val="1B2A22"/>
                          </a:solidFill>
                          <a:latin typeface="Calibri"/>
                        </a:rPr>
                        <a:t>MPPT works as a software model of a typical 400 W module</a:t>
                      </a:r>
                    </a:p>
                  </a:txBody>
                  <a:tcPr anchor="ctr">
                    <a:solidFill>
                      <a:srgbClr val="E6EEE0"/>
                    </a:solidFill>
                  </a:tcPr>
                </a:tc>
                <a:tc>
                  <a:txBody>
                    <a:bodyPr wrap="square"/>
                    <a:lstStyle/>
                    <a:p>
                      <a:r>
                        <a:rPr sz="1875" b="0">
                          <a:solidFill>
                            <a:srgbClr val="1B2A22"/>
                          </a:solidFill>
                          <a:latin typeface="Calibri"/>
                        </a:rPr>
                        <a:t>Hardware DC-DC converter is future work</a:t>
                      </a:r>
                    </a:p>
                  </a:txBody>
                  <a:tcPr anchor="ctr">
                    <a:solidFill>
                      <a:srgbClr val="E6EEE0"/>
                    </a:solidFill>
                  </a:tcPr>
                </a:tc>
              </a:tr>
              <a:tr h="1069848">
                <a:tc>
                  <a:txBody>
                    <a:bodyPr wrap="square"/>
                    <a:lstStyle/>
                    <a:p>
                      <a:r>
                        <a:rPr sz="1875" b="1">
                          <a:solidFill>
                            <a:srgbClr val="1B2A22"/>
                          </a:solidFill>
                          <a:latin typeface="Calibri"/>
                        </a:rPr>
                        <a:t>Site and data</a:t>
                      </a:r>
                    </a:p>
                  </a:txBody>
                  <a:tcPr anchor="ctr">
                    <a:solidFill>
                      <a:srgbClr val="FFFFFF"/>
                    </a:solidFill>
                  </a:tcPr>
                </a:tc>
                <a:tc>
                  <a:txBody>
                    <a:bodyPr wrap="square"/>
                    <a:lstStyle/>
                    <a:p>
                      <a:r>
                        <a:rPr sz="1875" b="0">
                          <a:solidFill>
                            <a:srgbClr val="1B2A22"/>
                          </a:solidFill>
                          <a:latin typeface="Calibri"/>
                        </a:rPr>
                        <a:t>TCE ground, Madurai; NASA POWER sun data; PVGIS check +5.0 %</a:t>
                      </a:r>
                    </a:p>
                  </a:txBody>
                  <a:tcPr anchor="ctr">
                    <a:solidFill>
                      <a:srgbClr val="FFFFFF"/>
                    </a:solidFill>
                  </a:tcPr>
                </a:tc>
                <a:tc>
                  <a:txBody>
                    <a:bodyPr wrap="square"/>
                    <a:lstStyle/>
                    <a:p>
                      <a:r>
                        <a:rPr sz="1875" b="0">
                          <a:solidFill>
                            <a:srgbClr val="1B2A22"/>
                          </a:solidFill>
                          <a:latin typeface="Calibri"/>
                        </a:rPr>
                        <a:t>Needs a season of field data to confirm</a:t>
                      </a:r>
                    </a:p>
                  </a:txBody>
                  <a:tcPr anchor="ctr">
                    <a:solidFill>
                      <a:srgbClr val="FFFFFF"/>
                    </a:solidFill>
                  </a:tcPr>
                </a:tc>
              </a:tr>
            </a:tbl>
          </a:graphicData>
        </a:graphic>
      </p:graphicFrame>
      <p:sp>
        <p:nvSpPr>
          <p:cNvPr id="7" name="Rounded Rectangle 6"/>
          <p:cNvSpPr/>
          <p:nvPr/>
        </p:nvSpPr>
        <p:spPr>
          <a:xfrm>
            <a:off x="822959" y="9052559"/>
            <a:ext cx="6309359" cy="466344"/>
          </a:xfrm>
          <a:prstGeom prst="roundRect">
            <a:avLst>
              <a:gd name="adj" fmla="val 6000"/>
            </a:avLst>
          </a:prstGeom>
          <a:solidFill>
            <a:srgbClr val="4E9A2E"/>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Feasible now: low cost, simulation first</a:t>
            </a:r>
          </a:p>
        </p:txBody>
      </p:sp>
      <p:sp>
        <p:nvSpPr>
          <p:cNvPr id="8" name="Rounded Rectangle 7"/>
          <p:cNvSpPr/>
          <p:nvPr/>
        </p:nvSpPr>
        <p:spPr>
          <a:xfrm>
            <a:off x="12755880" y="822959"/>
            <a:ext cx="4663440" cy="466344"/>
          </a:xfrm>
          <a:prstGeom prst="roundRect">
            <a:avLst>
              <a:gd name="adj" fmla="val 6000"/>
            </a:avLst>
          </a:prstGeom>
          <a:solidFill>
            <a:srgbClr val="E8A317"/>
          </a:solidFill>
          <a:ln>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FEASIBILITY  |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SDG mapping and cost effectiveness</a:t>
              </a:r>
            </a:p>
          </p:txBody>
        </p:sp>
      </p:grpSp>
      <p:sp>
        <p:nvSpPr>
          <p:cNvPr id="5" name="TextBox 4"/>
          <p:cNvSpPr txBox="1"/>
          <p:nvPr/>
        </p:nvSpPr>
        <p:spPr>
          <a:xfrm>
            <a:off x="822959" y="1399032"/>
            <a:ext cx="16459200" cy="576072"/>
          </a:xfrm>
          <a:prstGeom prst="rect">
            <a:avLst/>
          </a:prstGeom>
          <a:noFill/>
        </p:spPr>
        <p:txBody>
          <a:bodyPr wrap="square">
            <a:spAutoFit/>
          </a:bodyPr>
          <a:lstStyle/>
          <a:p>
            <a:pPr>
              <a:spcAft>
                <a:spcPts val="600"/>
              </a:spcAft>
            </a:pPr>
            <a:r>
              <a:rPr sz="2400" b="0">
                <a:solidFill>
                  <a:srgbClr val="5B6B62"/>
                </a:solidFill>
                <a:latin typeface="Calibri"/>
              </a:rPr>
              <a:t>Four goals served, with a very low prototype cost</a:t>
            </a:r>
          </a:p>
        </p:txBody>
      </p:sp>
      <p:sp>
        <p:nvSpPr>
          <p:cNvPr id="6" name="Rounded Rectangle 5"/>
          <p:cNvSpPr/>
          <p:nvPr/>
        </p:nvSpPr>
        <p:spPr>
          <a:xfrm>
            <a:off x="822959" y="2194560"/>
            <a:ext cx="3977639" cy="2263139"/>
          </a:xfrm>
          <a:prstGeom prst="roundRect">
            <a:avLst>
              <a:gd name="adj" fmla="val 6000"/>
            </a:avLst>
          </a:prstGeom>
          <a:solidFill>
            <a:srgbClr val="FFFFFF"/>
          </a:solidFill>
          <a:ln>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263139"/>
            <a:ext cx="3703320" cy="548640"/>
          </a:xfrm>
          <a:prstGeom prst="rect">
            <a:avLst/>
          </a:prstGeom>
          <a:noFill/>
        </p:spPr>
        <p:txBody>
          <a:bodyPr wrap="square">
            <a:spAutoFit/>
          </a:bodyPr>
          <a:lstStyle/>
          <a:p>
            <a:pPr>
              <a:spcAft>
                <a:spcPts val="600"/>
              </a:spcAft>
            </a:pPr>
            <a:r>
              <a:rPr sz="2250" b="1">
                <a:solidFill>
                  <a:srgbClr val="14342B"/>
                </a:solidFill>
                <a:latin typeface="Calibri"/>
              </a:rPr>
              <a:t>SDG 7  Clean energy</a:t>
            </a:r>
          </a:p>
        </p:txBody>
      </p:sp>
      <p:sp>
        <p:nvSpPr>
          <p:cNvPr id="8" name="TextBox 7"/>
          <p:cNvSpPr txBox="1"/>
          <p:nvPr/>
        </p:nvSpPr>
        <p:spPr>
          <a:xfrm>
            <a:off x="960119" y="2880360"/>
            <a:ext cx="3703320" cy="1508760"/>
          </a:xfrm>
          <a:prstGeom prst="rect">
            <a:avLst/>
          </a:prstGeom>
          <a:noFill/>
        </p:spPr>
        <p:txBody>
          <a:bodyPr wrap="square">
            <a:spAutoFit/>
          </a:bodyPr>
          <a:lstStyle/>
          <a:p>
            <a:pPr>
              <a:spcAft>
                <a:spcPts val="600"/>
              </a:spcAft>
            </a:pPr>
            <a:r>
              <a:rPr sz="1950" b="0">
                <a:solidFill>
                  <a:srgbClr val="1B2A22"/>
                </a:solidFill>
                <a:latin typeface="Calibri"/>
              </a:rPr>
              <a:t>Panels make electricity over the farm</a:t>
            </a:r>
          </a:p>
        </p:txBody>
      </p:sp>
      <p:sp>
        <p:nvSpPr>
          <p:cNvPr id="9" name="Rounded Rectangle 8"/>
          <p:cNvSpPr/>
          <p:nvPr/>
        </p:nvSpPr>
        <p:spPr>
          <a:xfrm>
            <a:off x="5006340" y="2194560"/>
            <a:ext cx="3977639" cy="2263139"/>
          </a:xfrm>
          <a:prstGeom prst="roundRect">
            <a:avLst>
              <a:gd name="adj" fmla="val 6000"/>
            </a:avLst>
          </a:prstGeom>
          <a:solidFill>
            <a:srgbClr val="FFFFFF"/>
          </a:solidFill>
          <a:ln>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3500" y="2263139"/>
            <a:ext cx="3703320" cy="548640"/>
          </a:xfrm>
          <a:prstGeom prst="rect">
            <a:avLst/>
          </a:prstGeom>
          <a:noFill/>
        </p:spPr>
        <p:txBody>
          <a:bodyPr wrap="square">
            <a:spAutoFit/>
          </a:bodyPr>
          <a:lstStyle/>
          <a:p>
            <a:pPr>
              <a:spcAft>
                <a:spcPts val="600"/>
              </a:spcAft>
            </a:pPr>
            <a:r>
              <a:rPr sz="2250" b="1">
                <a:solidFill>
                  <a:srgbClr val="14342B"/>
                </a:solidFill>
                <a:latin typeface="Calibri"/>
              </a:rPr>
              <a:t>SDG 2  Zero hunger</a:t>
            </a:r>
          </a:p>
        </p:txBody>
      </p:sp>
      <p:sp>
        <p:nvSpPr>
          <p:cNvPr id="11" name="TextBox 10"/>
          <p:cNvSpPr txBox="1"/>
          <p:nvPr/>
        </p:nvSpPr>
        <p:spPr>
          <a:xfrm>
            <a:off x="5143500" y="2880360"/>
            <a:ext cx="3703320" cy="1508760"/>
          </a:xfrm>
          <a:prstGeom prst="rect">
            <a:avLst/>
          </a:prstGeom>
          <a:noFill/>
        </p:spPr>
        <p:txBody>
          <a:bodyPr wrap="square">
            <a:spAutoFit/>
          </a:bodyPr>
          <a:lstStyle/>
          <a:p>
            <a:pPr>
              <a:spcAft>
                <a:spcPts val="600"/>
              </a:spcAft>
            </a:pPr>
            <a:r>
              <a:rPr sz="1950" b="0">
                <a:solidFill>
                  <a:srgbClr val="1B2A22"/>
                </a:solidFill>
                <a:latin typeface="Calibri"/>
              </a:rPr>
              <a:t>Crops still get the light they need</a:t>
            </a:r>
          </a:p>
        </p:txBody>
      </p:sp>
      <p:sp>
        <p:nvSpPr>
          <p:cNvPr id="12" name="Rounded Rectangle 11"/>
          <p:cNvSpPr/>
          <p:nvPr/>
        </p:nvSpPr>
        <p:spPr>
          <a:xfrm>
            <a:off x="9189719" y="2194560"/>
            <a:ext cx="3977639" cy="2263139"/>
          </a:xfrm>
          <a:prstGeom prst="roundRect">
            <a:avLst>
              <a:gd name="adj" fmla="val 6000"/>
            </a:avLst>
          </a:prstGeom>
          <a:solidFill>
            <a:srgbClr val="FFFFFF"/>
          </a:solidFill>
          <a:ln>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0" y="2263139"/>
            <a:ext cx="3703320" cy="548640"/>
          </a:xfrm>
          <a:prstGeom prst="rect">
            <a:avLst/>
          </a:prstGeom>
          <a:noFill/>
        </p:spPr>
        <p:txBody>
          <a:bodyPr wrap="square">
            <a:spAutoFit/>
          </a:bodyPr>
          <a:lstStyle/>
          <a:p>
            <a:pPr>
              <a:spcAft>
                <a:spcPts val="600"/>
              </a:spcAft>
            </a:pPr>
            <a:r>
              <a:rPr sz="2250" b="1">
                <a:solidFill>
                  <a:srgbClr val="14342B"/>
                </a:solidFill>
                <a:latin typeface="Calibri"/>
              </a:rPr>
              <a:t>SDG 6  Clean water</a:t>
            </a:r>
          </a:p>
        </p:txBody>
      </p:sp>
      <p:sp>
        <p:nvSpPr>
          <p:cNvPr id="14" name="TextBox 13"/>
          <p:cNvSpPr txBox="1"/>
          <p:nvPr/>
        </p:nvSpPr>
        <p:spPr>
          <a:xfrm>
            <a:off x="9326880" y="2880360"/>
            <a:ext cx="3703320" cy="1508760"/>
          </a:xfrm>
          <a:prstGeom prst="rect">
            <a:avLst/>
          </a:prstGeom>
          <a:noFill/>
        </p:spPr>
        <p:txBody>
          <a:bodyPr wrap="square">
            <a:spAutoFit/>
          </a:bodyPr>
          <a:lstStyle/>
          <a:p>
            <a:pPr>
              <a:spcAft>
                <a:spcPts val="600"/>
              </a:spcAft>
            </a:pPr>
            <a:r>
              <a:rPr sz="1950" b="0">
                <a:solidFill>
                  <a:srgbClr val="1B2A22"/>
                </a:solidFill>
                <a:latin typeface="Calibri"/>
              </a:rPr>
              <a:t>Rain is harvested to a tank for irrigation</a:t>
            </a:r>
          </a:p>
        </p:txBody>
      </p:sp>
      <p:sp>
        <p:nvSpPr>
          <p:cNvPr id="15" name="Rounded Rectangle 14"/>
          <p:cNvSpPr/>
          <p:nvPr/>
        </p:nvSpPr>
        <p:spPr>
          <a:xfrm>
            <a:off x="13373099" y="2194560"/>
            <a:ext cx="3977639" cy="2263139"/>
          </a:xfrm>
          <a:prstGeom prst="roundRect">
            <a:avLst>
              <a:gd name="adj" fmla="val 6000"/>
            </a:avLst>
          </a:prstGeom>
          <a:solidFill>
            <a:srgbClr val="FFFFFF"/>
          </a:solidFill>
          <a:ln>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10259" y="2263139"/>
            <a:ext cx="3703320" cy="548640"/>
          </a:xfrm>
          <a:prstGeom prst="rect">
            <a:avLst/>
          </a:prstGeom>
          <a:noFill/>
        </p:spPr>
        <p:txBody>
          <a:bodyPr wrap="square">
            <a:spAutoFit/>
          </a:bodyPr>
          <a:lstStyle/>
          <a:p>
            <a:pPr>
              <a:spcAft>
                <a:spcPts val="600"/>
              </a:spcAft>
            </a:pPr>
            <a:r>
              <a:rPr sz="2250" b="1">
                <a:solidFill>
                  <a:srgbClr val="14342B"/>
                </a:solidFill>
                <a:latin typeface="Calibri"/>
              </a:rPr>
              <a:t>SDG 13  Climate action</a:t>
            </a:r>
          </a:p>
        </p:txBody>
      </p:sp>
      <p:sp>
        <p:nvSpPr>
          <p:cNvPr id="17" name="TextBox 16"/>
          <p:cNvSpPr txBox="1"/>
          <p:nvPr/>
        </p:nvSpPr>
        <p:spPr>
          <a:xfrm>
            <a:off x="13510259" y="2880360"/>
            <a:ext cx="3703320" cy="1508760"/>
          </a:xfrm>
          <a:prstGeom prst="rect">
            <a:avLst/>
          </a:prstGeom>
          <a:noFill/>
        </p:spPr>
        <p:txBody>
          <a:bodyPr wrap="square">
            <a:spAutoFit/>
          </a:bodyPr>
          <a:lstStyle/>
          <a:p>
            <a:pPr>
              <a:spcAft>
                <a:spcPts val="600"/>
              </a:spcAft>
            </a:pPr>
            <a:r>
              <a:rPr sz="1950" b="0">
                <a:solidFill>
                  <a:srgbClr val="1B2A22"/>
                </a:solidFill>
                <a:latin typeface="Calibri"/>
              </a:rPr>
              <a:t>Land produces food and power together</a:t>
            </a:r>
          </a:p>
        </p:txBody>
      </p:sp>
      <p:graphicFrame>
        <p:nvGraphicFramePr>
          <p:cNvPr id="18" name="Table 17"/>
          <p:cNvGraphicFramePr>
            <a:graphicFrameLocks noGrp="1"/>
          </p:cNvGraphicFramePr>
          <p:nvPr/>
        </p:nvGraphicFramePr>
        <p:xfrm>
          <a:off x="822959" y="4800600"/>
          <a:ext cx="10012679" cy="4114800"/>
        </p:xfrm>
        <a:graphic>
          <a:graphicData uri="http://schemas.openxmlformats.org/drawingml/2006/table">
            <a:tbl>
              <a:tblPr firstRow="1" bandRow="1">
                <a:tableStyleId>{5C22544A-7EE6-4342-B048-85BDC9FD1C3A}</a:tableStyleId>
              </a:tblPr>
              <a:tblGrid>
                <a:gridCol w="6309359"/>
                <a:gridCol w="3703320"/>
              </a:tblGrid>
              <a:tr h="685800">
                <a:tc>
                  <a:txBody>
                    <a:bodyPr wrap="square"/>
                    <a:lstStyle/>
                    <a:p>
                      <a:r>
                        <a:rPr sz="1950" b="1">
                          <a:solidFill>
                            <a:srgbClr val="FFFFFF"/>
                          </a:solidFill>
                          <a:latin typeface="Calibri"/>
                        </a:rPr>
                        <a:t>Prototype item</a:t>
                      </a:r>
                    </a:p>
                  </a:txBody>
                  <a:tcPr anchor="ctr">
                    <a:solidFill>
                      <a:srgbClr val="14342B"/>
                    </a:solidFill>
                  </a:tcPr>
                </a:tc>
                <a:tc>
                  <a:txBody>
                    <a:bodyPr wrap="square"/>
                    <a:lstStyle/>
                    <a:p>
                      <a:r>
                        <a:rPr sz="1950" b="1">
                          <a:solidFill>
                            <a:srgbClr val="FFFFFF"/>
                          </a:solidFill>
                          <a:latin typeface="Calibri"/>
                        </a:rPr>
                        <a:t>Approx. cost (Rs)</a:t>
                      </a:r>
                    </a:p>
                  </a:txBody>
                  <a:tcPr anchor="ctr">
                    <a:solidFill>
                      <a:srgbClr val="14342B"/>
                    </a:solidFill>
                  </a:tcPr>
                </a:tc>
              </a:tr>
              <a:tr h="685800">
                <a:tc>
                  <a:txBody>
                    <a:bodyPr wrap="square"/>
                    <a:lstStyle/>
                    <a:p>
                      <a:r>
                        <a:rPr sz="1950" b="1">
                          <a:solidFill>
                            <a:srgbClr val="1B2A22"/>
                          </a:solidFill>
                          <a:latin typeface="Calibri"/>
                        </a:rPr>
                        <a:t>NodeMCU ESP8266</a:t>
                      </a:r>
                    </a:p>
                  </a:txBody>
                  <a:tcPr anchor="ctr">
                    <a:solidFill>
                      <a:srgbClr val="FFFFFF"/>
                    </a:solidFill>
                  </a:tcPr>
                </a:tc>
                <a:tc>
                  <a:txBody>
                    <a:bodyPr wrap="square"/>
                    <a:lstStyle/>
                    <a:p>
                      <a:r>
                        <a:rPr sz="1950" b="0">
                          <a:solidFill>
                            <a:srgbClr val="1B2A22"/>
                          </a:solidFill>
                          <a:latin typeface="Calibri"/>
                        </a:rPr>
                        <a:t>350</a:t>
                      </a:r>
                    </a:p>
                  </a:txBody>
                  <a:tcPr anchor="ctr">
                    <a:solidFill>
                      <a:srgbClr val="FFFFFF"/>
                    </a:solidFill>
                  </a:tcPr>
                </a:tc>
              </a:tr>
              <a:tr h="685800">
                <a:tc>
                  <a:txBody>
                    <a:bodyPr wrap="square"/>
                    <a:lstStyle/>
                    <a:p>
                      <a:r>
                        <a:rPr sz="1950" b="1">
                          <a:solidFill>
                            <a:srgbClr val="1B2A22"/>
                          </a:solidFill>
                          <a:latin typeface="Calibri"/>
                        </a:rPr>
                        <a:t>ESP32 (spare board)</a:t>
                      </a:r>
                    </a:p>
                  </a:txBody>
                  <a:tcPr anchor="ctr">
                    <a:solidFill>
                      <a:srgbClr val="E6EEE0"/>
                    </a:solidFill>
                  </a:tcPr>
                </a:tc>
                <a:tc>
                  <a:txBody>
                    <a:bodyPr wrap="square"/>
                    <a:lstStyle/>
                    <a:p>
                      <a:r>
                        <a:rPr sz="1950" b="0">
                          <a:solidFill>
                            <a:srgbClr val="1B2A22"/>
                          </a:solidFill>
                          <a:latin typeface="Calibri"/>
                        </a:rPr>
                        <a:t>500</a:t>
                      </a:r>
                    </a:p>
                  </a:txBody>
                  <a:tcPr anchor="ctr">
                    <a:solidFill>
                      <a:srgbClr val="E6EEE0"/>
                    </a:solidFill>
                  </a:tcPr>
                </a:tc>
              </a:tr>
              <a:tr h="685800">
                <a:tc>
                  <a:txBody>
                    <a:bodyPr wrap="square"/>
                    <a:lstStyle/>
                    <a:p>
                      <a:r>
                        <a:rPr sz="1950" b="1">
                          <a:solidFill>
                            <a:srgbClr val="1B2A22"/>
                          </a:solidFill>
                          <a:latin typeface="Calibri"/>
                        </a:rPr>
                        <a:t>DHT11 + soil sensor + rain sensor</a:t>
                      </a:r>
                    </a:p>
                  </a:txBody>
                  <a:tcPr anchor="ctr">
                    <a:solidFill>
                      <a:srgbClr val="FFFFFF"/>
                    </a:solidFill>
                  </a:tcPr>
                </a:tc>
                <a:tc>
                  <a:txBody>
                    <a:bodyPr wrap="square"/>
                    <a:lstStyle/>
                    <a:p>
                      <a:r>
                        <a:rPr sz="1950" b="0">
                          <a:solidFill>
                            <a:srgbClr val="1B2A22"/>
                          </a:solidFill>
                          <a:latin typeface="Calibri"/>
                        </a:rPr>
                        <a:t>300</a:t>
                      </a:r>
                    </a:p>
                  </a:txBody>
                  <a:tcPr anchor="ctr">
                    <a:solidFill>
                      <a:srgbClr val="FFFFFF"/>
                    </a:solidFill>
                  </a:tcPr>
                </a:tc>
              </a:tr>
              <a:tr h="685800">
                <a:tc>
                  <a:txBody>
                    <a:bodyPr wrap="square"/>
                    <a:lstStyle/>
                    <a:p>
                      <a:r>
                        <a:rPr sz="1950" b="1">
                          <a:solidFill>
                            <a:srgbClr val="1B2A22"/>
                          </a:solidFill>
                          <a:latin typeface="Calibri"/>
                        </a:rPr>
                        <a:t>Wires, breadboard, USB cable</a:t>
                      </a:r>
                    </a:p>
                  </a:txBody>
                  <a:tcPr anchor="ctr">
                    <a:solidFill>
                      <a:srgbClr val="E6EEE0"/>
                    </a:solidFill>
                  </a:tcPr>
                </a:tc>
                <a:tc>
                  <a:txBody>
                    <a:bodyPr wrap="square"/>
                    <a:lstStyle/>
                    <a:p>
                      <a:r>
                        <a:rPr sz="1950" b="0">
                          <a:solidFill>
                            <a:srgbClr val="1B2A22"/>
                          </a:solidFill>
                          <a:latin typeface="Calibri"/>
                        </a:rPr>
                        <a:t>150</a:t>
                      </a:r>
                    </a:p>
                  </a:txBody>
                  <a:tcPr anchor="ctr">
                    <a:solidFill>
                      <a:srgbClr val="E6EEE0"/>
                    </a:solidFill>
                  </a:tcPr>
                </a:tc>
              </a:tr>
              <a:tr h="685800">
                <a:tc>
                  <a:txBody>
                    <a:bodyPr wrap="square"/>
                    <a:lstStyle/>
                    <a:p>
                      <a:r>
                        <a:rPr sz="1950" b="1">
                          <a:solidFill>
                            <a:srgbClr val="1B2A22"/>
                          </a:solidFill>
                          <a:latin typeface="Calibri"/>
                        </a:rPr>
                        <a:t>Total (approximate)</a:t>
                      </a:r>
                    </a:p>
                  </a:txBody>
                  <a:tcPr anchor="ctr">
                    <a:solidFill>
                      <a:srgbClr val="FFFFFF"/>
                    </a:solidFill>
                  </a:tcPr>
                </a:tc>
                <a:tc>
                  <a:txBody>
                    <a:bodyPr wrap="square"/>
                    <a:lstStyle/>
                    <a:p>
                      <a:r>
                        <a:rPr sz="1950" b="0">
                          <a:solidFill>
                            <a:srgbClr val="1B2A22"/>
                          </a:solidFill>
                          <a:latin typeface="Calibri"/>
                        </a:rPr>
                        <a:t>about 1,300</a:t>
                      </a:r>
                    </a:p>
                  </a:txBody>
                  <a:tcPr anchor="ctr">
                    <a:solidFill>
                      <a:srgbClr val="FFFFFF"/>
                    </a:solidFill>
                  </a:tcPr>
                </a:tc>
              </a:tr>
            </a:tbl>
          </a:graphicData>
        </a:graphic>
      </p:graphicFrame>
      <p:sp>
        <p:nvSpPr>
          <p:cNvPr id="19" name="Rounded Rectangle 18"/>
          <p:cNvSpPr/>
          <p:nvPr/>
        </p:nvSpPr>
        <p:spPr>
          <a:xfrm>
            <a:off x="11247119" y="4800600"/>
            <a:ext cx="6172200" cy="4114800"/>
          </a:xfrm>
          <a:prstGeom prst="roundRect">
            <a:avLst>
              <a:gd name="adj" fmla="val 6000"/>
            </a:avLst>
          </a:prstGeom>
          <a:solidFill>
            <a:srgbClr val="FFF6DC"/>
          </a:solidFill>
          <a:ln>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52859" y="4869179"/>
            <a:ext cx="5760720" cy="3977639"/>
          </a:xfrm>
          <a:prstGeom prst="rect">
            <a:avLst/>
          </a:prstGeom>
          <a:noFill/>
        </p:spPr>
        <p:txBody>
          <a:bodyPr wrap="square">
            <a:spAutoFit/>
          </a:bodyPr>
          <a:lstStyle/>
          <a:p>
            <a:pPr>
              <a:spcAft>
                <a:spcPts val="600"/>
              </a:spcAft>
            </a:pPr>
            <a:r>
              <a:rPr sz="1875" b="0">
                <a:solidFill>
                  <a:srgbClr val="1B2A22"/>
                </a:solidFill>
                <a:latin typeface="Calibri"/>
              </a:rPr>
              <a:t>Why it is cost effective:</a:t>
            </a:r>
          </a:p>
          <a:p>
            <a:pPr>
              <a:spcAft>
                <a:spcPts val="600"/>
              </a:spcAft>
            </a:pPr>
            <a:r>
              <a:rPr sz="1875" b="0">
                <a:solidFill>
                  <a:srgbClr val="1B2A22"/>
                </a:solidFill>
                <a:latin typeface="Calibri"/>
              </a:rPr>
              <a:t>Software is free or from the college (Arduino IDE, Blender, MATLAB licence)</a:t>
            </a:r>
          </a:p>
          <a:p>
            <a:pPr>
              <a:spcAft>
                <a:spcPts val="600"/>
              </a:spcAft>
            </a:pPr>
            <a:r>
              <a:rPr sz="1875" b="0">
                <a:solidFill>
                  <a:srgbClr val="1B2A22"/>
                </a:solidFill>
                <a:latin typeface="Calibri"/>
              </a:rPr>
              <a:t>Everything is tested on the computer before any steel or panel is bought</a:t>
            </a:r>
          </a:p>
          <a:p>
            <a:pPr>
              <a:spcAft>
                <a:spcPts val="600"/>
              </a:spcAft>
            </a:pPr>
            <a:r>
              <a:rPr sz="1875" b="0">
                <a:solidFill>
                  <a:srgbClr val="1B2A22"/>
                </a:solidFill>
                <a:latin typeface="Calibri"/>
              </a:rPr>
              <a:t>Prices are market estimates; replace with real bills. Full-scale cost and farmer income: Review 5.</a:t>
            </a:r>
          </a:p>
        </p:txBody>
      </p:sp>
      <p:sp>
        <p:nvSpPr>
          <p:cNvPr id="21" name="Rounded Rectangle 20"/>
          <p:cNvSpPr/>
          <p:nvPr/>
        </p:nvSpPr>
        <p:spPr>
          <a:xfrm>
            <a:off x="12755880" y="822959"/>
            <a:ext cx="4663440" cy="466344"/>
          </a:xfrm>
          <a:prstGeom prst="roundRect">
            <a:avLst>
              <a:gd name="adj" fmla="val 6000"/>
            </a:avLst>
          </a:prstGeom>
          <a:solidFill>
            <a:srgbClr val="4E9A2E"/>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SDG AND COST  |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Time management and progress tracking</a:t>
              </a:r>
            </a:p>
          </p:txBody>
        </p:sp>
      </p:grpSp>
      <p:sp>
        <p:nvSpPr>
          <p:cNvPr id="5" name="TextBox 4"/>
          <p:cNvSpPr txBox="1"/>
          <p:nvPr/>
        </p:nvSpPr>
        <p:spPr>
          <a:xfrm>
            <a:off x="822959" y="1399032"/>
            <a:ext cx="16459200" cy="576072"/>
          </a:xfrm>
          <a:prstGeom prst="rect">
            <a:avLst/>
          </a:prstGeom>
          <a:noFill/>
        </p:spPr>
        <p:txBody>
          <a:bodyPr wrap="square">
            <a:spAutoFit/>
          </a:bodyPr>
          <a:lstStyle/>
          <a:p>
            <a:pPr>
              <a:spcAft>
                <a:spcPts val="600"/>
              </a:spcAft>
            </a:pPr>
            <a:r>
              <a:rPr sz="2400" b="0">
                <a:solidFill>
                  <a:srgbClr val="5B6B62"/>
                </a:solidFill>
                <a:latin typeface="Calibri"/>
              </a:rPr>
              <a:t>Review 0 is complete; Reviews 1 to 5 are planned</a:t>
            </a:r>
          </a:p>
        </p:txBody>
      </p:sp>
      <p:graphicFrame>
        <p:nvGraphicFramePr>
          <p:cNvPr id="6" name="Table 5"/>
          <p:cNvGraphicFramePr>
            <a:graphicFrameLocks noGrp="1"/>
          </p:cNvGraphicFramePr>
          <p:nvPr/>
        </p:nvGraphicFramePr>
        <p:xfrm>
          <a:off x="822959" y="2194560"/>
          <a:ext cx="16596360" cy="5760713"/>
        </p:xfrm>
        <a:graphic>
          <a:graphicData uri="http://schemas.openxmlformats.org/drawingml/2006/table">
            <a:tbl>
              <a:tblPr firstRow="1" bandRow="1">
                <a:tableStyleId>{5C22544A-7EE6-4342-B048-85BDC9FD1C3A}</a:tableStyleId>
              </a:tblPr>
              <a:tblGrid>
                <a:gridCol w="2743200"/>
                <a:gridCol w="9601200"/>
                <a:gridCol w="4251960"/>
              </a:tblGrid>
              <a:tr h="822959">
                <a:tc>
                  <a:txBody>
                    <a:bodyPr wrap="square"/>
                    <a:lstStyle/>
                    <a:p>
                      <a:r>
                        <a:rPr sz="1950" b="1">
                          <a:solidFill>
                            <a:srgbClr val="FFFFFF"/>
                          </a:solidFill>
                          <a:latin typeface="Calibri"/>
                        </a:rPr>
                        <a:t>Review</a:t>
                      </a:r>
                    </a:p>
                  </a:txBody>
                  <a:tcPr anchor="ctr">
                    <a:solidFill>
                      <a:srgbClr val="14342B"/>
                    </a:solidFill>
                  </a:tcPr>
                </a:tc>
                <a:tc>
                  <a:txBody>
                    <a:bodyPr wrap="square"/>
                    <a:lstStyle/>
                    <a:p>
                      <a:r>
                        <a:rPr sz="1950" b="1">
                          <a:solidFill>
                            <a:srgbClr val="FFFFFF"/>
                          </a:solidFill>
                          <a:latin typeface="Calibri"/>
                        </a:rPr>
                        <a:t>Work</a:t>
                      </a:r>
                    </a:p>
                  </a:txBody>
                  <a:tcPr anchor="ctr">
                    <a:solidFill>
                      <a:srgbClr val="14342B"/>
                    </a:solidFill>
                  </a:tcPr>
                </a:tc>
                <a:tc>
                  <a:txBody>
                    <a:bodyPr wrap="square"/>
                    <a:lstStyle/>
                    <a:p>
                      <a:r>
                        <a:rPr sz="1950" b="1">
                          <a:solidFill>
                            <a:srgbClr val="FFFFFF"/>
                          </a:solidFill>
                          <a:latin typeface="Calibri"/>
                        </a:rPr>
                        <a:t>Status</a:t>
                      </a:r>
                    </a:p>
                  </a:txBody>
                  <a:tcPr anchor="ctr">
                    <a:solidFill>
                      <a:srgbClr val="14342B"/>
                    </a:solidFill>
                  </a:tcPr>
                </a:tc>
              </a:tr>
              <a:tr h="822959">
                <a:tc>
                  <a:txBody>
                    <a:bodyPr wrap="square"/>
                    <a:lstStyle/>
                    <a:p>
                      <a:r>
                        <a:rPr sz="1950" b="1">
                          <a:solidFill>
                            <a:srgbClr val="1B2A22"/>
                          </a:solidFill>
                          <a:latin typeface="Calibri"/>
                        </a:rPr>
                        <a:t>0  (today)</a:t>
                      </a:r>
                    </a:p>
                  </a:txBody>
                  <a:tcPr anchor="ctr">
                    <a:solidFill>
                      <a:srgbClr val="FFFFFF"/>
                    </a:solidFill>
                  </a:tcPr>
                </a:tc>
                <a:tc>
                  <a:txBody>
                    <a:bodyPr wrap="square"/>
                    <a:lstStyle/>
                    <a:p>
                      <a:r>
                        <a:rPr sz="1950" b="0">
                          <a:solidFill>
                            <a:srgbClr val="1B2A22"/>
                          </a:solidFill>
                          <a:latin typeface="Calibri"/>
                        </a:rPr>
                        <a:t>Prototype sensors + MATLAB dashboard, MPPT, tests</a:t>
                      </a:r>
                    </a:p>
                  </a:txBody>
                  <a:tcPr anchor="ctr">
                    <a:solidFill>
                      <a:srgbClr val="FFFFFF"/>
                    </a:solidFill>
                  </a:tcPr>
                </a:tc>
                <a:tc>
                  <a:txBody>
                    <a:bodyPr wrap="square"/>
                    <a:lstStyle/>
                    <a:p>
                      <a:r>
                        <a:rPr sz="1950" b="0">
                          <a:solidFill>
                            <a:srgbClr val="1B2A22"/>
                          </a:solidFill>
                          <a:latin typeface="Calibri"/>
                        </a:rPr>
                        <a:t>Done: 29 of 29 tests pass</a:t>
                      </a:r>
                    </a:p>
                  </a:txBody>
                  <a:tcPr anchor="ctr">
                    <a:solidFill>
                      <a:srgbClr val="FFFFFF"/>
                    </a:solidFill>
                  </a:tcPr>
                </a:tc>
              </a:tr>
              <a:tr h="822959">
                <a:tc>
                  <a:txBody>
                    <a:bodyPr wrap="square"/>
                    <a:lstStyle/>
                    <a:p>
                      <a:r>
                        <a:rPr sz="1950" b="1">
                          <a:solidFill>
                            <a:srgbClr val="1B2A22"/>
                          </a:solidFill>
                          <a:latin typeface="Calibri"/>
                        </a:rPr>
                        <a:t>1</a:t>
                      </a:r>
                    </a:p>
                  </a:txBody>
                  <a:tcPr anchor="ctr">
                    <a:solidFill>
                      <a:srgbClr val="E6EEE0"/>
                    </a:solidFill>
                  </a:tcPr>
                </a:tc>
                <a:tc>
                  <a:txBody>
                    <a:bodyPr wrap="square"/>
                    <a:lstStyle/>
                    <a:p>
                      <a:r>
                        <a:rPr sz="1950" b="0">
                          <a:solidFill>
                            <a:srgbClr val="1B2A22"/>
                          </a:solidFill>
                          <a:latin typeface="Calibri"/>
                        </a:rPr>
                        <a:t>Design and CAD (wire canopy, drawings, parts list)</a:t>
                      </a:r>
                    </a:p>
                  </a:txBody>
                  <a:tcPr anchor="ctr">
                    <a:solidFill>
                      <a:srgbClr val="E6EEE0"/>
                    </a:solidFill>
                  </a:tcPr>
                </a:tc>
                <a:tc>
                  <a:txBody>
                    <a:bodyPr wrap="square"/>
                    <a:lstStyle/>
                    <a:p>
                      <a:r>
                        <a:rPr sz="1950" b="0">
                          <a:solidFill>
                            <a:srgbClr val="1B2A22"/>
                          </a:solidFill>
                          <a:latin typeface="Calibri"/>
                        </a:rPr>
                        <a:t>Planned</a:t>
                      </a:r>
                    </a:p>
                  </a:txBody>
                  <a:tcPr anchor="ctr">
                    <a:solidFill>
                      <a:srgbClr val="E6EEE0"/>
                    </a:solidFill>
                  </a:tcPr>
                </a:tc>
              </a:tr>
              <a:tr h="822959">
                <a:tc>
                  <a:txBody>
                    <a:bodyPr wrap="square"/>
                    <a:lstStyle/>
                    <a:p>
                      <a:r>
                        <a:rPr sz="1950" b="1">
                          <a:solidFill>
                            <a:srgbClr val="1B2A22"/>
                          </a:solidFill>
                          <a:latin typeface="Calibri"/>
                        </a:rPr>
                        <a:t>2</a:t>
                      </a:r>
                    </a:p>
                  </a:txBody>
                  <a:tcPr anchor="ctr">
                    <a:solidFill>
                      <a:srgbClr val="FFFFFF"/>
                    </a:solidFill>
                  </a:tcPr>
                </a:tc>
                <a:tc>
                  <a:txBody>
                    <a:bodyPr wrap="square"/>
                    <a:lstStyle/>
                    <a:p>
                      <a:r>
                        <a:rPr sz="1950" b="0">
                          <a:solidFill>
                            <a:srgbClr val="1B2A22"/>
                          </a:solidFill>
                          <a:latin typeface="Calibri"/>
                        </a:rPr>
                        <a:t>Solar and shadow study (sun path, shading)</a:t>
                      </a:r>
                    </a:p>
                  </a:txBody>
                  <a:tcPr anchor="ctr">
                    <a:solidFill>
                      <a:srgbClr val="FFFFFF"/>
                    </a:solidFill>
                  </a:tcPr>
                </a:tc>
                <a:tc>
                  <a:txBody>
                    <a:bodyPr wrap="square"/>
                    <a:lstStyle/>
                    <a:p>
                      <a:r>
                        <a:rPr sz="1950" b="0">
                          <a:solidFill>
                            <a:srgbClr val="1B2A22"/>
                          </a:solidFill>
                          <a:latin typeface="Calibri"/>
                        </a:rPr>
                        <a:t>Planned</a:t>
                      </a:r>
                    </a:p>
                  </a:txBody>
                  <a:tcPr anchor="ctr">
                    <a:solidFill>
                      <a:srgbClr val="FFFFFF"/>
                    </a:solidFill>
                  </a:tcPr>
                </a:tc>
              </a:tr>
              <a:tr h="822959">
                <a:tc>
                  <a:txBody>
                    <a:bodyPr wrap="square"/>
                    <a:lstStyle/>
                    <a:p>
                      <a:r>
                        <a:rPr sz="1950" b="1">
                          <a:solidFill>
                            <a:srgbClr val="1B2A22"/>
                          </a:solidFill>
                          <a:latin typeface="Calibri"/>
                        </a:rPr>
                        <a:t>3</a:t>
                      </a:r>
                    </a:p>
                  </a:txBody>
                  <a:tcPr anchor="ctr">
                    <a:solidFill>
                      <a:srgbClr val="E6EEE0"/>
                    </a:solidFill>
                  </a:tcPr>
                </a:tc>
                <a:tc>
                  <a:txBody>
                    <a:bodyPr wrap="square"/>
                    <a:lstStyle/>
                    <a:p>
                      <a:r>
                        <a:rPr sz="1950" b="0">
                          <a:solidFill>
                            <a:srgbClr val="1B2A22"/>
                          </a:solidFill>
                          <a:latin typeface="Calibri"/>
                        </a:rPr>
                        <a:t>Digital twin (3-D live model)</a:t>
                      </a:r>
                    </a:p>
                  </a:txBody>
                  <a:tcPr anchor="ctr">
                    <a:solidFill>
                      <a:srgbClr val="E6EEE0"/>
                    </a:solidFill>
                  </a:tcPr>
                </a:tc>
                <a:tc>
                  <a:txBody>
                    <a:bodyPr wrap="square"/>
                    <a:lstStyle/>
                    <a:p>
                      <a:r>
                        <a:rPr sz="1950" b="0">
                          <a:solidFill>
                            <a:srgbClr val="1B2A22"/>
                          </a:solidFill>
                          <a:latin typeface="Calibri"/>
                        </a:rPr>
                        <a:t>Planned</a:t>
                      </a:r>
                    </a:p>
                  </a:txBody>
                  <a:tcPr anchor="ctr">
                    <a:solidFill>
                      <a:srgbClr val="E6EEE0"/>
                    </a:solidFill>
                  </a:tcPr>
                </a:tc>
              </a:tr>
              <a:tr h="822959">
                <a:tc>
                  <a:txBody>
                    <a:bodyPr wrap="square"/>
                    <a:lstStyle/>
                    <a:p>
                      <a:r>
                        <a:rPr sz="1950" b="1">
                          <a:solidFill>
                            <a:srgbClr val="1B2A22"/>
                          </a:solidFill>
                          <a:latin typeface="Calibri"/>
                        </a:rPr>
                        <a:t>4</a:t>
                      </a:r>
                    </a:p>
                  </a:txBody>
                  <a:tcPr anchor="ctr">
                    <a:solidFill>
                      <a:srgbClr val="FFFFFF"/>
                    </a:solidFill>
                  </a:tcPr>
                </a:tc>
                <a:tc>
                  <a:txBody>
                    <a:bodyPr wrap="square"/>
                    <a:lstStyle/>
                    <a:p>
                      <a:r>
                        <a:rPr sz="1950" b="0">
                          <a:solidFill>
                            <a:srgbClr val="1B2A22"/>
                          </a:solidFill>
                          <a:latin typeface="Calibri"/>
                        </a:rPr>
                        <a:t>Control and simulation (full-year runs)</a:t>
                      </a:r>
                    </a:p>
                  </a:txBody>
                  <a:tcPr anchor="ctr">
                    <a:solidFill>
                      <a:srgbClr val="FFFFFF"/>
                    </a:solidFill>
                  </a:tcPr>
                </a:tc>
                <a:tc>
                  <a:txBody>
                    <a:bodyPr wrap="square"/>
                    <a:lstStyle/>
                    <a:p>
                      <a:r>
                        <a:rPr sz="1950" b="0">
                          <a:solidFill>
                            <a:srgbClr val="1B2A22"/>
                          </a:solidFill>
                          <a:latin typeface="Calibri"/>
                        </a:rPr>
                        <a:t>Planned</a:t>
                      </a:r>
                    </a:p>
                  </a:txBody>
                  <a:tcPr anchor="ctr">
                    <a:solidFill>
                      <a:srgbClr val="FFFFFF"/>
                    </a:solidFill>
                  </a:tcPr>
                </a:tc>
              </a:tr>
              <a:tr h="822959">
                <a:tc>
                  <a:txBody>
                    <a:bodyPr wrap="square"/>
                    <a:lstStyle/>
                    <a:p>
                      <a:r>
                        <a:rPr sz="1950" b="1">
                          <a:solidFill>
                            <a:srgbClr val="1B2A22"/>
                          </a:solidFill>
                          <a:latin typeface="Calibri"/>
                        </a:rPr>
                        <a:t>5</a:t>
                      </a:r>
                    </a:p>
                  </a:txBody>
                  <a:tcPr anchor="ctr">
                    <a:solidFill>
                      <a:srgbClr val="E6EEE0"/>
                    </a:solidFill>
                  </a:tcPr>
                </a:tc>
                <a:tc>
                  <a:txBody>
                    <a:bodyPr wrap="square"/>
                    <a:lstStyle/>
                    <a:p>
                      <a:r>
                        <a:rPr sz="1950" b="0">
                          <a:solidFill>
                            <a:srgbClr val="1B2A22"/>
                          </a:solidFill>
                          <a:latin typeface="Calibri"/>
                        </a:rPr>
                        <a:t>Economics, final report and viva</a:t>
                      </a:r>
                    </a:p>
                  </a:txBody>
                  <a:tcPr anchor="ctr">
                    <a:solidFill>
                      <a:srgbClr val="E6EEE0"/>
                    </a:solidFill>
                  </a:tcPr>
                </a:tc>
                <a:tc>
                  <a:txBody>
                    <a:bodyPr wrap="square"/>
                    <a:lstStyle/>
                    <a:p>
                      <a:r>
                        <a:rPr sz="1950" b="0">
                          <a:solidFill>
                            <a:srgbClr val="1B2A22"/>
                          </a:solidFill>
                          <a:latin typeface="Calibri"/>
                        </a:rPr>
                        <a:t>Planned</a:t>
                      </a:r>
                    </a:p>
                  </a:txBody>
                  <a:tcPr anchor="ctr">
                    <a:solidFill>
                      <a:srgbClr val="E6EEE0"/>
                    </a:solidFill>
                  </a:tcPr>
                </a:tc>
              </a:tr>
            </a:tbl>
          </a:graphicData>
        </a:graphic>
      </p:graphicFrame>
      <p:sp>
        <p:nvSpPr>
          <p:cNvPr id="7" name="TextBox 6"/>
          <p:cNvSpPr txBox="1"/>
          <p:nvPr/>
        </p:nvSpPr>
        <p:spPr>
          <a:xfrm>
            <a:off x="822959" y="8229600"/>
            <a:ext cx="16596359" cy="1097280"/>
          </a:xfrm>
          <a:prstGeom prst="rect">
            <a:avLst/>
          </a:prstGeom>
          <a:noFill/>
        </p:spPr>
        <p:txBody>
          <a:bodyPr wrap="square">
            <a:spAutoFit/>
          </a:bodyPr>
          <a:lstStyle/>
          <a:p>
            <a:pPr>
              <a:spcAft>
                <a:spcPts val="600"/>
              </a:spcAft>
            </a:pPr>
            <a:r>
              <a:rPr sz="2100" b="0">
                <a:solidFill>
                  <a:srgbClr val="5B6B62"/>
                </a:solidFill>
                <a:latin typeface="Calibri"/>
              </a:rPr>
              <a:t>Next: wire the boards, read real DHT11 / soil / rain values, and fill the bench numbers in the accuracy table.</a:t>
            </a:r>
          </a:p>
        </p:txBody>
      </p:sp>
      <p:sp>
        <p:nvSpPr>
          <p:cNvPr id="8" name="Rounded Rectangle 7"/>
          <p:cNvSpPr/>
          <p:nvPr/>
        </p:nvSpPr>
        <p:spPr>
          <a:xfrm>
            <a:off x="12755880" y="822959"/>
            <a:ext cx="4663440" cy="466344"/>
          </a:xfrm>
          <a:prstGeom prst="roundRect">
            <a:avLst>
              <a:gd name="adj" fmla="val 6000"/>
            </a:avLst>
          </a:prstGeom>
          <a:solidFill>
            <a:srgbClr val="E8A317"/>
          </a:solidFill>
          <a:ln>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TIME MGMT  |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txBody>
            <a:bodyPr/>
            <a:p/>
          </p:txBody>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Response to questions: likely questions</a:t>
              </a:r>
            </a:p>
          </p:txBody>
        </p:sp>
      </p:grpSp>
      <p:sp>
        <p:nvSpPr>
          <p:cNvPr id="5" name="TextBox 4"/>
          <p:cNvSpPr txBox="1"/>
          <p:nvPr/>
        </p:nvSpPr>
        <p:spPr>
          <a:xfrm>
            <a:off x="822959" y="1399032"/>
            <a:ext cx="16459200" cy="576072"/>
          </a:xfrm>
          <a:prstGeom prst="rect">
            <a:avLst/>
          </a:prstGeom>
          <a:noFill/>
        </p:spPr>
        <p:txBody>
          <a:bodyPr wrap="square">
            <a:spAutoFit/>
          </a:bodyPr>
          <a:lstStyle/>
          <a:p>
            <a:pPr>
              <a:spcAft>
                <a:spcPts val="600"/>
              </a:spcAft>
            </a:pPr>
            <a:r>
              <a:rPr sz="2400" b="0">
                <a:solidFill>
                  <a:srgbClr val="5B6B62"/>
                </a:solidFill>
                <a:latin typeface="Calibri"/>
              </a:rPr>
              <a:t>Short, honest answers</a:t>
            </a:r>
          </a:p>
        </p:txBody>
      </p:sp>
      <p:graphicFrame>
        <p:nvGraphicFramePr>
          <p:cNvPr id="6" name="Table 5"/>
          <p:cNvGraphicFramePr>
            <a:graphicFrameLocks noGrp="1"/>
          </p:cNvGraphicFramePr>
          <p:nvPr/>
        </p:nvGraphicFramePr>
        <p:xfrm>
          <a:off x="822959" y="2194560"/>
          <a:ext cx="16596359" cy="6583680"/>
        </p:xfrm>
        <a:graphic>
          <a:graphicData uri="http://schemas.openxmlformats.org/drawingml/2006/table">
            <a:tbl>
              <a:tblPr firstRow="1" bandRow="1">
                <a:tableStyleId>{5C22544A-7EE6-4342-B048-85BDC9FD1C3A}</a:tableStyleId>
              </a:tblPr>
              <a:tblGrid>
                <a:gridCol w="5897879"/>
                <a:gridCol w="10698480"/>
              </a:tblGrid>
              <a:tr h="1097280">
                <a:tc>
                  <a:txBody>
                    <a:bodyPr wrap="square"/>
                    <a:lstStyle/>
                    <a:p>
                      <a:r>
                        <a:rPr sz="1950" b="1">
                          <a:solidFill>
                            <a:srgbClr val="FFFFFF"/>
                          </a:solidFill>
                          <a:latin typeface="Calibri"/>
                        </a:rPr>
                        <a:t>Question</a:t>
                      </a:r>
                    </a:p>
                  </a:txBody>
                  <a:tcPr anchor="ctr">
                    <a:solidFill>
                      <a:srgbClr val="14342B"/>
                    </a:solidFill>
                  </a:tcPr>
                </a:tc>
                <a:tc>
                  <a:txBody>
                    <a:bodyPr wrap="square"/>
                    <a:lstStyle/>
                    <a:p>
                      <a:r>
                        <a:rPr sz="1950" b="1">
                          <a:solidFill>
                            <a:srgbClr val="FFFFFF"/>
                          </a:solidFill>
                          <a:latin typeface="Calibri"/>
                        </a:rPr>
                        <a:t>Answer</a:t>
                      </a:r>
                    </a:p>
                  </a:txBody>
                  <a:tcPr anchor="ctr">
                    <a:solidFill>
                      <a:srgbClr val="14342B"/>
                    </a:solidFill>
                  </a:tcPr>
                </a:tc>
              </a:tr>
              <a:tr h="1097280">
                <a:tc>
                  <a:txBody>
                    <a:bodyPr wrap="square"/>
                    <a:lstStyle/>
                    <a:p>
                      <a:r>
                        <a:rPr sz="1950" b="1">
                          <a:solidFill>
                            <a:srgbClr val="1B2A22"/>
                          </a:solidFill>
                          <a:latin typeface="Calibri"/>
                        </a:rPr>
                        <a:t>Are the pyranometer and PAR values real?</a:t>
                      </a:r>
                    </a:p>
                  </a:txBody>
                  <a:tcPr anchor="ctr">
                    <a:solidFill>
                      <a:srgbClr val="FFFFFF"/>
                    </a:solidFill>
                  </a:tcPr>
                </a:tc>
                <a:tc>
                  <a:txBody>
                    <a:bodyPr wrap="square"/>
                    <a:lstStyle/>
                    <a:p>
                      <a:r>
                        <a:rPr sz="1950" b="0">
                          <a:solidFill>
                            <a:srgbClr val="1B2A22"/>
                          </a:solidFill>
                          <a:latin typeface="Calibri"/>
                        </a:rPr>
                        <a:t>No. They are simulated with scroll bars from standard sun equations; a 10 % error costs about 5 % of electricity (clear day).</a:t>
                      </a:r>
                    </a:p>
                  </a:txBody>
                  <a:tcPr anchor="ctr">
                    <a:solidFill>
                      <a:srgbClr val="FFFFFF"/>
                    </a:solidFill>
                  </a:tcPr>
                </a:tc>
              </a:tr>
              <a:tr h="1097280">
                <a:tc>
                  <a:txBody>
                    <a:bodyPr wrap="square"/>
                    <a:lstStyle/>
                    <a:p>
                      <a:r>
                        <a:rPr sz="1950" b="1">
                          <a:solidFill>
                            <a:srgbClr val="1B2A22"/>
                          </a:solidFill>
                          <a:latin typeface="Calibri"/>
                        </a:rPr>
                        <a:t>How do you know the model is right?</a:t>
                      </a:r>
                    </a:p>
                  </a:txBody>
                  <a:tcPr anchor="ctr">
                    <a:solidFill>
                      <a:srgbClr val="E6EEE0"/>
                    </a:solidFill>
                  </a:tcPr>
                </a:tc>
                <a:tc>
                  <a:txBody>
                    <a:bodyPr wrap="square"/>
                    <a:lstStyle/>
                    <a:p>
                      <a:r>
                        <a:rPr sz="1950" b="0">
                          <a:solidFill>
                            <a:srgbClr val="1B2A22"/>
                          </a:solidFill>
                          <a:latin typeface="Calibri"/>
                        </a:rPr>
                        <a:t>Checked against PVGIS (+5.0 % per year) and Blender ray tracing (shadow difference 0.010).</a:t>
                      </a:r>
                    </a:p>
                  </a:txBody>
                  <a:tcPr anchor="ctr">
                    <a:solidFill>
                      <a:srgbClr val="E6EEE0"/>
                    </a:solidFill>
                  </a:tcPr>
                </a:tc>
              </a:tr>
              <a:tr h="1097280">
                <a:tc>
                  <a:txBody>
                    <a:bodyPr wrap="square"/>
                    <a:lstStyle/>
                    <a:p>
                      <a:r>
                        <a:rPr sz="1950" b="1">
                          <a:solidFill>
                            <a:srgbClr val="1B2A22"/>
                          </a:solidFill>
                          <a:latin typeface="Calibri"/>
                        </a:rPr>
                        <a:t>Why not simply track the sun?</a:t>
                      </a:r>
                    </a:p>
                  </a:txBody>
                  <a:tcPr anchor="ctr">
                    <a:solidFill>
                      <a:srgbClr val="FFFFFF"/>
                    </a:solidFill>
                  </a:tcPr>
                </a:tc>
                <a:tc>
                  <a:txBody>
                    <a:bodyPr wrap="square"/>
                    <a:lstStyle/>
                    <a:p>
                      <a:r>
                        <a:rPr sz="1950" b="0">
                          <a:solidFill>
                            <a:srgbClr val="1B2A22"/>
                          </a:solidFill>
                          <a:latin typeface="Calibri"/>
                        </a:rPr>
                        <a:t>Tracking gives most electricity but crops get only 27 % of their light; the controller gives 75 % and 89 %.</a:t>
                      </a:r>
                    </a:p>
                  </a:txBody>
                  <a:tcPr anchor="ctr">
                    <a:solidFill>
                      <a:srgbClr val="FFFFFF"/>
                    </a:solidFill>
                  </a:tcPr>
                </a:tc>
              </a:tr>
              <a:tr h="1097280">
                <a:tc>
                  <a:txBody>
                    <a:bodyPr wrap="square"/>
                    <a:lstStyle/>
                    <a:p>
                      <a:r>
                        <a:rPr sz="1950" b="1">
                          <a:solidFill>
                            <a:srgbClr val="1B2A22"/>
                          </a:solidFill>
                          <a:latin typeface="Calibri"/>
                        </a:rPr>
                        <a:t>What does MPPT add?</a:t>
                      </a:r>
                    </a:p>
                  </a:txBody>
                  <a:tcPr anchor="ctr">
                    <a:solidFill>
                      <a:srgbClr val="E6EEE0"/>
                    </a:solidFill>
                  </a:tcPr>
                </a:tc>
                <a:tc>
                  <a:txBody>
                    <a:bodyPr wrap="square"/>
                    <a:lstStyle/>
                    <a:p>
                      <a:r>
                        <a:rPr sz="1950" b="0">
                          <a:solidFill>
                            <a:srgbClr val="1B2A22"/>
                          </a:solidFill>
                          <a:latin typeface="Calibri"/>
                        </a:rPr>
                        <a:t>99.83 % of maximum energy, against 96.95 % with a fixed voltage.</a:t>
                      </a:r>
                    </a:p>
                  </a:txBody>
                  <a:tcPr anchor="ctr">
                    <a:solidFill>
                      <a:srgbClr val="E6EEE0"/>
                    </a:solidFill>
                  </a:tcPr>
                </a:tc>
              </a:tr>
              <a:tr h="1097280">
                <a:tc>
                  <a:txBody>
                    <a:bodyPr wrap="square"/>
                    <a:lstStyle/>
                    <a:p>
                      <a:r>
                        <a:rPr sz="1950" b="1">
                          <a:solidFill>
                            <a:srgbClr val="1B2A22"/>
                          </a:solidFill>
                          <a:latin typeface="Calibri"/>
                        </a:rPr>
                        <a:t>What is not done yet?</a:t>
                      </a:r>
                    </a:p>
                  </a:txBody>
                  <a:tcPr anchor="ctr">
                    <a:solidFill>
                      <a:srgbClr val="FFFFFF"/>
                    </a:solidFill>
                  </a:tcPr>
                </a:tc>
                <a:tc>
                  <a:txBody>
                    <a:bodyPr wrap="square"/>
                    <a:lstStyle/>
                    <a:p>
                      <a:r>
                        <a:rPr sz="1950" b="0">
                          <a:solidFill>
                            <a:srgbClr val="1B2A22"/>
                          </a:solidFill>
                          <a:latin typeface="Calibri"/>
                        </a:rPr>
                        <a:t>Real light sensors, a motor, a hardware MPPT converter and field data.</a:t>
                      </a:r>
                    </a:p>
                  </a:txBody>
                  <a:tcPr anchor="ctr">
                    <a:solidFill>
                      <a:srgbClr val="FFFFFF"/>
                    </a:solidFill>
                  </a:tcPr>
                </a:tc>
              </a:tr>
            </a:tbl>
          </a:graphicData>
        </a:graphic>
      </p:graphicFrame>
      <p:sp>
        <p:nvSpPr>
          <p:cNvPr id="7" name="Rounded Rectangle 6"/>
          <p:cNvSpPr/>
          <p:nvPr/>
        </p:nvSpPr>
        <p:spPr>
          <a:xfrm>
            <a:off x="12755880" y="822959"/>
            <a:ext cx="4663440" cy="466344"/>
          </a:xfrm>
          <a:prstGeom prst="roundRect">
            <a:avLst>
              <a:gd name="adj" fmla="val 6000"/>
            </a:avLst>
          </a:prstGeom>
          <a:solidFill>
            <a:srgbClr val="4E9A2E"/>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50" b="1">
                <a:solidFill>
                  <a:srgbClr val="FFFFFF"/>
                </a:solidFill>
                <a:latin typeface="Calibri"/>
              </a:rPr>
              <a:t>QUESTIONS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DAHYGTPkqQQ</dc:identifier>
  <dcterms:modified xsi:type="dcterms:W3CDTF">2011-08-01T06:04:30Z</dcterms:modified>
  <cp:revision>1</cp:revision>
  <dc:title>Review0_7slides.pptx</dc:title>
</cp:coreProperties>
</file>