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70" r:id="rId22"/>
    <p:sldId id="271" r:id="rId23"/>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farmer story: the farmer wins because the same land produces crops, harvested rain and a monthly solar income.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two project documents differ, the design keeps both by assigning each to a different element (drive wire vs structural wire) and takes the stricter value where they overlap.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 change of panel width or tilt limit automatically moves the pivot height, which keeps the harvester clearance guaranteed.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calculations in matlab/structural_check.m. The 12.5 m bays overload the 16 mm rope about 16x and the 60 mm tube about 30x.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Columns on a 5 m grid, panels N-S, gutter on the east edge, cistern, pump, drip laterals, drive motor.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Shows pivot height 5.58 m, max-tilt outline, stays to ground anchors, underground cistern.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picture. The wire is clamped to the tip of the arm. The arm is rigid with the pivot tube under the panel. Slide the wire sideways by d and the arm swings by theta, so the panel tilts by theta. One wire is clamped to all arms, so all panels tilt together. d = arm length x sin(theta); real arm 0.44 m, drawn 2.3x bigger.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wire has to turn around at the end of the row because the drive is a pull-pull loop. A fixed post makes the wire rub: by the capstan rule the pull is multiplied by e^(mu x theta), about 2.6 times for a 180 degree wrap with mu = 0.3. A grooved wheel on a bearing turns with the wire so the loss is only about 2 percent. The pulley does not tilt the panels; it lets the wire slide so the arms can swing. Pulley diameter about 80 mm for the 4 mm wire (20 times the wire diameter).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animation: 1 motor and drum, 2 drive wire, 3 lever arm, 4 panel and pivot tube, 5 carrier rope, 6 gutter. The wire is a closed pull-pull loop because a single wire with both ends fixed cannot move the arms.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list: reviews/evidence/cad/SRMC_feasible_BOM.csv (22 items).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for this review are listed on the last slide and in reviews/REFERENCES.md. Evidence files are indexed in reviews/PROOF_INDEX.md.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loads at 140 km/h basic wind speed (IS 875-3), panels held, screening level. The motor numbers use a flat-plate coefficient of 1.0 and a 5 cm centre-of-mass offset. Weights, costs and installation steps are in documents/SRMC_8Panel_Guide_and_Cost.docx.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gif"/><Relationship Id="rId4" Type="http://schemas.openxmlformats.org/officeDocument/2006/relationships/image" Target="../media/image16.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gif"/><Relationship Id="rId4" Type="http://schemas.openxmlformats.org/officeDocument/2006/relationships/image" Target="../media/image17.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89920" cy="1463040"/>
          </a:xfrm>
          <a:prstGeom prst="rect">
            <a:avLst/>
          </a:prstGeom>
          <a:noFill/>
        </p:spPr>
        <p:txBody>
          <a:bodyPr wrap="square">
            <a:spAutoFit/>
          </a:bodyPr>
          <a:lstStyle/>
          <a:p>
            <a:r>
              <a:rPr sz="4000" b="1">
                <a:solidFill>
                  <a:srgbClr val="FFFFFF"/>
                </a:solidFill>
              </a:rPr>
              <a:t>R3: Design of the wire-driven agrivoltaic canopy</a:t>
            </a:r>
          </a:p>
          <a:p>
            <a:r>
              <a:rPr sz="2200">
                <a:solidFill>
                  <a:srgbClr val="D8F0B8"/>
                </a:solidFill>
              </a:rPr>
              <a:t>Structure, mechanism, drawings and bill of materials</a:t>
            </a:r>
          </a:p>
        </p:txBody>
      </p:sp>
      <p:sp>
        <p:nvSpPr>
          <p:cNvPr id="4" name="TextBox 3"/>
          <p:cNvSpPr txBox="1"/>
          <p:nvPr/>
        </p:nvSpPr>
        <p:spPr>
          <a:xfrm>
            <a:off x="731520" y="4206240"/>
            <a:ext cx="10789920" cy="1828800"/>
          </a:xfrm>
          <a:prstGeom prst="rect">
            <a:avLst/>
          </a:prstGeom>
          <a:noFill/>
        </p:spPr>
        <p:txBody>
          <a:bodyPr wrap="square">
            <a:spAutoFit/>
          </a:bodyPr>
          <a:lstStyle/>
          <a:p>
            <a:r>
              <a:rPr sz="1600">
                <a:solidFill>
                  <a:srgbClr val="FFFFFF"/>
                </a:solidFill>
              </a:rPr>
              <a:t>Project: Agrovoltaic Canopy for Protection and Sustainable Farming (six-sensor controller)</a:t>
            </a:r>
          </a:p>
          <a:p>
            <a:r>
              <a:rPr sz="1600">
                <a:solidFill>
                  <a:srgbClr val="FFFFFF"/>
                </a:solidFill>
              </a:rPr>
              <a:t>Site: Thiagarajar College of Engineering ground, Madurai (9.88 N, 78.08 E)</a:t>
            </a:r>
          </a:p>
          <a:p>
            <a:r>
              <a:rPr sz="1600">
                <a:solidFill>
                  <a:srgbClr val="FFFFFF"/>
                </a:solidFill>
              </a:rPr>
              <a:t>Scope: fully computer-based study (no physical prototype claimed)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What we are building and why</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2</a:t>
            </a:r>
          </a:p>
        </p:txBody>
      </p:sp>
      <p:sp>
        <p:nvSpPr>
          <p:cNvPr id="5" name="TextBox 4"/>
          <p:cNvSpPr txBox="1"/>
          <p:nvPr/>
        </p:nvSpPr>
        <p:spPr>
          <a:xfrm>
            <a:off x="457200" y="1051560"/>
            <a:ext cx="6126480" cy="5303520"/>
          </a:xfrm>
          <a:prstGeom prst="rect">
            <a:avLst/>
          </a:prstGeom>
          <a:noFill/>
        </p:spPr>
        <p:txBody>
          <a:bodyPr wrap="square">
            <a:spAutoFit/>
          </a:bodyPr>
          <a:lstStyle/>
          <a:p>
            <a:pPr>
              <a:spcAft>
                <a:spcPts val="700"/>
              </a:spcAft>
            </a:pPr>
            <a:r>
              <a:rPr sz="1900">
                <a:solidFill>
                  <a:srgbClr val="222622"/>
                </a:solidFill>
              </a:rPr>
              <a:t>• Solar panels on a stainless-steel wire-rope canopy 4.5 m above crops; panels tilt (15-60 deg) for sun and go nearly flat (3 deg) in rain.</a:t>
            </a:r>
          </a:p>
          <a:p>
            <a:pPr>
              <a:spcAft>
                <a:spcPts val="700"/>
              </a:spcAft>
            </a:pPr>
            <a:r>
              <a:rPr sz="1900">
                <a:solidFill>
                  <a:srgbClr val="222622"/>
                </a:solidFill>
              </a:rPr>
              <a:t>• Flat mode turns the panels into a roof: rain runs to a gutter, into an underground cistern, then to drip irrigation.</a:t>
            </a:r>
          </a:p>
          <a:p>
            <a:pPr>
              <a:spcAft>
                <a:spcPts val="700"/>
              </a:spcAft>
            </a:pPr>
            <a:r>
              <a:rPr sz="1900">
                <a:solidFill>
                  <a:srgbClr val="222622"/>
                </a:solidFill>
              </a:rPr>
              <a:t>• The electricity is sold to a nearby industry; the farmer receives a share every month plus his crop income.</a:t>
            </a:r>
          </a:p>
          <a:p>
            <a:pPr>
              <a:spcAft>
                <a:spcPts val="700"/>
              </a:spcAft>
            </a:pPr>
            <a:r>
              <a:rPr sz="1900">
                <a:solidFill>
                  <a:srgbClr val="222622"/>
                </a:solidFill>
              </a:rPr>
              <a:t>• One motor pulls a single SS316 drive wire through lever arms on every panel - no per-panel motors.</a:t>
            </a:r>
          </a:p>
          <a:p>
            <a:pPr>
              <a:spcAft>
                <a:spcPts val="700"/>
              </a:spcAft>
            </a:pPr>
            <a:r>
              <a:rPr sz="1900">
                <a:solidFill>
                  <a:srgbClr val="222622"/>
                </a:solidFill>
              </a:rPr>
              <a:t>• Everything is designed from ONE file (design.json) so the drawings, models and simulations cannot disagree.</a:t>
            </a:r>
          </a:p>
        </p:txBody>
      </p:sp>
      <p:pic>
        <p:nvPicPr>
          <p:cNvPr id="6" name="Picture 5" descr="hero.png"/>
          <p:cNvPicPr>
            <a:picLocks noChangeAspect="1"/>
          </p:cNvPicPr>
          <p:nvPr/>
        </p:nvPicPr>
        <p:blipFill>
          <a:blip r:embed="rId3"/>
          <a:stretch>
            <a:fillRect/>
          </a:stretch>
        </p:blipFill>
        <p:spPr>
          <a:xfrm>
            <a:off x="6720840" y="1051560"/>
            <a:ext cx="5394960" cy="3034665"/>
          </a:xfrm>
          <a:prstGeom prst="rect">
            <a:avLst/>
          </a:prstGeom>
        </p:spPr>
      </p:pic>
      <p:sp>
        <p:nvSpPr>
          <p:cNvPr id="7" name="TextBox 6"/>
          <p:cNvSpPr txBox="1"/>
          <p:nvPr/>
        </p:nvSpPr>
        <p:spPr>
          <a:xfrm>
            <a:off x="6720840" y="4113657"/>
            <a:ext cx="5394960" cy="365760"/>
          </a:xfrm>
          <a:prstGeom prst="rect">
            <a:avLst/>
          </a:prstGeom>
          <a:noFill/>
        </p:spPr>
        <p:txBody>
          <a:bodyPr wrap="square">
            <a:spAutoFit/>
          </a:bodyPr>
          <a:lstStyle/>
          <a:p>
            <a:r>
              <a:rPr sz="1100" i="1">
                <a:solidFill>
                  <a:srgbClr val="666B66"/>
                </a:solidFill>
              </a:rPr>
              <a:t>Blender render of the checked design (TCE ground)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Two source documents - and how the conflict was resolved</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3</a:t>
            </a:r>
          </a:p>
        </p:txBody>
      </p:sp>
      <p:graphicFrame>
        <p:nvGraphicFramePr>
          <p:cNvPr id="5" name="Table 4"/>
          <p:cNvGraphicFramePr>
            <a:graphicFrameLocks noGrp="1"/>
          </p:cNvGraphicFramePr>
          <p:nvPr/>
        </p:nvGraphicFramePr>
        <p:xfrm>
          <a:off x="457200" y="1097280"/>
          <a:ext cx="11247120" cy="2560320"/>
        </p:xfrm>
        <a:graphic>
          <a:graphicData uri="http://schemas.openxmlformats.org/drawingml/2006/table">
            <a:tbl>
              <a:tblPr firstRow="1" bandRow="1">
                <a:tableStyleId>{5C22544A-7EE6-4342-B048-85BDC9FD1C3A}</a:tableStyleId>
              </a:tblPr>
              <a:tblGrid>
                <a:gridCol w="2194560"/>
                <a:gridCol w="3108960"/>
                <a:gridCol w="2926080"/>
                <a:gridCol w="3017520"/>
              </a:tblGrid>
              <a:tr h="365760">
                <a:tc>
                  <a:txBody>
                    <a:bodyPr/>
                    <a:lstStyle/>
                    <a:p>
                      <a:r>
                        <a:rPr sz="1300" b="1">
                          <a:solidFill>
                            <a:srgbClr val="222622"/>
                          </a:solidFill>
                        </a:rPr>
                        <a:t>Item</a:t>
                      </a:r>
                    </a:p>
                  </a:txBody>
                  <a:tcPr>
                    <a:solidFill>
                      <a:srgbClr val="72B830"/>
                    </a:solidFill>
                  </a:tcPr>
                </a:tc>
                <a:tc>
                  <a:txBody>
                    <a:bodyPr/>
                    <a:lstStyle/>
                    <a:p>
                      <a:r>
                        <a:rPr sz="1300" b="1">
                          <a:solidFill>
                            <a:srgbClr val="222622"/>
                          </a:solidFill>
                        </a:rPr>
                        <a:t>Wire-driven spec (Rev 1.0)</a:t>
                      </a:r>
                    </a:p>
                  </a:txBody>
                  <a:tcPr>
                    <a:solidFill>
                      <a:srgbClr val="72B830"/>
                    </a:solidFill>
                  </a:tcPr>
                </a:tc>
                <a:tc>
                  <a:txBody>
                    <a:bodyPr/>
                    <a:lstStyle/>
                    <a:p>
                      <a:r>
                        <a:rPr sz="1300" b="1">
                          <a:solidFill>
                            <a:srgbClr val="222622"/>
                          </a:solidFill>
                        </a:rPr>
                        <a:t>SRMC Engineering Guidelines</a:t>
                      </a:r>
                    </a:p>
                  </a:txBody>
                  <a:tcPr>
                    <a:solidFill>
                      <a:srgbClr val="72B830"/>
                    </a:solidFill>
                  </a:tcPr>
                </a:tc>
                <a:tc>
                  <a:txBody>
                    <a:bodyPr/>
                    <a:lstStyle/>
                    <a:p>
                      <a:r>
                        <a:rPr sz="1300" b="1">
                          <a:solidFill>
                            <a:srgbClr val="222622"/>
                          </a:solidFill>
                        </a:rPr>
                        <a:t>Used in design</a:t>
                      </a:r>
                    </a:p>
                  </a:txBody>
                  <a:tcPr>
                    <a:solidFill>
                      <a:srgbClr val="72B830"/>
                    </a:solidFill>
                  </a:tcPr>
                </a:tc>
              </a:tr>
              <a:tr h="365760">
                <a:tc>
                  <a:txBody>
                    <a:bodyPr/>
                    <a:lstStyle/>
                    <a:p>
                      <a:r>
                        <a:rPr sz="1300" b="0"/>
                        <a:t>Panel mechanism</a:t>
                      </a:r>
                    </a:p>
                  </a:txBody>
                  <a:tcPr/>
                </a:tc>
                <a:tc>
                  <a:txBody>
                    <a:bodyPr/>
                    <a:lstStyle/>
                    <a:p>
                      <a:r>
                        <a:rPr sz="1300" b="0"/>
                        <a:t>Flat or 15-60 deg, single wire, 0.5 deg encoder</a:t>
                      </a:r>
                    </a:p>
                  </a:txBody>
                  <a:tcPr/>
                </a:tc>
                <a:tc>
                  <a:txBody>
                    <a:bodyPr/>
                    <a:lstStyle/>
                    <a:p>
                      <a:r>
                        <a:rPr sz="1300" b="0"/>
                        <a:t>not specified</a:t>
                      </a:r>
                    </a:p>
                  </a:txBody>
                  <a:tcPr/>
                </a:tc>
                <a:tc>
                  <a:txBody>
                    <a:bodyPr/>
                    <a:lstStyle/>
                    <a:p>
                      <a:r>
                        <a:rPr sz="1300" b="0"/>
                        <a:t>spec</a:t>
                      </a:r>
                    </a:p>
                  </a:txBody>
                  <a:tcPr/>
                </a:tc>
              </a:tr>
              <a:tr h="365760">
                <a:tc>
                  <a:txBody>
                    <a:bodyPr/>
                    <a:lstStyle/>
                    <a:p>
                      <a:r>
                        <a:rPr sz="1300" b="0"/>
                        <a:t>Lowest-edge clearance</a:t>
                      </a:r>
                    </a:p>
                  </a:txBody>
                  <a:tcPr/>
                </a:tc>
                <a:tc>
                  <a:txBody>
                    <a:bodyPr/>
                    <a:lstStyle/>
                    <a:p>
                      <a:r>
                        <a:rPr sz="1300" b="0"/>
                        <a:t>&gt;= 4.0 m</a:t>
                      </a:r>
                    </a:p>
                  </a:txBody>
                  <a:tcPr/>
                </a:tc>
                <a:tc>
                  <a:txBody>
                    <a:bodyPr/>
                    <a:lstStyle/>
                    <a:p>
                      <a:r>
                        <a:rPr sz="1300" b="0"/>
                        <a:t>4.5 m standard</a:t>
                      </a:r>
                    </a:p>
                  </a:txBody>
                  <a:tcPr/>
                </a:tc>
                <a:tc>
                  <a:txBody>
                    <a:bodyPr/>
                    <a:lstStyle/>
                    <a:p>
                      <a:r>
                        <a:rPr sz="1300" b="0"/>
                        <a:t>4.5 m (stricter)</a:t>
                      </a:r>
                    </a:p>
                  </a:txBody>
                  <a:tcPr/>
                </a:tc>
              </a:tr>
              <a:tr h="365760">
                <a:tc>
                  <a:txBody>
                    <a:bodyPr/>
                    <a:lstStyle/>
                    <a:p>
                      <a:r>
                        <a:rPr sz="1300" b="0"/>
                        <a:t>Column spacing</a:t>
                      </a:r>
                    </a:p>
                  </a:txBody>
                  <a:tcPr/>
                </a:tc>
                <a:tc>
                  <a:txBody>
                    <a:bodyPr/>
                    <a:lstStyle/>
                    <a:p>
                      <a:r>
                        <a:rPr sz="1300" b="0"/>
                        <a:t>rows 12-18 m, &gt;= 6 m lane</a:t>
                      </a:r>
                    </a:p>
                  </a:txBody>
                  <a:tcPr/>
                </a:tc>
                <a:tc>
                  <a:txBody>
                    <a:bodyPr/>
                    <a:lstStyle/>
                    <a:p>
                      <a:r>
                        <a:rPr sz="1300" b="0"/>
                        <a:t>4-5 m (smallholder)</a:t>
                      </a:r>
                    </a:p>
                  </a:txBody>
                  <a:tcPr/>
                </a:tc>
                <a:tc>
                  <a:txBody>
                    <a:bodyPr/>
                    <a:lstStyle/>
                    <a:p>
                      <a:r>
                        <a:rPr sz="1300" b="0"/>
                        <a:t>5 m grid (structure check, slide 5)</a:t>
                      </a:r>
                    </a:p>
                  </a:txBody>
                  <a:tcPr/>
                </a:tc>
              </a:tr>
              <a:tr h="365760">
                <a:tc>
                  <a:txBody>
                    <a:bodyPr/>
                    <a:lstStyle/>
                    <a:p>
                      <a:r>
                        <a:rPr sz="1300" b="0"/>
                        <a:t>Structural wire</a:t>
                      </a:r>
                    </a:p>
                  </a:txBody>
                  <a:tcPr/>
                </a:tc>
                <a:tc>
                  <a:txBody>
                    <a:bodyPr/>
                    <a:lstStyle/>
                    <a:p>
                      <a:r>
                        <a:rPr sz="1300" b="0"/>
                        <a:t>-</a:t>
                      </a:r>
                    </a:p>
                  </a:txBody>
                  <a:tcPr/>
                </a:tc>
                <a:tc>
                  <a:txBody>
                    <a:bodyPr/>
                    <a:lstStyle/>
                    <a:p>
                      <a:r>
                        <a:rPr sz="1300" b="0"/>
                        <a:t>SS316 16 mm 7x19 catenary</a:t>
                      </a:r>
                    </a:p>
                  </a:txBody>
                  <a:tcPr/>
                </a:tc>
                <a:tc>
                  <a:txBody>
                    <a:bodyPr/>
                    <a:lstStyle/>
                    <a:p>
                      <a:r>
                        <a:rPr sz="1300" b="0"/>
                        <a:t>16 mm carrier, 20 mm stays</a:t>
                      </a:r>
                    </a:p>
                  </a:txBody>
                  <a:tcPr/>
                </a:tc>
              </a:tr>
              <a:tr h="365760">
                <a:tc>
                  <a:txBody>
                    <a:bodyPr/>
                    <a:lstStyle/>
                    <a:p>
                      <a:r>
                        <a:rPr sz="1300" b="0"/>
                        <a:t>Drive wire</a:t>
                      </a:r>
                    </a:p>
                  </a:txBody>
                  <a:tcPr/>
                </a:tc>
                <a:tc>
                  <a:txBody>
                    <a:bodyPr/>
                    <a:lstStyle/>
                    <a:p>
                      <a:r>
                        <a:rPr sz="1300" b="0"/>
                        <a:t>SS316 6 mm 7x19</a:t>
                      </a:r>
                    </a:p>
                  </a:txBody>
                  <a:tcPr/>
                </a:tc>
                <a:tc>
                  <a:txBody>
                    <a:bodyPr/>
                    <a:lstStyle/>
                    <a:p>
                      <a:r>
                        <a:rPr sz="1300" b="0"/>
                        <a:t>-</a:t>
                      </a:r>
                    </a:p>
                  </a:txBody>
                  <a:tcPr/>
                </a:tc>
                <a:tc>
                  <a:txBody>
                    <a:bodyPr/>
                    <a:lstStyle/>
                    <a:p>
                      <a:r>
                        <a:rPr sz="1300" b="0"/>
                        <a:t>6 mm 7x19</a:t>
                      </a:r>
                    </a:p>
                  </a:txBody>
                  <a:tcPr/>
                </a:tc>
              </a:tr>
              <a:tr h="365760">
                <a:tc>
                  <a:txBody>
                    <a:bodyPr/>
                    <a:lstStyle/>
                    <a:p>
                      <a:r>
                        <a:rPr sz="1300" b="0"/>
                        <a:t>Tilt range</a:t>
                      </a:r>
                    </a:p>
                  </a:txBody>
                  <a:tcPr/>
                </a:tc>
                <a:tc>
                  <a:txBody>
                    <a:bodyPr/>
                    <a:lstStyle/>
                    <a:p>
                      <a:r>
                        <a:rPr sz="1300" b="0"/>
                        <a:t>15-60 deg</a:t>
                      </a:r>
                    </a:p>
                  </a:txBody>
                  <a:tcPr/>
                </a:tc>
                <a:tc>
                  <a:txBody>
                    <a:bodyPr/>
                    <a:lstStyle/>
                    <a:p>
                      <a:r>
                        <a:rPr sz="1300" b="0"/>
                        <a:t>+-8-10 deg trim (SRMC-DT note)</a:t>
                      </a:r>
                    </a:p>
                  </a:txBody>
                  <a:tcPr/>
                </a:tc>
                <a:tc>
                  <a:txBody>
                    <a:bodyPr/>
                    <a:lstStyle/>
                    <a:p>
                      <a:r>
                        <a:rPr sz="1300" b="0"/>
                        <a:t>15-60 deg (user decision)</a:t>
                      </a:r>
                    </a:p>
                  </a:txBody>
                  <a:tcPr/>
                </a:tc>
              </a:tr>
            </a:tbl>
          </a:graphicData>
        </a:graphic>
      </p:graphicFrame>
      <p:sp>
        <p:nvSpPr>
          <p:cNvPr id="6" name="TextBox 5"/>
          <p:cNvSpPr txBox="1"/>
          <p:nvPr/>
        </p:nvSpPr>
        <p:spPr>
          <a:xfrm>
            <a:off x="457200" y="3968496"/>
            <a:ext cx="11247120" cy="1097280"/>
          </a:xfrm>
          <a:prstGeom prst="rect">
            <a:avLst/>
          </a:prstGeom>
          <a:noFill/>
        </p:spPr>
        <p:txBody>
          <a:bodyPr wrap="square">
            <a:spAutoFit/>
          </a:bodyPr>
          <a:lstStyle/>
          <a:p>
            <a:r>
              <a:rPr sz="1400">
                <a:solidFill>
                  <a:srgbClr val="666B66"/>
                </a:solidFill>
              </a:rPr>
              <a:t>All values live in design/design.json; presets: recommended, wire_spec, smallholder, custom, feasible.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Design file and derived pivot height</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4</a:t>
            </a:r>
          </a:p>
        </p:txBody>
      </p:sp>
      <p:sp>
        <p:nvSpPr>
          <p:cNvPr id="5" name="TextBox 4"/>
          <p:cNvSpPr txBox="1"/>
          <p:nvPr/>
        </p:nvSpPr>
        <p:spPr>
          <a:xfrm>
            <a:off x="457200" y="1051560"/>
            <a:ext cx="11338560" cy="5303520"/>
          </a:xfrm>
          <a:prstGeom prst="rect">
            <a:avLst/>
          </a:prstGeom>
          <a:noFill/>
        </p:spPr>
        <p:txBody>
          <a:bodyPr wrap="square">
            <a:spAutoFit/>
          </a:bodyPr>
          <a:lstStyle/>
          <a:p>
            <a:pPr>
              <a:spcAft>
                <a:spcPts val="700"/>
              </a:spcAft>
            </a:pPr>
            <a:r>
              <a:rPr sz="1900">
                <a:solidFill>
                  <a:srgbClr val="222622"/>
                </a:solidFill>
              </a:rPr>
              <a:t>• Pivot axis height is DERIVED, never typed: required lowest-edge clearance + (panel width / 2) x sin(max tilt).</a:t>
            </a:r>
          </a:p>
          <a:p>
            <a:pPr lvl="1">
              <a:spcAft>
                <a:spcPts val="700"/>
              </a:spcAft>
            </a:pPr>
            <a:r>
              <a:rPr sz="1600">
                <a:solidFill>
                  <a:srgbClr val="666B66"/>
                </a:solidFill>
              </a:rPr>
              <a:t>– 4.5 m + (2.497 / 2) x sin 60 deg = 5.58 m</a:t>
            </a:r>
          </a:p>
          <a:p>
            <a:pPr>
              <a:spcAft>
                <a:spcPts val="700"/>
              </a:spcAft>
            </a:pPr>
            <a:r>
              <a:rPr sz="1900">
                <a:solidFill>
                  <a:srgbClr val="222622"/>
                </a:solidFill>
              </a:rPr>
              <a:t>• 10 panels, each 2.497 m wide on a 2.5 m pitch (3 mm EPDM seal gap) along a 25 m wire run: single motor allowed (&lt;= 30 m, &lt;= 20 panels).</a:t>
            </a:r>
          </a:p>
          <a:p>
            <a:pPr>
              <a:spcAft>
                <a:spcPts val="700"/>
              </a:spcAft>
            </a:pPr>
            <a:r>
              <a:rPr sz="1900">
                <a:solidFill>
                  <a:srgbClr val="222622"/>
                </a:solidFill>
              </a:rPr>
              <a:t>• Panels are long (25 m) pivoting plates supported every 5 m by hangers from rope carriers.</a:t>
            </a:r>
          </a:p>
          <a:p>
            <a:pPr>
              <a:spcAft>
                <a:spcPts val="700"/>
              </a:spcAft>
            </a:pPr>
            <a:r>
              <a:rPr sz="1900">
                <a:solidFill>
                  <a:srgbClr val="222622"/>
                </a:solidFill>
              </a:rPr>
              <a:t>• Five presets can be switched in the twin, MATLAB, CAD and Blender from the same file.</a:t>
            </a:r>
          </a:p>
          <a:p>
            <a:pPr>
              <a:spcAft>
                <a:spcPts val="700"/>
              </a:spcAft>
            </a:pPr>
            <a:r>
              <a:rPr sz="1900" b="1">
                <a:solidFill>
                  <a:srgbClr val="B03020"/>
                </a:solidFill>
              </a:rPr>
              <a:t>⚠ The first presets (12.5 m bays) fail the structural screening - see next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Structural screening decides the layout</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5</a:t>
            </a:r>
          </a:p>
        </p:txBody>
      </p:sp>
      <p:pic>
        <p:nvPicPr>
          <p:cNvPr id="5" name="Picture 4" descr="val_structural_utilisation.png"/>
          <p:cNvPicPr>
            <a:picLocks noChangeAspect="1"/>
          </p:cNvPicPr>
          <p:nvPr/>
        </p:nvPicPr>
        <p:blipFill>
          <a:blip r:embed="rId3"/>
          <a:stretch>
            <a:fillRect/>
          </a:stretch>
        </p:blipFill>
        <p:spPr>
          <a:xfrm>
            <a:off x="365760" y="1005840"/>
            <a:ext cx="7589520" cy="4610752"/>
          </a:xfrm>
          <a:prstGeom prst="rect">
            <a:avLst/>
          </a:prstGeom>
        </p:spPr>
      </p:pic>
      <p:sp>
        <p:nvSpPr>
          <p:cNvPr id="6" name="TextBox 5"/>
          <p:cNvSpPr txBox="1"/>
          <p:nvPr/>
        </p:nvSpPr>
        <p:spPr>
          <a:xfrm>
            <a:off x="365760" y="5644024"/>
            <a:ext cx="7589520" cy="365760"/>
          </a:xfrm>
          <a:prstGeom prst="rect">
            <a:avLst/>
          </a:prstGeom>
          <a:noFill/>
        </p:spPr>
        <p:txBody>
          <a:bodyPr wrap="square">
            <a:spAutoFit/>
          </a:bodyPr>
          <a:lstStyle/>
          <a:p>
            <a:r>
              <a:rPr sz="1100" i="1">
                <a:solidFill>
                  <a:srgbClr val="666B66"/>
                </a:solidFill>
              </a:rPr>
              <a:t>Utilisation = demand / capacity at ULS (1 = limit). IS 875 wind, indicative rope strengths.</a:t>
            </a:r>
          </a:p>
        </p:txBody>
      </p:sp>
      <p:sp>
        <p:nvSpPr>
          <p:cNvPr id="7" name="TextBox 6"/>
          <p:cNvSpPr txBox="1"/>
          <p:nvPr/>
        </p:nvSpPr>
        <p:spPr>
          <a:xfrm>
            <a:off x="8138160" y="1051560"/>
            <a:ext cx="3840480" cy="5303520"/>
          </a:xfrm>
          <a:prstGeom prst="rect">
            <a:avLst/>
          </a:prstGeom>
          <a:noFill/>
        </p:spPr>
        <p:txBody>
          <a:bodyPr wrap="square">
            <a:spAutoFit/>
          </a:bodyPr>
          <a:lstStyle/>
          <a:p>
            <a:pPr>
              <a:spcAft>
                <a:spcPts val="600"/>
              </a:spcAft>
            </a:pPr>
            <a:r>
              <a:rPr sz="1500" b="0">
                <a:solidFill>
                  <a:srgbClr val="222622"/>
                </a:solidFill>
              </a:rPr>
              <a:t>• Wind: Vb 39 m/s (Madurai), pressure 0.88 kN/m2; ULS roof load 1.58 kN/m2.</a:t>
            </a:r>
          </a:p>
          <a:p>
            <a:pPr>
              <a:spcAft>
                <a:spcPts val="600"/>
              </a:spcAft>
            </a:pPr>
            <a:r>
              <a:rPr sz="1500" b="0">
                <a:solidFill>
                  <a:srgbClr val="222622"/>
                </a:solidFill>
              </a:rPr>
              <a:t>• 12.5 m bays: rope 16x, stay 40x, 60 mm tube 30x over capacity.</a:t>
            </a:r>
          </a:p>
          <a:p>
            <a:pPr>
              <a:spcAft>
                <a:spcPts val="600"/>
              </a:spcAft>
            </a:pPr>
            <a:r>
              <a:rPr sz="1500" b="0">
                <a:solidFill>
                  <a:srgbClr val="222622"/>
                </a:solidFill>
              </a:rPr>
              <a:t>• Fix: 5 m rope grid, CHS 114.3x4 tube, sag span/12, 20 mm stays -&gt; all below 1.</a:t>
            </a:r>
          </a:p>
          <a:p>
            <a:pPr>
              <a:spcAft>
                <a:spcPts val="600"/>
              </a:spcAft>
            </a:pPr>
            <a:r>
              <a:rPr sz="1500" b="1">
                <a:solidFill>
                  <a:srgbClr val="B03020"/>
                </a:solidFill>
              </a:rPr>
              <a:t>⚠ Rope strengths are indicative (0.6 d^2 kN) - confirm with supplier datasheets.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Drawing 1: plan (AutoCAD DXF)</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6</a:t>
            </a:r>
          </a:p>
        </p:txBody>
      </p:sp>
      <p:sp>
        <p:nvSpPr>
          <p:cNvPr id="6" name="TextBox 5"/>
          <p:cNvSpPr txBox="1"/>
          <p:nvPr/>
        </p:nvSpPr>
        <p:spPr>
          <a:xfrm>
            <a:off x="457200" y="6291072"/>
            <a:ext cx="11247120" cy="365760"/>
          </a:xfrm>
          <a:prstGeom prst="rect">
            <a:avLst/>
          </a:prstGeom>
          <a:noFill/>
        </p:spPr>
        <p:txBody>
          <a:bodyPr wrap="square">
            <a:spAutoFit/>
          </a:bodyPr>
          <a:lstStyle/>
          <a:p>
            <a:r>
              <a:rPr sz="1100" i="1">
                <a:solidFill>
                  <a:srgbClr val="666B66"/>
                </a:solidFill>
              </a:rPr>
              <a:t>out/cad/SRMC_feasible_plan.dxf - dimensions in mm</a:t>
            </a:r>
          </a:p>
        </p:txBody>
      </p:sp>
      <p:pic>
        <p:nvPicPr>
          <p:cNvPr id="7" name="Picture 6" descr="SRMC_feasible_plan.png"/>
          <p:cNvPicPr>
            <a:picLocks noChangeAspect="1"/>
          </p:cNvPicPr>
          <p:nvPr/>
        </p:nvPicPr>
        <p:blipFill>
          <a:blip r:embed="rId4"/>
          <a:stretch>
            <a:fillRect/>
          </a:stretch>
        </p:blipFill>
        <p:spPr>
          <a:xfrm>
            <a:off x="2938978" y="1005840"/>
            <a:ext cx="6283562" cy="521194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Drawing 2: elevation with the clearance check</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7</a:t>
            </a:r>
          </a:p>
        </p:txBody>
      </p:sp>
      <p:sp>
        <p:nvSpPr>
          <p:cNvPr id="6" name="TextBox 5"/>
          <p:cNvSpPr txBox="1"/>
          <p:nvPr/>
        </p:nvSpPr>
        <p:spPr>
          <a:xfrm>
            <a:off x="457200" y="4057778"/>
            <a:ext cx="11247120" cy="365760"/>
          </a:xfrm>
          <a:prstGeom prst="rect">
            <a:avLst/>
          </a:prstGeom>
          <a:noFill/>
        </p:spPr>
        <p:txBody>
          <a:bodyPr wrap="square">
            <a:spAutoFit/>
          </a:bodyPr>
          <a:lstStyle/>
          <a:p>
            <a:r>
              <a:rPr sz="1100" i="1">
                <a:solidFill>
                  <a:srgbClr val="666B66"/>
                </a:solidFill>
              </a:rPr>
              <a:t>Lowest panel edge at 60 deg tilt = 4.50 m (harvester 4.1 m high)</a:t>
            </a:r>
          </a:p>
        </p:txBody>
      </p:sp>
      <p:pic>
        <p:nvPicPr>
          <p:cNvPr id="7" name="Picture 6" descr="SRMC_feasible_elevation.png"/>
          <p:cNvPicPr>
            <a:picLocks noChangeAspect="1"/>
          </p:cNvPicPr>
          <p:nvPr/>
        </p:nvPicPr>
        <p:blipFill>
          <a:blip r:embed="rId4"/>
          <a:stretch>
            <a:fillRect/>
          </a:stretch>
        </p:blipFill>
        <p:spPr>
          <a:xfrm>
            <a:off x="795792" y="1005840"/>
            <a:ext cx="10569935" cy="302450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Drawings 3-4: panel section and wire-drive layout</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8</a:t>
            </a:r>
          </a:p>
        </p:txBody>
      </p:sp>
      <p:sp>
        <p:nvSpPr>
          <p:cNvPr id="6" name="TextBox 5"/>
          <p:cNvSpPr txBox="1"/>
          <p:nvPr/>
        </p:nvSpPr>
        <p:spPr>
          <a:xfrm>
            <a:off x="365760" y="3588763"/>
            <a:ext cx="5669280" cy="365760"/>
          </a:xfrm>
          <a:prstGeom prst="rect">
            <a:avLst/>
          </a:prstGeom>
          <a:noFill/>
        </p:spPr>
        <p:txBody>
          <a:bodyPr wrap="square">
            <a:spAutoFit/>
          </a:bodyPr>
          <a:lstStyle/>
          <a:p>
            <a:r>
              <a:rPr sz="1100" i="1">
                <a:solidFill>
                  <a:srgbClr val="666B66"/>
                </a:solidFill>
              </a:rPr>
              <a:t>Section A-A: pivot tube, seals, lever arm, carrier rope</a:t>
            </a:r>
          </a:p>
        </p:txBody>
      </p:sp>
      <p:sp>
        <p:nvSpPr>
          <p:cNvPr id="8" name="TextBox 7"/>
          <p:cNvSpPr txBox="1"/>
          <p:nvPr/>
        </p:nvSpPr>
        <p:spPr>
          <a:xfrm>
            <a:off x="6172200" y="2119421"/>
            <a:ext cx="5669280" cy="365760"/>
          </a:xfrm>
          <a:prstGeom prst="rect">
            <a:avLst/>
          </a:prstGeom>
          <a:noFill/>
        </p:spPr>
        <p:txBody>
          <a:bodyPr wrap="square">
            <a:spAutoFit/>
          </a:bodyPr>
          <a:lstStyle/>
          <a:p>
            <a:r>
              <a:rPr sz="1100" i="1">
                <a:solidFill>
                  <a:srgbClr val="666B66"/>
                </a:solidFill>
              </a:rPr>
              <a:t>Drive wire path: motor drum -&gt; lever-arm tips -&gt; tensioner</a:t>
            </a:r>
          </a:p>
        </p:txBody>
      </p:sp>
      <p:pic>
        <p:nvPicPr>
          <p:cNvPr id="9" name="Picture 8" descr="SRMC_feasible_section.png"/>
          <p:cNvPicPr>
            <a:picLocks noChangeAspect="1"/>
          </p:cNvPicPr>
          <p:nvPr/>
        </p:nvPicPr>
        <p:blipFill>
          <a:blip r:embed="rId4"/>
          <a:stretch>
            <a:fillRect/>
          </a:stretch>
        </p:blipFill>
        <p:spPr>
          <a:xfrm>
            <a:off x="403618" y="1051560"/>
            <a:ext cx="5593563" cy="2509771"/>
          </a:xfrm>
          <a:prstGeom prst="rect">
            <a:avLst/>
          </a:prstGeom>
        </p:spPr>
      </p:pic>
      <p:pic>
        <p:nvPicPr>
          <p:cNvPr id="10" name="Picture 9" descr="SRMC_feasible_wire_drive.png"/>
          <p:cNvPicPr>
            <a:picLocks noChangeAspect="1"/>
          </p:cNvPicPr>
          <p:nvPr/>
        </p:nvPicPr>
        <p:blipFill>
          <a:blip r:embed="rId5"/>
          <a:stretch>
            <a:fillRect/>
          </a:stretch>
        </p:blipFill>
        <p:spPr>
          <a:xfrm>
            <a:off x="6172202" y="1051560"/>
            <a:ext cx="5669276" cy="104042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Close-up of ONE panel: the wire slides, the arm swings, the panel tilts</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9</a:t>
            </a:r>
          </a:p>
        </p:txBody>
      </p:sp>
      <p:sp>
        <p:nvSpPr>
          <p:cNvPr id="6" name="TextBox 5"/>
          <p:cNvSpPr txBox="1"/>
          <p:nvPr/>
        </p:nvSpPr>
        <p:spPr>
          <a:xfrm>
            <a:off x="365760" y="5347314"/>
            <a:ext cx="7589520" cy="365760"/>
          </a:xfrm>
          <a:prstGeom prst="rect">
            <a:avLst/>
          </a:prstGeom>
          <a:noFill/>
        </p:spPr>
        <p:txBody>
          <a:bodyPr wrap="square">
            <a:spAutoFit/>
          </a:bodyPr>
          <a:lstStyle/>
          <a:p>
            <a:r>
              <a:rPr sz="1100" i="1">
                <a:solidFill>
                  <a:srgbClr val="666B66"/>
                </a:solidFill>
              </a:rPr>
              <a:t>Animated in slideshow mode. Red = drive wire, yellow = lever arm, green arrow = how far the wire slid (d).</a:t>
            </a:r>
          </a:p>
        </p:txBody>
      </p:sp>
      <p:sp>
        <p:nvSpPr>
          <p:cNvPr id="7" name="TextBox 6"/>
          <p:cNvSpPr txBox="1"/>
          <p:nvPr/>
        </p:nvSpPr>
        <p:spPr>
          <a:xfrm>
            <a:off x="8138160" y="1051560"/>
            <a:ext cx="3840480" cy="5303520"/>
          </a:xfrm>
          <a:prstGeom prst="rect">
            <a:avLst/>
          </a:prstGeom>
          <a:noFill/>
        </p:spPr>
        <p:txBody>
          <a:bodyPr wrap="square">
            <a:spAutoFit/>
          </a:bodyPr>
          <a:lstStyle/>
          <a:p>
            <a:pPr>
              <a:spcAft>
                <a:spcPts val="600"/>
              </a:spcAft>
            </a:pPr>
            <a:r>
              <a:rPr sz="1500" b="0">
                <a:solidFill>
                  <a:srgbClr val="222622"/>
                </a:solidFill>
              </a:rPr>
              <a:t>• The motor pays out or winds in the wire.</a:t>
            </a:r>
          </a:p>
          <a:p>
            <a:pPr>
              <a:spcAft>
                <a:spcPts val="600"/>
              </a:spcAft>
            </a:pPr>
            <a:r>
              <a:rPr sz="1500" b="0">
                <a:solidFill>
                  <a:srgbClr val="222622"/>
                </a:solidFill>
              </a:rPr>
              <a:t>• d = arm x sin(theta): at 60 deg the wire has slid about 358 mm.</a:t>
            </a:r>
          </a:p>
          <a:p>
            <a:pPr>
              <a:spcAft>
                <a:spcPts val="600"/>
              </a:spcAft>
            </a:pPr>
            <a:r>
              <a:rPr sz="1500" b="0">
                <a:solidFill>
                  <a:srgbClr val="222622"/>
                </a:solidFill>
              </a:rPr>
              <a:t>• All arms are on the same wire, so all panels move together.</a:t>
            </a:r>
          </a:p>
          <a:p>
            <a:pPr>
              <a:spcAft>
                <a:spcPts val="600"/>
              </a:spcAft>
            </a:pPr>
            <a:r>
              <a:rPr sz="1500" b="0">
                <a:solidFill>
                  <a:srgbClr val="222622"/>
                </a:solidFill>
              </a:rPr>
              <a:t>• Rain: arm straight down, panels flat and sealed.</a:t>
            </a:r>
          </a:p>
        </p:txBody>
      </p:sp>
      <p:pic>
        <p:nvPicPr>
          <p:cNvPr id="8" name="Picture 7" descr="mechanism_closeup.gif"/>
          <p:cNvPicPr>
            <a:picLocks noChangeAspect="1"/>
          </p:cNvPicPr>
          <p:nvPr/>
        </p:nvPicPr>
        <p:blipFill>
          <a:blip r:embed="rId4"/>
          <a:stretch>
            <a:fillRect/>
          </a:stretch>
        </p:blipFill>
        <p:spPr>
          <a:xfrm>
            <a:off x="565485" y="1005840"/>
            <a:ext cx="7190070" cy="431404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The guide pulley (grey circle): why it is there</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10</a:t>
            </a:r>
          </a:p>
        </p:txBody>
      </p:sp>
      <p:pic>
        <p:nvPicPr>
          <p:cNvPr id="5" name="Picture 4" descr="guide_pulley.gif"/>
          <p:cNvPicPr>
            <a:picLocks noChangeAspect="1"/>
          </p:cNvPicPr>
          <p:nvPr/>
        </p:nvPicPr>
        <p:blipFill>
          <a:blip r:embed="rId3"/>
          <a:stretch>
            <a:fillRect/>
          </a:stretch>
        </p:blipFill>
        <p:spPr>
          <a:xfrm>
            <a:off x="365760" y="1005840"/>
            <a:ext cx="7589520" cy="2897816"/>
          </a:xfrm>
          <a:prstGeom prst="rect">
            <a:avLst/>
          </a:prstGeom>
        </p:spPr>
      </p:pic>
      <p:sp>
        <p:nvSpPr>
          <p:cNvPr id="6" name="TextBox 5"/>
          <p:cNvSpPr txBox="1"/>
          <p:nvPr/>
        </p:nvSpPr>
        <p:spPr>
          <a:xfrm>
            <a:off x="365760" y="3931088"/>
            <a:ext cx="7589520" cy="365760"/>
          </a:xfrm>
          <a:prstGeom prst="rect">
            <a:avLst/>
          </a:prstGeom>
          <a:noFill/>
        </p:spPr>
        <p:txBody>
          <a:bodyPr wrap="square">
            <a:spAutoFit/>
          </a:bodyPr>
          <a:lstStyle/>
          <a:p>
            <a:r>
              <a:rPr sz="1100" i="1">
                <a:solidFill>
                  <a:srgbClr val="666B66"/>
                </a:solidFill>
              </a:rPr>
              <a:t>Animated in slideshow mode. Left: fixed post. Right: grooved guide pulley.</a:t>
            </a:r>
          </a:p>
        </p:txBody>
      </p:sp>
      <p:sp>
        <p:nvSpPr>
          <p:cNvPr id="7" name="TextBox 6"/>
          <p:cNvSpPr txBox="1"/>
          <p:nvPr/>
        </p:nvSpPr>
        <p:spPr>
          <a:xfrm>
            <a:off x="8138160" y="1051560"/>
            <a:ext cx="3840480" cy="5303520"/>
          </a:xfrm>
          <a:prstGeom prst="rect">
            <a:avLst/>
          </a:prstGeom>
          <a:noFill/>
        </p:spPr>
        <p:txBody>
          <a:bodyPr wrap="square">
            <a:spAutoFit/>
          </a:bodyPr>
          <a:lstStyle/>
          <a:p>
            <a:pPr>
              <a:spcAft>
                <a:spcPts val="600"/>
              </a:spcAft>
            </a:pPr>
            <a:r>
              <a:rPr sz="1500" b="0">
                <a:solidFill>
                  <a:srgbClr val="222622"/>
                </a:solidFill>
              </a:rPr>
              <a:t>• Grooved stainless wheel on a bearing, mounted on a bracket.</a:t>
            </a:r>
          </a:p>
          <a:p>
            <a:pPr>
              <a:spcAft>
                <a:spcPts val="600"/>
              </a:spcAft>
            </a:pPr>
            <a:r>
              <a:rPr sz="1500" b="0">
                <a:solidFill>
                  <a:srgbClr val="222622"/>
                </a:solidFill>
              </a:rPr>
              <a:t>• Turns the wire around at the end of the row (pull-pull loop).</a:t>
            </a:r>
          </a:p>
          <a:p>
            <a:pPr>
              <a:spcAft>
                <a:spcPts val="600"/>
              </a:spcAft>
            </a:pPr>
            <a:r>
              <a:rPr sz="1500" b="0">
                <a:solidFill>
                  <a:srgbClr val="222622"/>
                </a:solidFill>
              </a:rPr>
              <a:t>• Without it: about 2.6x more pull, wear, drifting angle.</a:t>
            </a:r>
          </a:p>
          <a:p>
            <a:pPr>
              <a:spcAft>
                <a:spcPts val="600"/>
              </a:spcAft>
            </a:pPr>
            <a:r>
              <a:rPr sz="1500" b="0">
                <a:solidFill>
                  <a:srgbClr val="222622"/>
                </a:solidFill>
              </a:rPr>
              <a:t>• With it: about 2 % friction loss, long wire life.</a:t>
            </a:r>
          </a:p>
          <a:p>
            <a:pPr>
              <a:spcAft>
                <a:spcPts val="600"/>
              </a:spcAft>
            </a:pPr>
            <a:r>
              <a:rPr sz="1500" b="1">
                <a:solidFill>
                  <a:srgbClr val="B03020"/>
                </a:solidFill>
              </a:rPr>
              <a:t>⚠ mu = 0.3 is a typical value, not a measurement.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How the motor tilts the panels (animation)</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11</a:t>
            </a:r>
          </a:p>
        </p:txBody>
      </p:sp>
      <p:sp>
        <p:nvSpPr>
          <p:cNvPr id="6" name="TextBox 5"/>
          <p:cNvSpPr txBox="1"/>
          <p:nvPr/>
        </p:nvSpPr>
        <p:spPr>
          <a:xfrm>
            <a:off x="365760" y="3413621"/>
            <a:ext cx="7589520" cy="365760"/>
          </a:xfrm>
          <a:prstGeom prst="rect">
            <a:avLst/>
          </a:prstGeom>
          <a:noFill/>
        </p:spPr>
        <p:txBody>
          <a:bodyPr wrap="square">
            <a:spAutoFit/>
          </a:bodyPr>
          <a:lstStyle/>
          <a:p>
            <a:r>
              <a:rPr sz="1100" i="1">
                <a:solidFill>
                  <a:srgbClr val="666B66"/>
                </a:solidFill>
              </a:rPr>
              <a:t>Animated in slideshow mode. Same animation in the twin: tab Mechanism. Lever arms drawn 2x bigger; 4 of the 10 panels shown.</a:t>
            </a:r>
          </a:p>
        </p:txBody>
      </p:sp>
      <p:sp>
        <p:nvSpPr>
          <p:cNvPr id="7" name="TextBox 6"/>
          <p:cNvSpPr txBox="1"/>
          <p:nvPr/>
        </p:nvSpPr>
        <p:spPr>
          <a:xfrm>
            <a:off x="8138160" y="1051560"/>
            <a:ext cx="3840480" cy="5303520"/>
          </a:xfrm>
          <a:prstGeom prst="rect">
            <a:avLst/>
          </a:prstGeom>
          <a:noFill/>
        </p:spPr>
        <p:txBody>
          <a:bodyPr wrap="square">
            <a:spAutoFit/>
          </a:bodyPr>
          <a:lstStyle/>
          <a:p>
            <a:pPr>
              <a:spcAft>
                <a:spcPts val="600"/>
              </a:spcAft>
            </a:pPr>
            <a:r>
              <a:rPr sz="1500" b="0">
                <a:solidFill>
                  <a:srgbClr val="222622"/>
                </a:solidFill>
              </a:rPr>
              <a:t>• Controller sets a target angle; motor turns the drum (encoder counts every 0.5 deg).</a:t>
            </a:r>
          </a:p>
          <a:p>
            <a:pPr>
              <a:spcAft>
                <a:spcPts val="600"/>
              </a:spcAft>
            </a:pPr>
            <a:r>
              <a:rPr sz="1500" b="0">
                <a:solidFill>
                  <a:srgbClr val="222622"/>
                </a:solidFill>
              </a:rPr>
              <a:t>• Drive wire slides through pulleys; it is clamped to the tip of every lever arm.</a:t>
            </a:r>
          </a:p>
          <a:p>
            <a:pPr>
              <a:spcAft>
                <a:spcPts val="600"/>
              </a:spcAft>
            </a:pPr>
            <a:r>
              <a:rPr sz="1500" b="0">
                <a:solidFill>
                  <a:srgbClr val="222622"/>
                </a:solidFill>
              </a:rPr>
              <a:t>• Each arm is welded to its pivot tube, so the panel turns by sin(angle) = wire travel / arm length.</a:t>
            </a:r>
          </a:p>
          <a:p>
            <a:pPr>
              <a:spcAft>
                <a:spcPts val="600"/>
              </a:spcAft>
            </a:pPr>
            <a:r>
              <a:rPr sz="1500" b="0">
                <a:solidFill>
                  <a:srgbClr val="222622"/>
                </a:solidFill>
              </a:rPr>
              <a:t>• Rain: panels settle at 3 deg and seal; heat or dry soil: more shade. Anemometer: wind stow at 15 m/s, using a 45 deg offset lever arm.</a:t>
            </a:r>
          </a:p>
          <a:p>
            <a:pPr>
              <a:spcAft>
                <a:spcPts val="600"/>
              </a:spcAft>
            </a:pPr>
            <a:r>
              <a:rPr sz="1500" b="1">
                <a:solidFill>
                  <a:srgbClr val="B03020"/>
                </a:solidFill>
              </a:rPr>
              <a:t>⚠ Design finding: one wire with both ends fixed cannot slide; needs a take-up (counterweight/spring) or this pull-pull loop (about 2x wire).</a:t>
            </a:r>
          </a:p>
        </p:txBody>
      </p:sp>
      <p:pic>
        <p:nvPicPr>
          <p:cNvPr id="8" name="Picture 7" descr="mechanism_tilt.gif"/>
          <p:cNvPicPr>
            <a:picLocks noChangeAspect="1"/>
          </p:cNvPicPr>
          <p:nvPr/>
        </p:nvPicPr>
        <p:blipFill>
          <a:blip r:embed="rId4"/>
          <a:stretch>
            <a:fillRect/>
          </a:stretch>
        </p:blipFill>
        <p:spPr>
          <a:xfrm>
            <a:off x="1680990" y="1005840"/>
            <a:ext cx="4959060" cy="238034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Bill of materials (25 x 25 m demonstration unit, 131 kWp)</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12</a:t>
            </a:r>
          </a:p>
        </p:txBody>
      </p:sp>
      <p:graphicFrame>
        <p:nvGraphicFramePr>
          <p:cNvPr id="5" name="Table 4"/>
          <p:cNvGraphicFramePr>
            <a:graphicFrameLocks noGrp="1"/>
          </p:cNvGraphicFramePr>
          <p:nvPr/>
        </p:nvGraphicFramePr>
        <p:xfrm>
          <a:off x="457200" y="1097280"/>
          <a:ext cx="11247120" cy="4754880"/>
        </p:xfrm>
        <a:graphic>
          <a:graphicData uri="http://schemas.openxmlformats.org/drawingml/2006/table">
            <a:tbl>
              <a:tblPr firstRow="1" bandRow="1">
                <a:tableStyleId>{5C22544A-7EE6-4342-B048-85BDC9FD1C3A}</a:tableStyleId>
              </a:tblPr>
              <a:tblGrid>
                <a:gridCol w="8229600"/>
                <a:gridCol w="1463040"/>
                <a:gridCol w="1554480"/>
              </a:tblGrid>
              <a:tr h="365760">
                <a:tc>
                  <a:txBody>
                    <a:bodyPr/>
                    <a:lstStyle/>
                    <a:p>
                      <a:r>
                        <a:rPr sz="1200" b="1">
                          <a:solidFill>
                            <a:srgbClr val="222622"/>
                          </a:solidFill>
                        </a:rPr>
                        <a:t>Item</a:t>
                      </a:r>
                    </a:p>
                  </a:txBody>
                  <a:tcPr>
                    <a:solidFill>
                      <a:srgbClr val="72B830"/>
                    </a:solidFill>
                  </a:tcPr>
                </a:tc>
                <a:tc>
                  <a:txBody>
                    <a:bodyPr/>
                    <a:lstStyle/>
                    <a:p>
                      <a:r>
                        <a:rPr sz="1200" b="1">
                          <a:solidFill>
                            <a:srgbClr val="222622"/>
                          </a:solidFill>
                        </a:rPr>
                        <a:t>Qty</a:t>
                      </a:r>
                    </a:p>
                  </a:txBody>
                  <a:tcPr>
                    <a:solidFill>
                      <a:srgbClr val="72B830"/>
                    </a:solidFill>
                  </a:tcPr>
                </a:tc>
                <a:tc>
                  <a:txBody>
                    <a:bodyPr/>
                    <a:lstStyle/>
                    <a:p>
                      <a:r>
                        <a:rPr sz="1200" b="1">
                          <a:solidFill>
                            <a:srgbClr val="222622"/>
                          </a:solidFill>
                        </a:rPr>
                        <a:t>Unit</a:t>
                      </a:r>
                    </a:p>
                  </a:txBody>
                  <a:tcPr>
                    <a:solidFill>
                      <a:srgbClr val="72B830"/>
                    </a:solidFill>
                  </a:tcPr>
                </a:tc>
              </a:tr>
              <a:tr h="365760">
                <a:tc>
                  <a:txBody>
                    <a:bodyPr/>
                    <a:lstStyle/>
                    <a:p>
                      <a:r>
                        <a:rPr sz="1200" b="0"/>
                        <a:t>Column, GI RHS 200 x 200 mm, 6.73 m long</a:t>
                      </a:r>
                    </a:p>
                  </a:txBody>
                  <a:tcPr/>
                </a:tc>
                <a:tc>
                  <a:txBody>
                    <a:bodyPr/>
                    <a:lstStyle/>
                    <a:p>
                      <a:r>
                        <a:rPr sz="1200" b="0"/>
                        <a:t>36</a:t>
                      </a:r>
                    </a:p>
                  </a:txBody>
                  <a:tcPr/>
                </a:tc>
                <a:tc>
                  <a:txBody>
                    <a:bodyPr/>
                    <a:lstStyle/>
                    <a:p>
                      <a:r>
                        <a:rPr sz="1200" b="0"/>
                        <a:t>nos</a:t>
                      </a:r>
                    </a:p>
                  </a:txBody>
                  <a:tcPr/>
                </a:tc>
              </a:tr>
              <a:tr h="365760">
                <a:tc>
                  <a:txBody>
                    <a:bodyPr/>
                    <a:lstStyle/>
                    <a:p>
                      <a:r>
                        <a:rPr sz="1200" b="0"/>
                        <a:t>Foundation pad 0.9 x 0.9 m</a:t>
                      </a:r>
                    </a:p>
                  </a:txBody>
                  <a:tcPr/>
                </a:tc>
                <a:tc>
                  <a:txBody>
                    <a:bodyPr/>
                    <a:lstStyle/>
                    <a:p>
                      <a:r>
                        <a:rPr sz="1200" b="0"/>
                        <a:t>36</a:t>
                      </a:r>
                    </a:p>
                  </a:txBody>
                  <a:tcPr/>
                </a:tc>
                <a:tc>
                  <a:txBody>
                    <a:bodyPr/>
                    <a:lstStyle/>
                    <a:p>
                      <a:r>
                        <a:rPr sz="1200" b="0"/>
                        <a:t>nos</a:t>
                      </a:r>
                    </a:p>
                  </a:txBody>
                  <a:tcPr/>
                </a:tc>
              </a:tr>
              <a:tr h="365760">
                <a:tc>
                  <a:txBody>
                    <a:bodyPr/>
                    <a:lstStyle/>
                    <a:p>
                      <a:r>
                        <a:rPr sz="1200" b="0"/>
                        <a:t>Carrier wire rope SS316 16 mm 7x19</a:t>
                      </a:r>
                    </a:p>
                  </a:txBody>
                  <a:tcPr/>
                </a:tc>
                <a:tc>
                  <a:txBody>
                    <a:bodyPr/>
                    <a:lstStyle/>
                    <a:p>
                      <a:r>
                        <a:rPr sz="1200" b="0"/>
                        <a:t>152.8</a:t>
                      </a:r>
                    </a:p>
                  </a:txBody>
                  <a:tcPr/>
                </a:tc>
                <a:tc>
                  <a:txBody>
                    <a:bodyPr/>
                    <a:lstStyle/>
                    <a:p>
                      <a:r>
                        <a:rPr sz="1200" b="0"/>
                        <a:t>m</a:t>
                      </a:r>
                    </a:p>
                  </a:txBody>
                  <a:tcPr/>
                </a:tc>
              </a:tr>
              <a:tr h="365760">
                <a:tc>
                  <a:txBody>
                    <a:bodyPr/>
                    <a:lstStyle/>
                    <a:p>
                      <a:r>
                        <a:rPr sz="1200" b="0"/>
                        <a:t>Longitudinal wire rope SS316 16 mm</a:t>
                      </a:r>
                    </a:p>
                  </a:txBody>
                  <a:tcPr/>
                </a:tc>
                <a:tc>
                  <a:txBody>
                    <a:bodyPr/>
                    <a:lstStyle/>
                    <a:p>
                      <a:r>
                        <a:rPr sz="1200" b="0"/>
                        <a:t>152.8</a:t>
                      </a:r>
                    </a:p>
                  </a:txBody>
                  <a:tcPr/>
                </a:tc>
                <a:tc>
                  <a:txBody>
                    <a:bodyPr/>
                    <a:lstStyle/>
                    <a:p>
                      <a:r>
                        <a:rPr sz="1200" b="0"/>
                        <a:t>m</a:t>
                      </a:r>
                    </a:p>
                  </a:txBody>
                  <a:tcPr/>
                </a:tc>
              </a:tr>
              <a:tr h="365760">
                <a:tc>
                  <a:txBody>
                    <a:bodyPr/>
                    <a:lstStyle/>
                    <a:p>
                      <a:r>
                        <a:rPr sz="1200" b="0"/>
                        <a:t>Stay wire rope SS316 20 mm 7x7</a:t>
                      </a:r>
                    </a:p>
                  </a:txBody>
                  <a:tcPr/>
                </a:tc>
                <a:tc>
                  <a:txBody>
                    <a:bodyPr/>
                    <a:lstStyle/>
                    <a:p>
                      <a:r>
                        <a:rPr sz="1200" b="0"/>
                        <a:t>222.9</a:t>
                      </a:r>
                    </a:p>
                  </a:txBody>
                  <a:tcPr/>
                </a:tc>
                <a:tc>
                  <a:txBody>
                    <a:bodyPr/>
                    <a:lstStyle/>
                    <a:p>
                      <a:r>
                        <a:rPr sz="1200" b="0"/>
                        <a:t>m</a:t>
                      </a:r>
                    </a:p>
                  </a:txBody>
                  <a:tcPr/>
                </a:tc>
              </a:tr>
              <a:tr h="365760">
                <a:tc>
                  <a:txBody>
                    <a:bodyPr/>
                    <a:lstStyle/>
                    <a:p>
                      <a:r>
                        <a:rPr sz="1200" b="0"/>
                        <a:t>Ground anchor (screw/rock, or 1.6 m3 buried concrete)</a:t>
                      </a:r>
                    </a:p>
                  </a:txBody>
                  <a:tcPr/>
                </a:tc>
                <a:tc>
                  <a:txBody>
                    <a:bodyPr/>
                    <a:lstStyle/>
                    <a:p>
                      <a:r>
                        <a:rPr sz="1200" b="0"/>
                        <a:t>24</a:t>
                      </a:r>
                    </a:p>
                  </a:txBody>
                  <a:tcPr/>
                </a:tc>
                <a:tc>
                  <a:txBody>
                    <a:bodyPr/>
                    <a:lstStyle/>
                    <a:p>
                      <a:r>
                        <a:rPr sz="1200" b="0"/>
                        <a:t>nos</a:t>
                      </a:r>
                    </a:p>
                  </a:txBody>
                  <a:tcPr/>
                </a:tc>
              </a:tr>
              <a:tr h="365760">
                <a:tc>
                  <a:txBody>
                    <a:bodyPr/>
                    <a:lstStyle/>
                    <a:p>
                      <a:r>
                        <a:rPr sz="1200" b="0"/>
                        <a:t>Turnbuckle M24 SS316 (&gt;= 72 kN)</a:t>
                      </a:r>
                    </a:p>
                  </a:txBody>
                  <a:tcPr/>
                </a:tc>
                <a:tc>
                  <a:txBody>
                    <a:bodyPr/>
                    <a:lstStyle/>
                    <a:p>
                      <a:r>
                        <a:rPr sz="1200" b="0"/>
                        <a:t>24</a:t>
                      </a:r>
                    </a:p>
                  </a:txBody>
                  <a:tcPr/>
                </a:tc>
                <a:tc>
                  <a:txBody>
                    <a:bodyPr/>
                    <a:lstStyle/>
                    <a:p>
                      <a:r>
                        <a:rPr sz="1200" b="0"/>
                        <a:t>nos</a:t>
                      </a:r>
                    </a:p>
                  </a:txBody>
                  <a:tcPr/>
                </a:tc>
              </a:tr>
              <a:tr h="365760">
                <a:tc>
                  <a:txBody>
                    <a:bodyPr/>
                    <a:lstStyle/>
                    <a:p>
                      <a:r>
                        <a:rPr sz="1200" b="0"/>
                        <a:t>PV panel 2.497 x 25.0 m (pivoting)</a:t>
                      </a:r>
                    </a:p>
                  </a:txBody>
                  <a:tcPr/>
                </a:tc>
                <a:tc>
                  <a:txBody>
                    <a:bodyPr/>
                    <a:lstStyle/>
                    <a:p>
                      <a:r>
                        <a:rPr sz="1200" b="0"/>
                        <a:t>10</a:t>
                      </a:r>
                    </a:p>
                  </a:txBody>
                  <a:tcPr/>
                </a:tc>
                <a:tc>
                  <a:txBody>
                    <a:bodyPr/>
                    <a:lstStyle/>
                    <a:p>
                      <a:r>
                        <a:rPr sz="1200" b="0"/>
                        <a:t>nos</a:t>
                      </a:r>
                    </a:p>
                  </a:txBody>
                  <a:tcPr/>
                </a:tc>
              </a:tr>
              <a:tr h="365760">
                <a:tc>
                  <a:txBody>
                    <a:bodyPr/>
                    <a:lstStyle/>
                    <a:p>
                      <a:r>
                        <a:rPr sz="1200" b="0"/>
                        <a:t>Pivot tube S355 galv CHS 114.3 x 4.0 mm, 25.0 m</a:t>
                      </a:r>
                    </a:p>
                  </a:txBody>
                  <a:tcPr/>
                </a:tc>
                <a:tc>
                  <a:txBody>
                    <a:bodyPr/>
                    <a:lstStyle/>
                    <a:p>
                      <a:r>
                        <a:rPr sz="1200" b="0"/>
                        <a:t>10</a:t>
                      </a:r>
                    </a:p>
                  </a:txBody>
                  <a:tcPr/>
                </a:tc>
                <a:tc>
                  <a:txBody>
                    <a:bodyPr/>
                    <a:lstStyle/>
                    <a:p>
                      <a:r>
                        <a:rPr sz="1200" b="0"/>
                        <a:t>nos</a:t>
                      </a:r>
                    </a:p>
                  </a:txBody>
                  <a:tcPr/>
                </a:tc>
              </a:tr>
              <a:tr h="365760">
                <a:tc>
                  <a:txBody>
                    <a:bodyPr/>
                    <a:lstStyle/>
                    <a:p>
                      <a:r>
                        <a:rPr sz="1200" b="0"/>
                        <a:t>Pivot bearing block, self-aligning, IP65</a:t>
                      </a:r>
                    </a:p>
                  </a:txBody>
                  <a:tcPr/>
                </a:tc>
                <a:tc>
                  <a:txBody>
                    <a:bodyPr/>
                    <a:lstStyle/>
                    <a:p>
                      <a:r>
                        <a:rPr sz="1200" b="0"/>
                        <a:t>60</a:t>
                      </a:r>
                    </a:p>
                  </a:txBody>
                  <a:tcPr/>
                </a:tc>
                <a:tc>
                  <a:txBody>
                    <a:bodyPr/>
                    <a:lstStyle/>
                    <a:p>
                      <a:r>
                        <a:rPr sz="1200" b="0"/>
                        <a:t>nos</a:t>
                      </a:r>
                    </a:p>
                  </a:txBody>
                  <a:tcPr/>
                </a:tc>
              </a:tr>
              <a:tr h="365760">
                <a:tc>
                  <a:txBody>
                    <a:bodyPr/>
                    <a:lstStyle/>
                    <a:p>
                      <a:r>
                        <a:rPr sz="1200" b="0"/>
                        <a:t>Hanger rod / wire, carrier to bearing</a:t>
                      </a:r>
                    </a:p>
                  </a:txBody>
                  <a:tcPr/>
                </a:tc>
                <a:tc>
                  <a:txBody>
                    <a:bodyPr/>
                    <a:lstStyle/>
                    <a:p>
                      <a:r>
                        <a:rPr sz="1200" b="0"/>
                        <a:t>15.0</a:t>
                      </a:r>
                    </a:p>
                  </a:txBody>
                  <a:tcPr/>
                </a:tc>
                <a:tc>
                  <a:txBody>
                    <a:bodyPr/>
                    <a:lstStyle/>
                    <a:p>
                      <a:r>
                        <a:rPr sz="1200" b="0"/>
                        <a:t>m</a:t>
                      </a:r>
                    </a:p>
                  </a:txBody>
                  <a:tcPr/>
                </a:tc>
              </a:tr>
              <a:tr h="365760">
                <a:tc>
                  <a:txBody>
                    <a:bodyPr/>
                    <a:lstStyle/>
                    <a:p>
                      <a:r>
                        <a:rPr sz="1200" b="0"/>
                        <a:t>Lever arm SS316 0.44 m, 45 deg offset</a:t>
                      </a:r>
                    </a:p>
                  </a:txBody>
                  <a:tcPr/>
                </a:tc>
                <a:tc>
                  <a:txBody>
                    <a:bodyPr/>
                    <a:lstStyle/>
                    <a:p>
                      <a:r>
                        <a:rPr sz="1200" b="0"/>
                        <a:t>10</a:t>
                      </a:r>
                    </a:p>
                  </a:txBody>
                  <a:tcPr/>
                </a:tc>
                <a:tc>
                  <a:txBody>
                    <a:bodyPr/>
                    <a:lstStyle/>
                    <a:p>
                      <a:r>
                        <a:rPr sz="1200" b="0"/>
                        <a:t>nos</a:t>
                      </a:r>
                    </a:p>
                  </a:txBody>
                  <a:tcPr/>
                </a:tc>
              </a:tr>
            </a:tbl>
          </a:graphicData>
        </a:graphic>
      </p:graphicFrame>
      <p:sp>
        <p:nvSpPr>
          <p:cNvPr id="6" name="TextBox 5"/>
          <p:cNvSpPr txBox="1"/>
          <p:nvPr/>
        </p:nvSpPr>
        <p:spPr>
          <a:xfrm>
            <a:off x="457200" y="6272783"/>
            <a:ext cx="11247120" cy="1097280"/>
          </a:xfrm>
          <a:prstGeom prst="rect">
            <a:avLst/>
          </a:prstGeom>
          <a:noFill/>
        </p:spPr>
        <p:txBody>
          <a:bodyPr wrap="square">
            <a:spAutoFit/>
          </a:bodyPr>
          <a:lstStyle/>
          <a:p>
            <a:r>
              <a:rPr sz="1400">
                <a:solidFill>
                  <a:srgbClr val="666B66"/>
                </a:solidFill>
              </a:rPr>
              <a:t>The CAD unit is one 25 m x 25 m module; the simulations are normalised per hectare.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Visual design check (Blender, Cycles ray tracing)</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15</a:t>
            </a:r>
          </a:p>
        </p:txBody>
      </p:sp>
      <p:pic>
        <p:nvPicPr>
          <p:cNvPr id="5" name="Picture 4" descr="under.png"/>
          <p:cNvPicPr>
            <a:picLocks noChangeAspect="1"/>
          </p:cNvPicPr>
          <p:nvPr/>
        </p:nvPicPr>
        <p:blipFill>
          <a:blip r:embed="rId2"/>
          <a:stretch>
            <a:fillRect/>
          </a:stretch>
        </p:blipFill>
        <p:spPr>
          <a:xfrm>
            <a:off x="365760" y="1051560"/>
            <a:ext cx="5669280" cy="3188970"/>
          </a:xfrm>
          <a:prstGeom prst="rect">
            <a:avLst/>
          </a:prstGeom>
        </p:spPr>
      </p:pic>
      <p:sp>
        <p:nvSpPr>
          <p:cNvPr id="6" name="TextBox 5"/>
          <p:cNvSpPr txBox="1"/>
          <p:nvPr/>
        </p:nvSpPr>
        <p:spPr>
          <a:xfrm>
            <a:off x="365760" y="4267962"/>
            <a:ext cx="5669280" cy="365760"/>
          </a:xfrm>
          <a:prstGeom prst="rect">
            <a:avLst/>
          </a:prstGeom>
          <a:noFill/>
        </p:spPr>
        <p:txBody>
          <a:bodyPr wrap="square">
            <a:spAutoFit/>
          </a:bodyPr>
          <a:lstStyle/>
          <a:p>
            <a:r>
              <a:rPr sz="1100" i="1">
                <a:solidFill>
                  <a:srgbClr val="666B66"/>
                </a:solidFill>
              </a:rPr>
              <a:t>Under the canopy: crops, drip lines, harvester clearance</a:t>
            </a:r>
          </a:p>
        </p:txBody>
      </p:sp>
      <p:pic>
        <p:nvPicPr>
          <p:cNvPr id="7" name="Picture 6" descr="rain.png"/>
          <p:cNvPicPr>
            <a:picLocks noChangeAspect="1"/>
          </p:cNvPicPr>
          <p:nvPr/>
        </p:nvPicPr>
        <p:blipFill>
          <a:blip r:embed="rId3"/>
          <a:stretch>
            <a:fillRect/>
          </a:stretch>
        </p:blipFill>
        <p:spPr>
          <a:xfrm>
            <a:off x="6172200" y="1051560"/>
            <a:ext cx="5669280" cy="3188970"/>
          </a:xfrm>
          <a:prstGeom prst="rect">
            <a:avLst/>
          </a:prstGeom>
        </p:spPr>
      </p:pic>
      <p:sp>
        <p:nvSpPr>
          <p:cNvPr id="8" name="TextBox 7"/>
          <p:cNvSpPr txBox="1"/>
          <p:nvPr/>
        </p:nvSpPr>
        <p:spPr>
          <a:xfrm>
            <a:off x="6172200" y="4267962"/>
            <a:ext cx="5669280" cy="365760"/>
          </a:xfrm>
          <a:prstGeom prst="rect">
            <a:avLst/>
          </a:prstGeom>
          <a:noFill/>
        </p:spPr>
        <p:txBody>
          <a:bodyPr wrap="square">
            <a:spAutoFit/>
          </a:bodyPr>
          <a:lstStyle/>
          <a:p>
            <a:r>
              <a:rPr sz="1100" i="1">
                <a:solidFill>
                  <a:srgbClr val="666B66"/>
                </a:solidFill>
              </a:rPr>
              <a:t>Rain mode: 3 deg fall to the gutter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nchor="ctr">
            <a:spAutoFit/>
          </a:bodyPr>
          <a:lstStyle/>
          <a:p>
            <a:r>
              <a:rPr sz="2800" b="1">
                <a:solidFill>
                  <a:srgbClr val="FFFFFF"/>
                </a:solidFill>
                <a:latin typeface="Calibri"/>
              </a:rPr>
              <a:t>Limits of R3 and what a supervisor can verify</a:t>
            </a:r>
          </a:p>
        </p:txBody>
      </p:sp>
      <p:sp>
        <p:nvSpPr>
          <p:cNvPr id="4" name="TextBox 3"/>
          <p:cNvSpPr txBox="1"/>
          <p:nvPr/>
        </p:nvSpPr>
        <p:spPr>
          <a:xfrm>
            <a:off x="411480" y="6473952"/>
            <a:ext cx="11338560" cy="274320"/>
          </a:xfrm>
          <a:prstGeom prst="rect">
            <a:avLst/>
          </a:prstGeom>
          <a:noFill/>
        </p:spPr>
        <p:txBody>
          <a:bodyPr wrap="none">
            <a:spAutoFit/>
          </a:bodyPr>
          <a:lstStyle/>
          <a:p>
            <a:r>
              <a:rPr sz="1000">
                <a:solidFill>
                  <a:srgbClr val="666B66"/>
                </a:solidFill>
              </a:rPr>
              <a:t>R3 Design  |  Agrovoltaic Canopy for Protection and Sustainable Farming, TCE Madurai  | 16</a:t>
            </a:r>
          </a:p>
        </p:txBody>
      </p:sp>
      <p:sp>
        <p:nvSpPr>
          <p:cNvPr id="5" name="TextBox 4"/>
          <p:cNvSpPr txBox="1"/>
          <p:nvPr/>
        </p:nvSpPr>
        <p:spPr>
          <a:xfrm>
            <a:off x="457200" y="1051560"/>
            <a:ext cx="11338560" cy="5303520"/>
          </a:xfrm>
          <a:prstGeom prst="rect">
            <a:avLst/>
          </a:prstGeom>
          <a:noFill/>
        </p:spPr>
        <p:txBody>
          <a:bodyPr wrap="square">
            <a:spAutoFit/>
          </a:bodyPr>
          <a:lstStyle/>
          <a:p>
            <a:pPr>
              <a:spcAft>
                <a:spcPts val="700"/>
              </a:spcAft>
            </a:pPr>
            <a:r>
              <a:rPr sz="1900">
                <a:solidFill>
                  <a:srgbClr val="222622"/>
                </a:solidFill>
              </a:rPr>
              <a:t>• Drawings are generated from the design file; they were previewed in Python but not opened in AutoCAD here - open once and add a title block.</a:t>
            </a:r>
          </a:p>
          <a:p>
            <a:pPr>
              <a:spcAft>
                <a:spcPts val="700"/>
              </a:spcAft>
            </a:pPr>
            <a:r>
              <a:rPr sz="1900" b="1">
                <a:solidFill>
                  <a:srgbClr val="B03020"/>
                </a:solidFill>
              </a:rPr>
              <a:t>⚠ Structural numbers are screening-level hand calculations, not a certified design (no connection, fatigue, foundation or soil data).</a:t>
            </a:r>
          </a:p>
          <a:p>
            <a:pPr>
              <a:spcAft>
                <a:spcPts val="700"/>
              </a:spcAft>
            </a:pPr>
            <a:r>
              <a:rPr sz="1900">
                <a:solidFill>
                  <a:srgbClr val="222622"/>
                </a:solidFill>
              </a:rPr>
              <a:t>• Rope strengths and the guideline 250 kN working-load figure must be checked against supplier datasheets.</a:t>
            </a:r>
          </a:p>
          <a:p>
            <a:pPr>
              <a:spcAft>
                <a:spcPts val="700"/>
              </a:spcAft>
            </a:pPr>
            <a:r>
              <a:rPr sz="1900">
                <a:solidFill>
                  <a:srgbClr val="222622"/>
                </a:solidFill>
              </a:rPr>
              <a:t>• Tube, rope and column sizes in the BOM are from the checked preset; costs are assumptions (R7).</a:t>
            </a:r>
          </a:p>
          <a:p>
            <a:pPr>
              <a:spcAft>
                <a:spcPts val="700"/>
              </a:spcAft>
            </a:pPr>
            <a:r>
              <a:rPr sz="1900">
                <a:solidFill>
                  <a:srgbClr val="222622"/>
                </a:solidFill>
              </a:rPr>
              <a:t>• Proof: reviews/PROOF_INDEX.md rows 1-6; design/design.json; out/cad; matlab/structural_check.m.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spAutoFit/>
          </a:bodyPr>
          <a:lstStyle/>
          <a:p>
            <a:pPr>
              <a:spcAft>
                <a:spcPts val="600"/>
              </a:spcAft>
            </a:pPr>
            <a:r>
              <a:rPr sz="2800" b="1">
                <a:solidFill>
                  <a:srgbClr val="FFFFFF"/>
                </a:solidFill>
                <a:latin typeface="Calibri"/>
              </a:rPr>
              <a:t>Hardware changes after the strength check</a:t>
            </a:r>
          </a:p>
        </p:txBody>
      </p:sp>
      <p:sp>
        <p:nvSpPr>
          <p:cNvPr id="4" name="TextBox 3"/>
          <p:cNvSpPr txBox="1"/>
          <p:nvPr/>
        </p:nvSpPr>
        <p:spPr>
          <a:xfrm>
            <a:off x="411480" y="6473952"/>
            <a:ext cx="11338560" cy="274320"/>
          </a:xfrm>
          <a:prstGeom prst="rect">
            <a:avLst/>
          </a:prstGeom>
          <a:noFill/>
        </p:spPr>
        <p:txBody>
          <a:bodyPr wrap="square">
            <a:spAutoFit/>
          </a:bodyPr>
          <a:lstStyle/>
          <a:p>
            <a:pPr>
              <a:spcAft>
                <a:spcPts val="600"/>
              </a:spcAft>
            </a:pPr>
            <a:r>
              <a:rPr sz="1000" b="0">
                <a:solidFill>
                  <a:srgbClr val="666B66"/>
                </a:solidFill>
                <a:latin typeface="Calibri"/>
              </a:rPr>
              <a:t>R3 Design  |  Agrovoltaic Canopy for Protection and Sustainable Farming, TCE Madurai  | 13</a:t>
            </a:r>
          </a:p>
        </p:txBody>
      </p:sp>
      <p:graphicFrame>
        <p:nvGraphicFramePr>
          <p:cNvPr id="5" name="Table 4"/>
          <p:cNvGraphicFramePr>
            <a:graphicFrameLocks noGrp="1"/>
          </p:cNvGraphicFramePr>
          <p:nvPr/>
        </p:nvGraphicFramePr>
        <p:xfrm>
          <a:off x="457200" y="1097280"/>
          <a:ext cx="11247120" cy="4114800"/>
        </p:xfrm>
        <a:graphic>
          <a:graphicData uri="http://schemas.openxmlformats.org/drawingml/2006/table">
            <a:tbl>
              <a:tblPr firstRow="1" bandRow="1">
                <a:tableStyleId>{5C22544A-7EE6-4342-B048-85BDC9FD1C3A}</a:tableStyleId>
              </a:tblPr>
              <a:tblGrid>
                <a:gridCol w="2811780"/>
                <a:gridCol w="2811780"/>
                <a:gridCol w="2811780"/>
                <a:gridCol w="2811780"/>
              </a:tblGrid>
              <a:tr h="411480">
                <a:tc>
                  <a:txBody>
                    <a:bodyPr/>
                    <a:lstStyle/>
                    <a:p>
                      <a:r>
                        <a:rPr sz="1400" b="1">
                          <a:solidFill>
                            <a:srgbClr val="222622"/>
                          </a:solidFill>
                        </a:rPr>
                        <a:t>Part</a:t>
                      </a:r>
                    </a:p>
                  </a:txBody>
                  <a:tcPr>
                    <a:solidFill>
                      <a:srgbClr val="72B830"/>
                    </a:solidFill>
                  </a:tcPr>
                </a:tc>
                <a:tc>
                  <a:txBody>
                    <a:bodyPr/>
                    <a:lstStyle/>
                    <a:p>
                      <a:r>
                        <a:rPr sz="1400" b="1">
                          <a:solidFill>
                            <a:srgbClr val="222622"/>
                          </a:solidFill>
                        </a:rPr>
                        <a:t>First parts list</a:t>
                      </a:r>
                    </a:p>
                  </a:txBody>
                  <a:tcPr>
                    <a:solidFill>
                      <a:srgbClr val="72B830"/>
                    </a:solidFill>
                  </a:tcPr>
                </a:tc>
                <a:tc>
                  <a:txBody>
                    <a:bodyPr/>
                    <a:lstStyle/>
                    <a:p>
                      <a:r>
                        <a:rPr sz="1400" b="1">
                          <a:solidFill>
                            <a:srgbClr val="222622"/>
                          </a:solidFill>
                        </a:rPr>
                        <a:t>Final design</a:t>
                      </a:r>
                    </a:p>
                  </a:txBody>
                  <a:tcPr>
                    <a:solidFill>
                      <a:srgbClr val="72B830"/>
                    </a:solidFill>
                  </a:tcPr>
                </a:tc>
                <a:tc>
                  <a:txBody>
                    <a:bodyPr/>
                    <a:lstStyle/>
                    <a:p>
                      <a:r>
                        <a:rPr sz="1400" b="1">
                          <a:solidFill>
                            <a:srgbClr val="222622"/>
                          </a:solidFill>
                        </a:rPr>
                        <a:t>Why</a:t>
                      </a:r>
                    </a:p>
                  </a:txBody>
                  <a:tcPr>
                    <a:solidFill>
                      <a:srgbClr val="72B830"/>
                    </a:solidFill>
                  </a:tcPr>
                </a:tc>
              </a:tr>
              <a:tr h="411480">
                <a:tc>
                  <a:txBody>
                    <a:bodyPr/>
                    <a:lstStyle/>
                    <a:p>
                      <a:r>
                        <a:rPr sz="1300"/>
                        <a:t>Drive wire</a:t>
                      </a:r>
                    </a:p>
                  </a:txBody>
                  <a:tcPr/>
                </a:tc>
                <a:tc>
                  <a:txBody>
                    <a:bodyPr/>
                    <a:lstStyle/>
                    <a:p>
                      <a:r>
                        <a:rPr sz="1300"/>
                        <a:t>SS316 4 mm</a:t>
                      </a:r>
                    </a:p>
                  </a:txBody>
                  <a:tcPr/>
                </a:tc>
                <a:tc>
                  <a:txBody>
                    <a:bodyPr/>
                    <a:lstStyle/>
                    <a:p>
                      <a:r>
                        <a:rPr sz="1300"/>
                        <a:t>SS316 6 mm 7x19</a:t>
                      </a:r>
                    </a:p>
                  </a:txBody>
                  <a:tcPr/>
                </a:tc>
                <a:tc>
                  <a:txBody>
                    <a:bodyPr/>
                    <a:lstStyle/>
                    <a:p>
                      <a:r>
                        <a:rPr sz="1300"/>
                        <a:t>wire load 4.1 kN at 54 km/h wind; 4 mm allows 4.6 kN (0.9, too tight)</a:t>
                      </a:r>
                    </a:p>
                  </a:txBody>
                  <a:tcPr/>
                </a:tc>
              </a:tr>
              <a:tr h="411480">
                <a:tc>
                  <a:txBody>
                    <a:bodyPr/>
                    <a:lstStyle/>
                    <a:p>
                      <a:r>
                        <a:rPr sz="1300"/>
                        <a:t>Motor winch</a:t>
                      </a:r>
                    </a:p>
                  </a:txBody>
                  <a:tcPr/>
                </a:tc>
                <a:tc>
                  <a:txBody>
                    <a:bodyPr/>
                    <a:lstStyle/>
                    <a:p>
                      <a:r>
                        <a:rPr sz="1300"/>
                        <a:t>3 kN</a:t>
                      </a:r>
                    </a:p>
                  </a:txBody>
                  <a:tcPr/>
                </a:tc>
                <a:tc>
                  <a:txBody>
                    <a:bodyPr/>
                    <a:lstStyle/>
                    <a:p>
                      <a:r>
                        <a:rPr sz="1300"/>
                        <a:t>10 kN, about 0.25 kW</a:t>
                      </a:r>
                    </a:p>
                  </a:txBody>
                  <a:tcPr/>
                </a:tc>
                <a:tc>
                  <a:txBody>
                    <a:bodyPr/>
                    <a:lstStyle/>
                    <a:p>
                      <a:r>
                        <a:rPr sz="1300"/>
                        <a:t>3 kN is at its limit near 45 km/h wind and 1.4x over at 54 km/h</a:t>
                      </a:r>
                    </a:p>
                  </a:txBody>
                  <a:tcPr/>
                </a:tc>
              </a:tr>
              <a:tr h="411480">
                <a:tc>
                  <a:txBody>
                    <a:bodyPr/>
                    <a:lstStyle/>
                    <a:p>
                      <a:r>
                        <a:rPr sz="1300"/>
                        <a:t>Turnbuckle (stay)</a:t>
                      </a:r>
                    </a:p>
                  </a:txBody>
                  <a:tcPr/>
                </a:tc>
                <a:tc>
                  <a:txBody>
                    <a:bodyPr/>
                    <a:lstStyle/>
                    <a:p>
                      <a:r>
                        <a:rPr sz="1300"/>
                        <a:t>M16 SS316</a:t>
                      </a:r>
                    </a:p>
                  </a:txBody>
                  <a:tcPr/>
                </a:tc>
                <a:tc>
                  <a:txBody>
                    <a:bodyPr/>
                    <a:lstStyle/>
                    <a:p>
                      <a:r>
                        <a:rPr sz="1300"/>
                        <a:t>M24 SS316, &gt;= 72 kN</a:t>
                      </a:r>
                    </a:p>
                  </a:txBody>
                  <a:tcPr/>
                </a:tc>
                <a:tc>
                  <a:txBody>
                    <a:bodyPr/>
                    <a:lstStyle/>
                    <a:p>
                      <a:r>
                        <a:rPr sz="1300"/>
                        <a:t>stay pull 36 kN</a:t>
                      </a:r>
                    </a:p>
                  </a:txBody>
                  <a:tcPr/>
                </a:tc>
              </a:tr>
              <a:tr h="411480">
                <a:tc>
                  <a:txBody>
                    <a:bodyPr/>
                    <a:lstStyle/>
                    <a:p>
                      <a:r>
                        <a:rPr sz="1300"/>
                        <a:t>Ground anchor</a:t>
                      </a:r>
                    </a:p>
                  </a:txBody>
                  <a:tcPr/>
                </a:tc>
                <a:tc>
                  <a:txBody>
                    <a:bodyPr/>
                    <a:lstStyle/>
                    <a:p>
                      <a:r>
                        <a:rPr sz="1300"/>
                        <a:t>block 1.0 x 0.8 x 0.35 m (6.6 kN)</a:t>
                      </a:r>
                    </a:p>
                  </a:txBody>
                  <a:tcPr/>
                </a:tc>
                <a:tc>
                  <a:txBody>
                    <a:bodyPr/>
                    <a:lstStyle/>
                    <a:p>
                      <a:r>
                        <a:rPr sz="1300"/>
                        <a:t>screw/rock anchor or 1.6 m3 concrete</a:t>
                      </a:r>
                    </a:p>
                  </a:txBody>
                  <a:tcPr/>
                </a:tc>
                <a:tc>
                  <a:txBody>
                    <a:bodyPr/>
                    <a:lstStyle/>
                    <a:p>
                      <a:r>
                        <a:rPr sz="1300"/>
                        <a:t>each stay lifts about 26 kN</a:t>
                      </a:r>
                    </a:p>
                  </a:txBody>
                  <a:tcPr/>
                </a:tc>
              </a:tr>
              <a:tr h="411480">
                <a:tc>
                  <a:txBody>
                    <a:bodyPr/>
                    <a:lstStyle/>
                    <a:p>
                      <a:r>
                        <a:rPr sz="1300"/>
                        <a:t>Lever arm</a:t>
                      </a:r>
                    </a:p>
                  </a:txBody>
                  <a:tcPr/>
                </a:tc>
                <a:tc>
                  <a:txBody>
                    <a:bodyPr/>
                    <a:lstStyle/>
                    <a:p>
                      <a:r>
                        <a:rPr sz="1300"/>
                        <a:t>plain arm: no lever at 90 deg</a:t>
                      </a:r>
                    </a:p>
                  </a:txBody>
                  <a:tcPr/>
                </a:tc>
                <a:tc>
                  <a:txBody>
                    <a:bodyPr/>
                    <a:lstStyle/>
                    <a:p>
                      <a:r>
                        <a:rPr sz="1300"/>
                        <a:t>45 deg offset arm</a:t>
                      </a:r>
                    </a:p>
                  </a:txBody>
                  <a:tcPr/>
                </a:tc>
                <a:tc>
                  <a:txBody>
                    <a:bodyPr/>
                    <a:lstStyle/>
                    <a:p>
                      <a:r>
                        <a:rPr sz="1300"/>
                        <a:t>needed for the 90 deg wind stow</a:t>
                      </a:r>
                    </a:p>
                  </a:txBody>
                  <a:tcPr/>
                </a:tc>
              </a:tr>
              <a:tr h="411480">
                <a:tc>
                  <a:txBody>
                    <a:bodyPr/>
                    <a:lstStyle/>
                    <a:p>
                      <a:r>
                        <a:rPr sz="1300"/>
                        <a:t>Wind sensor</a:t>
                      </a:r>
                    </a:p>
                  </a:txBody>
                  <a:tcPr/>
                </a:tc>
                <a:tc>
                  <a:txBody>
                    <a:bodyPr/>
                    <a:lstStyle/>
                    <a:p>
                      <a:r>
                        <a:rPr sz="1300"/>
                        <a:t>none</a:t>
                      </a:r>
                    </a:p>
                  </a:txBody>
                  <a:tcPr/>
                </a:tc>
                <a:tc>
                  <a:txBody>
                    <a:bodyPr/>
                    <a:lstStyle/>
                    <a:p>
                      <a:r>
                        <a:rPr sz="1300"/>
                        <a:t>cup anemometer on a mast</a:t>
                      </a:r>
                    </a:p>
                  </a:txBody>
                  <a:tcPr/>
                </a:tc>
                <a:tc>
                  <a:txBody>
                    <a:bodyPr/>
                    <a:lstStyle/>
                    <a:p>
                      <a:r>
                        <a:rPr sz="1300"/>
                        <a:t>storm stow at 15 m/s</a:t>
                      </a:r>
                    </a:p>
                  </a:txBody>
                  <a:tcPr/>
                </a:tc>
              </a:tr>
              <a:tr h="411480">
                <a:tc>
                  <a:txBody>
                    <a:bodyPr/>
                    <a:lstStyle/>
                    <a:p>
                      <a:r>
                        <a:rPr sz="1300"/>
                        <a:t>Carrier rope 16 mm</a:t>
                      </a:r>
                    </a:p>
                  </a:txBody>
                  <a:tcPr/>
                </a:tc>
                <a:tc>
                  <a:txBody>
                    <a:bodyPr/>
                    <a:lstStyle/>
                    <a:p>
                      <a:r>
                        <a:rPr sz="1300"/>
                        <a:t>ok (0.37)</a:t>
                      </a:r>
                    </a:p>
                  </a:txBody>
                  <a:tcPr/>
                </a:tc>
                <a:tc>
                  <a:txBody>
                    <a:bodyPr/>
                    <a:lstStyle/>
                    <a:p>
                      <a:r>
                        <a:rPr sz="1300"/>
                        <a:t>unchanged</a:t>
                      </a:r>
                    </a:p>
                  </a:txBody>
                  <a:tcPr/>
                </a:tc>
                <a:tc>
                  <a:txBody>
                    <a:bodyPr/>
                    <a:lstStyle/>
                    <a:p>
                      <a:r>
                        <a:rPr sz="1300"/>
                        <a:t>uses 37 % of allowed load</a:t>
                      </a:r>
                    </a:p>
                  </a:txBody>
                  <a:tcPr/>
                </a:tc>
              </a:tr>
              <a:tr h="411480">
                <a:tc>
                  <a:txBody>
                    <a:bodyPr/>
                    <a:lstStyle/>
                    <a:p>
                      <a:r>
                        <a:rPr sz="1300"/>
                        <a:t>Pivot tube 114.3 x 4</a:t>
                      </a:r>
                    </a:p>
                  </a:txBody>
                  <a:tcPr/>
                </a:tc>
                <a:tc>
                  <a:txBody>
                    <a:bodyPr/>
                    <a:lstStyle/>
                    <a:p>
                      <a:r>
                        <a:rPr sz="1300"/>
                        <a:t>ok (0.76)</a:t>
                      </a:r>
                    </a:p>
                  </a:txBody>
                  <a:tcPr/>
                </a:tc>
                <a:tc>
                  <a:txBody>
                    <a:bodyPr/>
                    <a:lstStyle/>
                    <a:p>
                      <a:r>
                        <a:rPr sz="1300"/>
                        <a:t>unchanged</a:t>
                      </a:r>
                    </a:p>
                  </a:txBody>
                  <a:tcPr/>
                </a:tc>
                <a:tc>
                  <a:txBody>
                    <a:bodyPr/>
                    <a:lstStyle/>
                    <a:p>
                      <a:r>
                        <a:rPr sz="1300"/>
                        <a:t>tube length 4.7 m between supports</a:t>
                      </a:r>
                    </a:p>
                  </a:txBody>
                  <a:tcPr/>
                </a:tc>
              </a:tr>
              <a:tr h="411480">
                <a:tc>
                  <a:txBody>
                    <a:bodyPr/>
                    <a:lstStyle/>
                    <a:p>
                      <a:r>
                        <a:rPr sz="1300"/>
                        <a:t>Column RHS 200 x 200 x 6</a:t>
                      </a:r>
                    </a:p>
                  </a:txBody>
                  <a:tcPr/>
                </a:tc>
                <a:tc>
                  <a:txBody>
                    <a:bodyPr/>
                    <a:lstStyle/>
                    <a:p>
                      <a:r>
                        <a:rPr sz="1300"/>
                        <a:t>ok (0.05)</a:t>
                      </a:r>
                    </a:p>
                  </a:txBody>
                  <a:tcPr/>
                </a:tc>
                <a:tc>
                  <a:txBody>
                    <a:bodyPr/>
                    <a:lstStyle/>
                    <a:p>
                      <a:r>
                        <a:rPr sz="1300"/>
                        <a:t>unchanged</a:t>
                      </a:r>
                    </a:p>
                  </a:txBody>
                  <a:tcPr/>
                </a:tc>
                <a:tc>
                  <a:txBody>
                    <a:bodyPr/>
                    <a:lstStyle/>
                    <a:p>
                      <a:r>
                        <a:rPr sz="1300"/>
                        <a:t>very strong</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685800"/>
          </a:xfrm>
          <a:prstGeom prst="rect">
            <a:avLst/>
          </a:prstGeom>
          <a:noFill/>
        </p:spPr>
        <p:txBody>
          <a:bodyPr wrap="square">
            <a:spAutoFit/>
          </a:bodyPr>
          <a:lstStyle/>
          <a:p>
            <a:pPr>
              <a:spcAft>
                <a:spcPts val="600"/>
              </a:spcAft>
            </a:pPr>
            <a:r>
              <a:rPr sz="2800" b="1">
                <a:solidFill>
                  <a:srgbClr val="FFFFFF"/>
                </a:solidFill>
                <a:latin typeface="Calibri"/>
              </a:rPr>
              <a:t>8-panel set (4.4 kWp): weights and cost</a:t>
            </a:r>
          </a:p>
        </p:txBody>
      </p:sp>
      <p:sp>
        <p:nvSpPr>
          <p:cNvPr id="4" name="TextBox 3"/>
          <p:cNvSpPr txBox="1"/>
          <p:nvPr/>
        </p:nvSpPr>
        <p:spPr>
          <a:xfrm>
            <a:off x="411480" y="6473952"/>
            <a:ext cx="11338560" cy="274320"/>
          </a:xfrm>
          <a:prstGeom prst="rect">
            <a:avLst/>
          </a:prstGeom>
          <a:noFill/>
        </p:spPr>
        <p:txBody>
          <a:bodyPr wrap="square">
            <a:spAutoFit/>
          </a:bodyPr>
          <a:lstStyle/>
          <a:p>
            <a:pPr>
              <a:spcAft>
                <a:spcPts val="600"/>
              </a:spcAft>
            </a:pPr>
            <a:r>
              <a:rPr sz="1000" b="0">
                <a:solidFill>
                  <a:srgbClr val="666B66"/>
                </a:solidFill>
                <a:latin typeface="Calibri"/>
              </a:rPr>
              <a:t>R3 Design  |  Agrovoltaic Canopy for Protection and Sustainable Farming, TCE Madurai  | 14</a:t>
            </a:r>
          </a:p>
        </p:txBody>
      </p:sp>
      <p:sp>
        <p:nvSpPr>
          <p:cNvPr id="5" name="TextBox 4"/>
          <p:cNvSpPr txBox="1"/>
          <p:nvPr/>
        </p:nvSpPr>
        <p:spPr>
          <a:xfrm>
            <a:off x="457200" y="1051560"/>
            <a:ext cx="11247120" cy="5303520"/>
          </a:xfrm>
          <a:prstGeom prst="rect">
            <a:avLst/>
          </a:prstGeom>
          <a:noFill/>
        </p:spPr>
        <p:txBody>
          <a:bodyPr wrap="square">
            <a:spAutoFit/>
          </a:bodyPr>
          <a:lstStyle/>
          <a:p>
            <a:pPr>
              <a:spcAft>
                <a:spcPts val="600"/>
              </a:spcAft>
            </a:pPr>
            <a:r>
              <a:rPr sz="1800" b="0">
                <a:solidFill>
                  <a:srgbClr val="222622"/>
                </a:solidFill>
                <a:latin typeface="Calibri"/>
              </a:rPr>
              <a:t>• 8 x 550 Wp monocrystalline modules (27.5 kg each, 220 kg) in 2 rows of 4 on a 5 m x 5 m bay; 4 columns, 2 tubes, 2 carrier ropes, 4 stays, one winch.</a:t>
            </a:r>
          </a:p>
          <a:p>
            <a:pPr>
              <a:spcAft>
                <a:spcPts val="600"/>
              </a:spcAft>
            </a:pPr>
            <a:r>
              <a:rPr sz="1800" b="0">
                <a:solidFill>
                  <a:srgbClr val="222622"/>
                </a:solidFill>
                <a:latin typeface="Calibri"/>
              </a:rPr>
              <a:t>• SS316 rope weights from supplier listings: 16 mm = 0.975 kg/m, 12 mm = 0.549, 10 mm = 0.381, 8 mm = 0.244; rule 0.00381 x d x d kg/m.</a:t>
            </a:r>
          </a:p>
          <a:p>
            <a:pPr>
              <a:spcAft>
                <a:spcPts val="600"/>
              </a:spcAft>
            </a:pPr>
            <a:r>
              <a:rPr sz="1800" b="0">
                <a:solidFill>
                  <a:srgbClr val="222622"/>
                </a:solidFill>
                <a:latin typeface="Calibri"/>
              </a:rPr>
              <a:t>• Above-ground weight about 1.6 t; concrete about 20 t with buried anchors (less with screw anchors).</a:t>
            </a:r>
          </a:p>
          <a:p>
            <a:pPr>
              <a:spcAft>
                <a:spcPts val="600"/>
              </a:spcAft>
            </a:pPr>
            <a:r>
              <a:rPr sz="1800" b="0">
                <a:solidFill>
                  <a:srgbClr val="222622"/>
                </a:solidFill>
                <a:latin typeface="Calibri"/>
              </a:rPr>
              <a:t>• Indicative cost INR 6 to 10 lakh (mid about 7 lakh, about INR 1.6 lakh per kWp). Price rates are assumptions; replace them with quotes.</a:t>
            </a:r>
          </a:p>
          <a:p>
            <a:pPr>
              <a:spcAft>
                <a:spcPts val="600"/>
              </a:spcAft>
            </a:pPr>
            <a:r>
              <a:rPr sz="1800" b="0">
                <a:solidFill>
                  <a:srgbClr val="222622"/>
                </a:solidFill>
                <a:latin typeface="Calibri"/>
              </a:rPr>
              <a:t>• Files: documents/SRMC_8Panel_Guide_and_Cost.docx, SRMC_Component_Strength_Table.docx, 8panel_BOM.csv.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