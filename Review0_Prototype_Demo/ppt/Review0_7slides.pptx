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1"/>
              <a:t>Average electricity lost if the sunlight reading is wrong (%)</a:t>
            </a:r>
          </a:p>
        </c:rich>
      </c:tx>
      <c:layout/>
      <c:overlay val="0"/>
    </c:title>
    <c:autoTitleDeleted val="0"/>
    <c:plotArea>
      <c:barChart>
        <c:barDir val="col"/>
        <c:grouping val="clustered"/>
        <c:ser>
          <c:idx val="0"/>
          <c:order val="0"/>
          <c:tx>
            <c:strRef>
              <c:f>Sheet1!$B$1</c:f>
              <c:strCache>
                <c:ptCount val="1"/>
                <c:pt idx="0">
                  <c:v>Clear day</c:v>
                </c:pt>
              </c:strCache>
            </c:strRef>
          </c:tx>
          <c:spPr>
            <a:solidFill>
              <a:srgbClr val="E8A317"/>
            </a:solidFill>
          </c:spPr>
          <c:cat>
            <c:strRef>
              <c:f>Sheet1!$A$2:$A$4</c:f>
              <c:strCache>
                <c:ptCount val="3"/>
                <c:pt idx="0">
                  <c:v>5 % wrong</c:v>
                </c:pt>
                <c:pt idx="1">
                  <c:v>10 % wrong</c:v>
                </c:pt>
                <c:pt idx="2">
                  <c:v>20 % wrong</c:v>
                </c:pt>
              </c:strCache>
            </c:strRef>
          </c:cat>
          <c:val>
            <c:numRef>
              <c:f>Sheet1!$B$2:$B$4</c:f>
              <c:numCache>
                <c:formatCode>General</c:formatCode>
                <c:ptCount val="3"/>
                <c:pt idx="0">
                  <c:v>2.5</c:v>
                </c:pt>
                <c:pt idx="1">
                  <c:v>5.1</c:v>
                </c:pt>
                <c:pt idx="2">
                  <c:v>9.7</c:v>
                </c:pt>
              </c:numCache>
            </c:numRef>
          </c:val>
        </c:ser>
        <c:ser>
          <c:idx val="1"/>
          <c:order val="1"/>
          <c:tx>
            <c:strRef>
              <c:f>Sheet1!$C$1</c:f>
              <c:strCache>
                <c:ptCount val="1"/>
                <c:pt idx="0">
                  <c:v>Partly cloudy day</c:v>
                </c:pt>
              </c:strCache>
            </c:strRef>
          </c:tx>
          <c:spPr>
            <a:solidFill>
              <a:srgbClr val="2D7FC1"/>
            </a:solidFill>
          </c:spPr>
          <c:cat>
            <c:strRef>
              <c:f>Sheet1!$A$2:$A$4</c:f>
              <c:strCache>
                <c:ptCount val="3"/>
                <c:pt idx="0">
                  <c:v>5 % wrong</c:v>
                </c:pt>
                <c:pt idx="1">
                  <c:v>10 % wrong</c:v>
                </c:pt>
                <c:pt idx="2">
                  <c:v>20 % wrong</c:v>
                </c:pt>
              </c:strCache>
            </c:strRef>
          </c:cat>
          <c:val>
            <c:numRef>
              <c:f>Sheet1!$C$2:$C$4</c:f>
              <c:numCache>
                <c:formatCode>General</c:formatCode>
                <c:ptCount val="3"/>
                <c:pt idx="0">
                  <c:v>1.2</c:v>
                </c:pt>
                <c:pt idx="1">
                  <c:v>2.0</c:v>
                </c:pt>
                <c:pt idx="2">
                  <c:v>3.2</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14.0"/>
        </c:scaling>
        <c:delete val="0"/>
        <c:axPos val="l"/>
        <c:majorGridlines>
          <c:spPr>
            <a:ln>
              <a:solidFill>
                <a:srgbClr val="E6EEE0"/>
              </a:solidFill>
            </a:ln>
          </c:spPr>
        </c:majorGridlines>
        <c:majorTickMark val="out"/>
        <c:minorTickMark val="none"/>
        <c:tickLblPos val="nextTo"/>
        <c:txPr>
          <a:bodyPr/>
          <a:lstStyle/>
          <a:p>
            <a:pPr>
              <a:defRPr sz="1100"/>
            </a:pPr>
          </a:p>
        </c:txPr>
        <c:crossAx val="-2068027336"/>
        <c:crosses val="autoZero"/>
      </c:valAx>
    </c:plotArea>
    <c:legend>
      <c:legendPos val="b"/>
      <c:overlay val="0"/>
      <c:txPr>
        <a:bodyPr/>
        <a:lstStyle/>
        <a:p>
          <a:pPr>
            <a:defRPr sz="11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Electricity (% of best)</c:v>
                </c:pt>
              </c:strCache>
            </c:strRef>
          </c:tx>
          <c:spPr>
            <a:solidFill>
              <a:srgbClr val="E8A317"/>
            </a:solidFill>
          </c:spPr>
          <c:cat>
            <c:strRef>
              <c:f>Sheet1!$A$2:$A$5</c:f>
              <c:strCache>
                <c:ptCount val="4"/>
                <c:pt idx="0">
                  <c:v>Fixed 15 deg</c:v>
                </c:pt>
                <c:pt idx="1">
                  <c:v>Fixed 45 deg</c:v>
                </c:pt>
                <c:pt idx="2">
                  <c:v>Sun tracking</c:v>
                </c:pt>
                <c:pt idx="3">
                  <c:v>SRMC controller</c:v>
                </c:pt>
              </c:strCache>
            </c:strRef>
          </c:cat>
          <c:val>
            <c:numRef>
              <c:f>Sheet1!$B$2:$B$5</c:f>
              <c:numCache>
                <c:formatCode>General</c:formatCode>
                <c:ptCount val="4"/>
                <c:pt idx="0">
                  <c:v>94.8</c:v>
                </c:pt>
                <c:pt idx="1">
                  <c:v>73.6</c:v>
                </c:pt>
                <c:pt idx="2">
                  <c:v>100.0</c:v>
                </c:pt>
                <c:pt idx="3">
                  <c:v>75.5</c:v>
                </c:pt>
              </c:numCache>
            </c:numRef>
          </c:val>
        </c:ser>
        <c:ser>
          <c:idx val="1"/>
          <c:order val="1"/>
          <c:tx>
            <c:strRef>
              <c:f>Sheet1!$C$1</c:f>
              <c:strCache>
                <c:ptCount val="1"/>
                <c:pt idx="0">
                  <c:v>Crop light (% of best)</c:v>
                </c:pt>
              </c:strCache>
            </c:strRef>
          </c:tx>
          <c:spPr>
            <a:solidFill>
              <a:srgbClr val="4E9A2E"/>
            </a:solidFill>
          </c:spPr>
          <c:cat>
            <c:strRef>
              <c:f>Sheet1!$A$2:$A$5</c:f>
              <c:strCache>
                <c:ptCount val="4"/>
                <c:pt idx="0">
                  <c:v>Fixed 15 deg</c:v>
                </c:pt>
                <c:pt idx="1">
                  <c:v>Fixed 45 deg</c:v>
                </c:pt>
                <c:pt idx="2">
                  <c:v>Sun tracking</c:v>
                </c:pt>
                <c:pt idx="3">
                  <c:v>SRMC controller</c:v>
                </c:pt>
              </c:strCache>
            </c:strRef>
          </c:cat>
          <c:val>
            <c:numRef>
              <c:f>Sheet1!$C$2:$C$5</c:f>
              <c:numCache>
                <c:formatCode>General</c:formatCode>
                <c:ptCount val="4"/>
                <c:pt idx="0">
                  <c:v>36.0</c:v>
                </c:pt>
                <c:pt idx="1">
                  <c:v>81.0</c:v>
                </c:pt>
                <c:pt idx="2">
                  <c:v>26.7</c:v>
                </c:pt>
                <c:pt idx="3">
                  <c:v>88.9</c:v>
                </c:pt>
              </c:numCache>
            </c:numRef>
          </c:val>
        </c:ser>
        <c:dLbls>
          <c:numFmt formatCode="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20.0"/>
        </c:scaling>
        <c:delete val="0"/>
        <c:axPos val="l"/>
        <c:majorGridlines>
          <c:spPr>
            <a:ln>
              <a:solidFill>
                <a:srgbClr val="E6EEE0"/>
              </a:solidFill>
            </a:ln>
          </c:spPr>
        </c:majorGridlines>
        <c:majorTickMark val="out"/>
        <c:minorTickMark val="none"/>
        <c:tickLblPos val="nextTo"/>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in one sentence: the panels should make electricity AND let the crops below get enough light, so the tilt angle is decided every few seconds from sensor data. Be clear about REAL and SIM: DHT11, soil moisture and rain are real sensors on the prototype; sunlight (pyranometer) and plant light (PAR) are simulated and can be moved with scroll bars.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five steps left to right. Then the table: green REAL rows are measured, orange SIM rows are simulated. The sun model uses the standard solar-position equations (Duffie and Beckman) with the monthly clearness index of TCE from NASA POWER; diffuse split by the Erbs correlation. The PAR conversion is a standard textbook value. The last line is for the live numbers read from the board on the 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to "can we trust the simulated sensors?": they are not measurements, they are controllable inputs built on standard equations. What we CAN prove: (1) the equations match the PVGIS service within +5.0 % per year; (2) we measured what a wrong reading costs: on a clear day a 5 % error loses 2.5 % of the electricity on average, a 10 % error 5.1 % (worst single half-hour 35 %); (3) the dashboard flags inconsistent sunlight/PAR readings; (4) real sensors plug in without changing the code. Numbers: results/sensor_trust_study.csv.</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 1 is the heart of the system. The controller evaluates electricity (amber) and crop light (green) for each angle, joins them into one score (blue) and takes the highest point. The black circle is the best angle found by trying every 0.5 degrees; the red star is what the controller chose. The shadow and electricity values come from the physics functions that were checked against PVGIS and Blender.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chart as: there is a trade-off. Pure tracking maximises electricity but starves the crops (27 % of the light target). The controller gives up about a quarter of the maximum electricity to give the crops about 89 % of their light, and it beats a fixed 45 degree panel on both. The 50/50 weight is adjustable in the dashboard (energy share scroll bar). The equal-weight average favours the controller by construction, so the weight must be chosen by the farmer or operator.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MPPT is the electronics that makes sure the panel works at its maximum power point. Our main energy numbers already assume the panel works there; this slide shows how the tracker achieves it and how much it is worth compared with a fixed voltage. Be honest: this is a software model of a typical module; the hardware converter is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proof slide. Letters A to F match the labelled badges on the Explain window of the dashboard, so you can point to them live. Row D has blanks to fill with the bench numbers measured on the day. Close with the honest limits.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342B"/>
        </a:solidFill>
        <a:effectLst/>
      </p:bgPr>
    </p:bg>
    <p:spTree>
      <p:nvGrpSpPr>
        <p:cNvPr id="1" name=""/>
        <p:cNvGrpSpPr/>
        <p:nvPr/>
      </p:nvGrpSpPr>
      <p:grpSpPr/>
      <p:sp>
        <p:nvSpPr>
          <p:cNvPr id="2" name="TextBox 1"/>
          <p:cNvSpPr txBox="1"/>
          <p:nvPr/>
        </p:nvSpPr>
        <p:spPr>
          <a:xfrm>
            <a:off x="548640" y="502920"/>
            <a:ext cx="6400800" cy="365760"/>
          </a:xfrm>
          <a:prstGeom prst="rect">
            <a:avLst/>
          </a:prstGeom>
          <a:noFill/>
        </p:spPr>
        <p:txBody>
          <a:bodyPr wrap="square" anchor="t" lIns="45720" rIns="45720" tIns="27432" bIns="27432">
            <a:spAutoFit/>
          </a:bodyPr>
          <a:lstStyle/>
          <a:p>
            <a:pPr algn="l">
              <a:spcAft>
                <a:spcPts val="400"/>
              </a:spcAft>
            </a:pPr>
            <a:r>
              <a:rPr sz="1500" b="1">
                <a:solidFill>
                  <a:srgbClr val="E8A317"/>
                </a:solidFill>
                <a:latin typeface="Calibri"/>
              </a:rPr>
              <a:t>REVIEW 0  |  PROTOTYPE + MATLAB DEMO</a:t>
            </a:r>
          </a:p>
        </p:txBody>
      </p:sp>
      <p:sp>
        <p:nvSpPr>
          <p:cNvPr id="3" name="TextBox 2"/>
          <p:cNvSpPr txBox="1"/>
          <p:nvPr/>
        </p:nvSpPr>
        <p:spPr>
          <a:xfrm>
            <a:off x="548640" y="960120"/>
            <a:ext cx="6035040" cy="2103120"/>
          </a:xfrm>
          <a:prstGeom prst="rect">
            <a:avLst/>
          </a:prstGeom>
          <a:noFill/>
        </p:spPr>
        <p:txBody>
          <a:bodyPr wrap="square" anchor="t" lIns="45720" rIns="45720" tIns="27432" bIns="27432">
            <a:spAutoFit/>
          </a:bodyPr>
          <a:lstStyle/>
          <a:p>
            <a:pPr algn="l">
              <a:spcAft>
                <a:spcPts val="400"/>
              </a:spcAft>
            </a:pPr>
            <a:r>
              <a:rPr sz="3400" b="1">
                <a:solidFill>
                  <a:srgbClr val="FFFFFF"/>
                </a:solidFill>
                <a:latin typeface="Cambria"/>
              </a:rPr>
              <a:t>Smart tilt for solar panels over crops: more electricity, and the plants still get their light</a:t>
            </a:r>
          </a:p>
        </p:txBody>
      </p:sp>
      <p:sp>
        <p:nvSpPr>
          <p:cNvPr id="4" name="TextBox 3"/>
          <p:cNvSpPr txBox="1"/>
          <p:nvPr/>
        </p:nvSpPr>
        <p:spPr>
          <a:xfrm>
            <a:off x="548640" y="3246120"/>
            <a:ext cx="5852160" cy="914400"/>
          </a:xfrm>
          <a:prstGeom prst="rect">
            <a:avLst/>
          </a:prstGeom>
          <a:noFill/>
        </p:spPr>
        <p:txBody>
          <a:bodyPr wrap="square" anchor="t" lIns="45720" rIns="45720" tIns="27432" bIns="27432">
            <a:spAutoFit/>
          </a:bodyPr>
          <a:lstStyle/>
          <a:p>
            <a:pPr algn="l">
              <a:spcAft>
                <a:spcPts val="400"/>
              </a:spcAft>
            </a:pPr>
            <a:r>
              <a:rPr sz="1600" b="0">
                <a:solidFill>
                  <a:srgbClr val="E6EEE0"/>
                </a:solidFill>
                <a:latin typeface="Calibri"/>
              </a:rPr>
              <a:t>Live sensors on an ESP board + a MATLAB dashboard that decides the panel angle, the irrigation and the MPPT.</a:t>
            </a:r>
          </a:p>
          <a:p>
            <a:pPr algn="l">
              <a:spcAft>
                <a:spcPts val="400"/>
              </a:spcAft>
            </a:pPr>
            <a:r>
              <a:rPr sz="1600" b="0">
                <a:solidFill>
                  <a:srgbClr val="E6EEE0"/>
                </a:solidFill>
                <a:latin typeface="Calibri"/>
              </a:rPr>
              <a:t>Site: TCE ground, Madurai (9.88 N).</a:t>
            </a:r>
          </a:p>
        </p:txBody>
      </p:sp>
      <p:sp>
        <p:nvSpPr>
          <p:cNvPr id="5" name="Rounded Rectangle 4"/>
          <p:cNvSpPr/>
          <p:nvPr/>
        </p:nvSpPr>
        <p:spPr>
          <a:xfrm>
            <a:off x="548640" y="4343400"/>
            <a:ext cx="1920240" cy="292608"/>
          </a:xfrm>
          <a:prstGeom prst="roundRect">
            <a:avLst>
              <a:gd name="adj" fmla="val 50000"/>
            </a:avLst>
          </a:prstGeom>
          <a:solidFill>
            <a:srgbClr val="4E9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a:lstStyle/>
          <a:p>
            <a:pPr algn="ctr"/>
            <a:r>
              <a:rPr sz="1200" b="1">
                <a:solidFill>
                  <a:srgbClr val="FFFFFF"/>
                </a:solidFill>
                <a:latin typeface="Calibri"/>
              </a:rPr>
              <a:t>REAL: DHT11, soil, rain</a:t>
            </a:r>
          </a:p>
        </p:txBody>
      </p:sp>
      <p:sp>
        <p:nvSpPr>
          <p:cNvPr id="6" name="Rounded Rectangle 5"/>
          <p:cNvSpPr/>
          <p:nvPr/>
        </p:nvSpPr>
        <p:spPr>
          <a:xfrm>
            <a:off x="2560320" y="4343400"/>
            <a:ext cx="2377440" cy="292608"/>
          </a:xfrm>
          <a:prstGeom prst="roundRect">
            <a:avLst>
              <a:gd name="adj" fmla="val 50000"/>
            </a:avLst>
          </a:prstGeom>
          <a:solidFill>
            <a:srgbClr val="C07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a:lstStyle/>
          <a:p>
            <a:pPr algn="ctr"/>
            <a:r>
              <a:rPr sz="1200" b="1">
                <a:solidFill>
                  <a:srgbClr val="FFFFFF"/>
                </a:solidFill>
                <a:latin typeface="Calibri"/>
              </a:rPr>
              <a:t>SIM: sunlight + plant light</a:t>
            </a:r>
          </a:p>
        </p:txBody>
      </p:sp>
      <p:sp>
        <p:nvSpPr>
          <p:cNvPr id="7" name="Rounded Rectangle 6"/>
          <p:cNvSpPr/>
          <p:nvPr/>
        </p:nvSpPr>
        <p:spPr>
          <a:xfrm>
            <a:off x="5029200" y="4343400"/>
            <a:ext cx="1554480" cy="292608"/>
          </a:xfrm>
          <a:prstGeom prst="roundRect">
            <a:avLst>
              <a:gd name="adj" fmla="val 50000"/>
            </a:avLst>
          </a:prstGeom>
          <a:solidFill>
            <a:srgbClr val="2D7FC1"/>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a:lstStyle/>
          <a:p>
            <a:pPr algn="ctr"/>
            <a:r>
              <a:rPr sz="1200" b="1">
                <a:solidFill>
                  <a:srgbClr val="FFFFFF"/>
                </a:solidFill>
                <a:latin typeface="Calibri"/>
              </a:rPr>
              <a:t>MPPT included</a:t>
            </a:r>
          </a:p>
        </p:txBody>
      </p:sp>
      <p:sp>
        <p:nvSpPr>
          <p:cNvPr id="8" name="TextBox 7"/>
          <p:cNvSpPr txBox="1"/>
          <p:nvPr/>
        </p:nvSpPr>
        <p:spPr>
          <a:xfrm>
            <a:off x="548640" y="4892040"/>
            <a:ext cx="6035040" cy="822960"/>
          </a:xfrm>
          <a:prstGeom prst="rect">
            <a:avLst/>
          </a:prstGeom>
          <a:noFill/>
        </p:spPr>
        <p:txBody>
          <a:bodyPr wrap="square" anchor="t" lIns="45720" rIns="45720" tIns="27432" bIns="27432">
            <a:spAutoFit/>
          </a:bodyPr>
          <a:lstStyle/>
          <a:p>
            <a:pPr algn="l">
              <a:spcAft>
                <a:spcPts val="400"/>
              </a:spcAft>
            </a:pPr>
            <a:r>
              <a:rPr sz="1300" b="0">
                <a:solidFill>
                  <a:srgbClr val="E6EEE0"/>
                </a:solidFill>
                <a:latin typeface="Calibri"/>
              </a:rPr>
              <a:t>REAL = measured by the sensors on the prototype.   SIM = simulated, set with scroll bars in the dashboard (no pyranometer / PAR sensor yet).</a:t>
            </a:r>
          </a:p>
        </p:txBody>
      </p:sp>
      <p:sp>
        <p:nvSpPr>
          <p:cNvPr id="9" name="TextBox 8"/>
          <p:cNvSpPr txBox="1"/>
          <p:nvPr/>
        </p:nvSpPr>
        <p:spPr>
          <a:xfrm>
            <a:off x="548640" y="5943600"/>
            <a:ext cx="6035040" cy="731520"/>
          </a:xfrm>
          <a:prstGeom prst="rect">
            <a:avLst/>
          </a:prstGeom>
          <a:noFill/>
        </p:spPr>
        <p:txBody>
          <a:bodyPr wrap="square" anchor="t" lIns="45720" rIns="45720" tIns="27432" bIns="27432">
            <a:spAutoFit/>
          </a:bodyPr>
          <a:lstStyle/>
          <a:p>
            <a:pPr algn="l">
              <a:spcAft>
                <a:spcPts val="400"/>
              </a:spcAft>
            </a:pPr>
            <a:r>
              <a:rPr sz="1400" b="0">
                <a:solidFill>
                  <a:srgbClr val="E6EEE0"/>
                </a:solidFill>
                <a:latin typeface="Calibri"/>
              </a:rPr>
              <a:t>Student: ______________________</a:t>
            </a:r>
          </a:p>
          <a:p>
            <a:pPr algn="l">
              <a:spcAft>
                <a:spcPts val="400"/>
              </a:spcAft>
            </a:pPr>
            <a:r>
              <a:rPr sz="1400" b="0">
                <a:solidFill>
                  <a:srgbClr val="E6EEE0"/>
                </a:solidFill>
                <a:latin typeface="Calibri"/>
              </a:rPr>
              <a:t>Guide: ______________________     Date: ___________</a:t>
            </a:r>
          </a:p>
        </p:txBody>
      </p:sp>
      <p:pic>
        <p:nvPicPr>
          <p:cNvPr id="10" name="Picture 9" descr="dashboard_v2_clear_noon.png"/>
          <p:cNvPicPr>
            <a:picLocks noChangeAspect="1"/>
          </p:cNvPicPr>
          <p:nvPr/>
        </p:nvPicPr>
        <p:blipFill>
          <a:blip r:embed="rId2"/>
          <a:stretch>
            <a:fillRect/>
          </a:stretch>
        </p:blipFill>
        <p:spPr>
          <a:xfrm>
            <a:off x="6720840" y="1958517"/>
            <a:ext cx="5212079" cy="2849524"/>
          </a:xfrm>
          <a:prstGeom prst="rect">
            <a:avLst/>
          </a:prstGeom>
        </p:spPr>
      </p:pic>
      <p:sp>
        <p:nvSpPr>
          <p:cNvPr id="11" name="TextBox 10"/>
          <p:cNvSpPr txBox="1"/>
          <p:nvPr/>
        </p:nvSpPr>
        <p:spPr>
          <a:xfrm>
            <a:off x="6720840" y="5760720"/>
            <a:ext cx="5212080" cy="457200"/>
          </a:xfrm>
          <a:prstGeom prst="rect">
            <a:avLst/>
          </a:prstGeom>
          <a:noFill/>
        </p:spPr>
        <p:txBody>
          <a:bodyPr wrap="square" anchor="t" lIns="45720" rIns="45720" tIns="27432" bIns="27432">
            <a:spAutoFit/>
          </a:bodyPr>
          <a:lstStyle/>
          <a:p>
            <a:pPr algn="ctr">
              <a:spcAft>
                <a:spcPts val="400"/>
              </a:spcAft>
            </a:pPr>
            <a:r>
              <a:rPr sz="1200" b="0">
                <a:solidFill>
                  <a:srgbClr val="E6EEE0"/>
                </a:solidFill>
                <a:latin typeface="Calibri"/>
              </a:rPr>
              <a:t>The MATLAB dashboard (clear noon): canopy drawing, live plots, decision in words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274320"/>
            <a:ext cx="11064240" cy="685800"/>
          </a:xfrm>
          <a:prstGeom prst="rect">
            <a:avLst/>
          </a:prstGeom>
          <a:noFill/>
        </p:spPr>
        <p:txBody>
          <a:bodyPr wrap="square" anchor="ctr" lIns="45720" rIns="45720" tIns="27432" bIns="27432">
            <a:spAutoFit/>
          </a:bodyPr>
          <a:lstStyle/>
          <a:p>
            <a:pPr algn="l">
              <a:spcAft>
                <a:spcPts val="400"/>
              </a:spcAft>
            </a:pPr>
            <a:r>
              <a:rPr sz="3000" b="1">
                <a:solidFill>
                  <a:srgbClr val="14342B"/>
                </a:solidFill>
                <a:latin typeface="Cambria"/>
              </a:rPr>
              <a:t>How the system works, step by step</a:t>
            </a:r>
          </a:p>
        </p:txBody>
      </p:sp>
      <p:sp>
        <p:nvSpPr>
          <p:cNvPr id="3" name="TextBox 2"/>
          <p:cNvSpPr txBox="1"/>
          <p:nvPr/>
        </p:nvSpPr>
        <p:spPr>
          <a:xfrm>
            <a:off x="548640" y="932688"/>
            <a:ext cx="11064240" cy="384048"/>
          </a:xfrm>
          <a:prstGeom prst="rect">
            <a:avLst/>
          </a:prstGeom>
          <a:noFill/>
        </p:spPr>
        <p:txBody>
          <a:bodyPr wrap="square" anchor="t" lIns="45720" rIns="45720" tIns="27432" bIns="27432">
            <a:spAutoFit/>
          </a:bodyPr>
          <a:lstStyle/>
          <a:p>
            <a:pPr algn="l">
              <a:spcAft>
                <a:spcPts val="400"/>
              </a:spcAft>
            </a:pPr>
            <a:r>
              <a:rPr sz="1600" b="0">
                <a:solidFill>
                  <a:srgbClr val="5B6B62"/>
                </a:solidFill>
                <a:latin typeface="Calibri"/>
              </a:rPr>
              <a:t>From the sensor to the decision, in five steps</a:t>
            </a:r>
          </a:p>
        </p:txBody>
      </p:sp>
      <p:sp>
        <p:nvSpPr>
          <p:cNvPr id="4" name="Rounded Rectangle 3"/>
          <p:cNvSpPr/>
          <p:nvPr/>
        </p:nvSpPr>
        <p:spPr>
          <a:xfrm>
            <a:off x="548640" y="1417320"/>
            <a:ext cx="2103120" cy="1325880"/>
          </a:xfrm>
          <a:prstGeom prst="roundRect">
            <a:avLst>
              <a:gd name="adj" fmla="val 6000"/>
            </a:avLst>
          </a:prstGeom>
          <a:solidFill>
            <a:srgbClr val="4E9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463040"/>
            <a:ext cx="1965960" cy="365760"/>
          </a:xfrm>
          <a:prstGeom prst="rect">
            <a:avLst/>
          </a:prstGeom>
          <a:noFill/>
        </p:spPr>
        <p:txBody>
          <a:bodyPr wrap="square" anchor="t" lIns="45720" rIns="45720" tIns="27432" bIns="27432">
            <a:spAutoFit/>
          </a:bodyPr>
          <a:lstStyle/>
          <a:p>
            <a:pPr algn="l">
              <a:spcAft>
                <a:spcPts val="400"/>
              </a:spcAft>
            </a:pPr>
            <a:r>
              <a:rPr sz="1700" b="1">
                <a:solidFill>
                  <a:srgbClr val="FFFFFF"/>
                </a:solidFill>
                <a:latin typeface="Calibri"/>
              </a:rPr>
              <a:t>1  Sense</a:t>
            </a:r>
          </a:p>
        </p:txBody>
      </p:sp>
      <p:sp>
        <p:nvSpPr>
          <p:cNvPr id="6" name="TextBox 5"/>
          <p:cNvSpPr txBox="1"/>
          <p:nvPr/>
        </p:nvSpPr>
        <p:spPr>
          <a:xfrm>
            <a:off x="621792" y="1828800"/>
            <a:ext cx="1965960" cy="914400"/>
          </a:xfrm>
          <a:prstGeom prst="rect">
            <a:avLst/>
          </a:prstGeom>
          <a:noFill/>
        </p:spPr>
        <p:txBody>
          <a:bodyPr wrap="square" anchor="t" lIns="45720" rIns="45720" tIns="27432" bIns="27432">
            <a:spAutoFit/>
          </a:bodyPr>
          <a:lstStyle/>
          <a:p>
            <a:pPr algn="l">
              <a:spcAft>
                <a:spcPts val="400"/>
              </a:spcAft>
            </a:pPr>
            <a:r>
              <a:rPr sz="1300" b="0">
                <a:solidFill>
                  <a:srgbClr val="FFFFFF"/>
                </a:solidFill>
                <a:latin typeface="Calibri"/>
              </a:rPr>
              <a:t>DHT11, soil probe and rain sensor read the field</a:t>
            </a:r>
          </a:p>
        </p:txBody>
      </p:sp>
      <p:sp>
        <p:nvSpPr>
          <p:cNvPr id="7" name="TextBox 6"/>
          <p:cNvSpPr txBox="1"/>
          <p:nvPr/>
        </p:nvSpPr>
        <p:spPr>
          <a:xfrm>
            <a:off x="2633472" y="1783080"/>
            <a:ext cx="182880" cy="457200"/>
          </a:xfrm>
          <a:prstGeom prst="rect">
            <a:avLst/>
          </a:prstGeom>
          <a:noFill/>
        </p:spPr>
        <p:txBody>
          <a:bodyPr wrap="square" anchor="t" lIns="45720" rIns="45720" tIns="27432" bIns="27432">
            <a:spAutoFit/>
          </a:bodyPr>
          <a:lstStyle/>
          <a:p>
            <a:pPr algn="l">
              <a:spcAft>
                <a:spcPts val="400"/>
              </a:spcAft>
            </a:pPr>
            <a:r>
              <a:rPr sz="2200" b="1">
                <a:solidFill>
                  <a:srgbClr val="5B6B62"/>
                </a:solidFill>
                <a:latin typeface="Calibri"/>
              </a:rPr>
              <a:t>&gt;</a:t>
            </a:r>
          </a:p>
        </p:txBody>
      </p:sp>
      <p:sp>
        <p:nvSpPr>
          <p:cNvPr id="8" name="Rounded Rectangle 7"/>
          <p:cNvSpPr/>
          <p:nvPr/>
        </p:nvSpPr>
        <p:spPr>
          <a:xfrm>
            <a:off x="2788920" y="1417320"/>
            <a:ext cx="2103120" cy="1325880"/>
          </a:xfrm>
          <a:prstGeom prst="roundRect">
            <a:avLst>
              <a:gd name="adj" fmla="val 6000"/>
            </a:avLst>
          </a:prstGeom>
          <a:solidFill>
            <a:srgbClr val="2D7F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62072" y="1463040"/>
            <a:ext cx="1965960" cy="365760"/>
          </a:xfrm>
          <a:prstGeom prst="rect">
            <a:avLst/>
          </a:prstGeom>
          <a:noFill/>
        </p:spPr>
        <p:txBody>
          <a:bodyPr wrap="square" anchor="t" lIns="45720" rIns="45720" tIns="27432" bIns="27432">
            <a:spAutoFit/>
          </a:bodyPr>
          <a:lstStyle/>
          <a:p>
            <a:pPr algn="l">
              <a:spcAft>
                <a:spcPts val="400"/>
              </a:spcAft>
            </a:pPr>
            <a:r>
              <a:rPr sz="1700" b="1">
                <a:solidFill>
                  <a:srgbClr val="FFFFFF"/>
                </a:solidFill>
                <a:latin typeface="Calibri"/>
              </a:rPr>
              <a:t>2  Send</a:t>
            </a:r>
          </a:p>
        </p:txBody>
      </p:sp>
      <p:sp>
        <p:nvSpPr>
          <p:cNvPr id="10" name="TextBox 9"/>
          <p:cNvSpPr txBox="1"/>
          <p:nvPr/>
        </p:nvSpPr>
        <p:spPr>
          <a:xfrm>
            <a:off x="2862072" y="1828800"/>
            <a:ext cx="1965960" cy="914400"/>
          </a:xfrm>
          <a:prstGeom prst="rect">
            <a:avLst/>
          </a:prstGeom>
          <a:noFill/>
        </p:spPr>
        <p:txBody>
          <a:bodyPr wrap="square" anchor="t" lIns="45720" rIns="45720" tIns="27432" bIns="27432">
            <a:spAutoFit/>
          </a:bodyPr>
          <a:lstStyle/>
          <a:p>
            <a:pPr algn="l">
              <a:spcAft>
                <a:spcPts val="400"/>
              </a:spcAft>
            </a:pPr>
            <a:r>
              <a:rPr sz="1300" b="0">
                <a:solidFill>
                  <a:srgbClr val="FFFFFF"/>
                </a:solidFill>
                <a:latin typeface="Calibri"/>
              </a:rPr>
              <a:t>ESP board sends one line per second over USB</a:t>
            </a:r>
          </a:p>
        </p:txBody>
      </p:sp>
      <p:sp>
        <p:nvSpPr>
          <p:cNvPr id="11" name="TextBox 10"/>
          <p:cNvSpPr txBox="1"/>
          <p:nvPr/>
        </p:nvSpPr>
        <p:spPr>
          <a:xfrm>
            <a:off x="4873752" y="1783080"/>
            <a:ext cx="182880" cy="457200"/>
          </a:xfrm>
          <a:prstGeom prst="rect">
            <a:avLst/>
          </a:prstGeom>
          <a:noFill/>
        </p:spPr>
        <p:txBody>
          <a:bodyPr wrap="square" anchor="t" lIns="45720" rIns="45720" tIns="27432" bIns="27432">
            <a:spAutoFit/>
          </a:bodyPr>
          <a:lstStyle/>
          <a:p>
            <a:pPr algn="l">
              <a:spcAft>
                <a:spcPts val="400"/>
              </a:spcAft>
            </a:pPr>
            <a:r>
              <a:rPr sz="2200" b="1">
                <a:solidFill>
                  <a:srgbClr val="5B6B62"/>
                </a:solidFill>
                <a:latin typeface="Calibri"/>
              </a:rPr>
              <a:t>&gt;</a:t>
            </a:r>
          </a:p>
        </p:txBody>
      </p:sp>
      <p:sp>
        <p:nvSpPr>
          <p:cNvPr id="12" name="Rounded Rectangle 11"/>
          <p:cNvSpPr/>
          <p:nvPr/>
        </p:nvSpPr>
        <p:spPr>
          <a:xfrm>
            <a:off x="5029200" y="1417320"/>
            <a:ext cx="2103120" cy="1325880"/>
          </a:xfrm>
          <a:prstGeom prst="roundRect">
            <a:avLst>
              <a:gd name="adj" fmla="val 6000"/>
            </a:avLst>
          </a:prstGeom>
          <a:solidFill>
            <a:srgbClr val="143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02352" y="1463040"/>
            <a:ext cx="1965960" cy="365760"/>
          </a:xfrm>
          <a:prstGeom prst="rect">
            <a:avLst/>
          </a:prstGeom>
          <a:noFill/>
        </p:spPr>
        <p:txBody>
          <a:bodyPr wrap="square" anchor="t" lIns="45720" rIns="45720" tIns="27432" bIns="27432">
            <a:spAutoFit/>
          </a:bodyPr>
          <a:lstStyle/>
          <a:p>
            <a:pPr algn="l">
              <a:spcAft>
                <a:spcPts val="400"/>
              </a:spcAft>
            </a:pPr>
            <a:r>
              <a:rPr sz="1700" b="1">
                <a:solidFill>
                  <a:srgbClr val="FFFFFF"/>
                </a:solidFill>
                <a:latin typeface="Calibri"/>
              </a:rPr>
              <a:t>3  Decide</a:t>
            </a:r>
          </a:p>
        </p:txBody>
      </p:sp>
      <p:sp>
        <p:nvSpPr>
          <p:cNvPr id="14" name="TextBox 13"/>
          <p:cNvSpPr txBox="1"/>
          <p:nvPr/>
        </p:nvSpPr>
        <p:spPr>
          <a:xfrm>
            <a:off x="5102352" y="1828800"/>
            <a:ext cx="1965960" cy="914400"/>
          </a:xfrm>
          <a:prstGeom prst="rect">
            <a:avLst/>
          </a:prstGeom>
          <a:noFill/>
        </p:spPr>
        <p:txBody>
          <a:bodyPr wrap="square" anchor="t" lIns="45720" rIns="45720" tIns="27432" bIns="27432">
            <a:spAutoFit/>
          </a:bodyPr>
          <a:lstStyle/>
          <a:p>
            <a:pPr algn="l">
              <a:spcAft>
                <a:spcPts val="400"/>
              </a:spcAft>
            </a:pPr>
            <a:r>
              <a:rPr sz="1300" b="0">
                <a:solidFill>
                  <a:srgbClr val="FFFFFF"/>
                </a:solidFill>
                <a:latin typeface="Calibri"/>
              </a:rPr>
              <a:t>MATLAB picks the best panel angle (rules + search)</a:t>
            </a:r>
          </a:p>
        </p:txBody>
      </p:sp>
      <p:sp>
        <p:nvSpPr>
          <p:cNvPr id="15" name="TextBox 14"/>
          <p:cNvSpPr txBox="1"/>
          <p:nvPr/>
        </p:nvSpPr>
        <p:spPr>
          <a:xfrm>
            <a:off x="7114031" y="1783080"/>
            <a:ext cx="182880" cy="457200"/>
          </a:xfrm>
          <a:prstGeom prst="rect">
            <a:avLst/>
          </a:prstGeom>
          <a:noFill/>
        </p:spPr>
        <p:txBody>
          <a:bodyPr wrap="square" anchor="t" lIns="45720" rIns="45720" tIns="27432" bIns="27432">
            <a:spAutoFit/>
          </a:bodyPr>
          <a:lstStyle/>
          <a:p>
            <a:pPr algn="l">
              <a:spcAft>
                <a:spcPts val="400"/>
              </a:spcAft>
            </a:pPr>
            <a:r>
              <a:rPr sz="2200" b="1">
                <a:solidFill>
                  <a:srgbClr val="5B6B62"/>
                </a:solidFill>
                <a:latin typeface="Calibri"/>
              </a:rPr>
              <a:t>&gt;</a:t>
            </a:r>
          </a:p>
        </p:txBody>
      </p:sp>
      <p:sp>
        <p:nvSpPr>
          <p:cNvPr id="16" name="Rounded Rectangle 15"/>
          <p:cNvSpPr/>
          <p:nvPr/>
        </p:nvSpPr>
        <p:spPr>
          <a:xfrm>
            <a:off x="7269480" y="1417320"/>
            <a:ext cx="2103120" cy="1325880"/>
          </a:xfrm>
          <a:prstGeom prst="roundRect">
            <a:avLst>
              <a:gd name="adj" fmla="val 6000"/>
            </a:avLst>
          </a:prstGeom>
          <a:solidFill>
            <a:srgbClr val="C07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2631" y="1463040"/>
            <a:ext cx="1965960" cy="365760"/>
          </a:xfrm>
          <a:prstGeom prst="rect">
            <a:avLst/>
          </a:prstGeom>
          <a:noFill/>
        </p:spPr>
        <p:txBody>
          <a:bodyPr wrap="square" anchor="t" lIns="45720" rIns="45720" tIns="27432" bIns="27432">
            <a:spAutoFit/>
          </a:bodyPr>
          <a:lstStyle/>
          <a:p>
            <a:pPr algn="l">
              <a:spcAft>
                <a:spcPts val="400"/>
              </a:spcAft>
            </a:pPr>
            <a:r>
              <a:rPr sz="1700" b="1">
                <a:solidFill>
                  <a:srgbClr val="FFFFFF"/>
                </a:solidFill>
                <a:latin typeface="Calibri"/>
              </a:rPr>
              <a:t>4  Act</a:t>
            </a:r>
          </a:p>
        </p:txBody>
      </p:sp>
      <p:sp>
        <p:nvSpPr>
          <p:cNvPr id="18" name="TextBox 17"/>
          <p:cNvSpPr txBox="1"/>
          <p:nvPr/>
        </p:nvSpPr>
        <p:spPr>
          <a:xfrm>
            <a:off x="7342631" y="1828800"/>
            <a:ext cx="1965960" cy="914400"/>
          </a:xfrm>
          <a:prstGeom prst="rect">
            <a:avLst/>
          </a:prstGeom>
          <a:noFill/>
        </p:spPr>
        <p:txBody>
          <a:bodyPr wrap="square" anchor="t" lIns="45720" rIns="45720" tIns="27432" bIns="27432">
            <a:spAutoFit/>
          </a:bodyPr>
          <a:lstStyle/>
          <a:p>
            <a:pPr algn="l">
              <a:spcAft>
                <a:spcPts val="400"/>
              </a:spcAft>
            </a:pPr>
            <a:r>
              <a:rPr sz="1300" b="0">
                <a:solidFill>
                  <a:srgbClr val="FFFFFF"/>
                </a:solidFill>
                <a:latin typeface="Calibri"/>
              </a:rPr>
              <a:t>Panel angle, irrigation pump and MPPT voltage</a:t>
            </a:r>
          </a:p>
        </p:txBody>
      </p:sp>
      <p:sp>
        <p:nvSpPr>
          <p:cNvPr id="19" name="TextBox 18"/>
          <p:cNvSpPr txBox="1"/>
          <p:nvPr/>
        </p:nvSpPr>
        <p:spPr>
          <a:xfrm>
            <a:off x="9354312" y="1783080"/>
            <a:ext cx="182880" cy="457200"/>
          </a:xfrm>
          <a:prstGeom prst="rect">
            <a:avLst/>
          </a:prstGeom>
          <a:noFill/>
        </p:spPr>
        <p:txBody>
          <a:bodyPr wrap="square" anchor="t" lIns="45720" rIns="45720" tIns="27432" bIns="27432">
            <a:spAutoFit/>
          </a:bodyPr>
          <a:lstStyle/>
          <a:p>
            <a:pPr algn="l">
              <a:spcAft>
                <a:spcPts val="400"/>
              </a:spcAft>
            </a:pPr>
            <a:r>
              <a:rPr sz="2200" b="1">
                <a:solidFill>
                  <a:srgbClr val="5B6B62"/>
                </a:solidFill>
                <a:latin typeface="Calibri"/>
              </a:rPr>
              <a:t>&gt;</a:t>
            </a:r>
          </a:p>
        </p:txBody>
      </p:sp>
      <p:sp>
        <p:nvSpPr>
          <p:cNvPr id="20" name="Rounded Rectangle 19"/>
          <p:cNvSpPr/>
          <p:nvPr/>
        </p:nvSpPr>
        <p:spPr>
          <a:xfrm>
            <a:off x="9509760" y="1417320"/>
            <a:ext cx="2103120" cy="1325880"/>
          </a:xfrm>
          <a:prstGeom prst="roundRect">
            <a:avLst>
              <a:gd name="adj" fmla="val 6000"/>
            </a:avLst>
          </a:prstGeom>
          <a:solidFill>
            <a:srgbClr val="5B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82912" y="1463040"/>
            <a:ext cx="1965960" cy="365760"/>
          </a:xfrm>
          <a:prstGeom prst="rect">
            <a:avLst/>
          </a:prstGeom>
          <a:noFill/>
        </p:spPr>
        <p:txBody>
          <a:bodyPr wrap="square" anchor="t" lIns="45720" rIns="45720" tIns="27432" bIns="27432">
            <a:spAutoFit/>
          </a:bodyPr>
          <a:lstStyle/>
          <a:p>
            <a:pPr algn="l">
              <a:spcAft>
                <a:spcPts val="400"/>
              </a:spcAft>
            </a:pPr>
            <a:r>
              <a:rPr sz="1700" b="1">
                <a:solidFill>
                  <a:srgbClr val="FFFFFF"/>
                </a:solidFill>
                <a:latin typeface="Calibri"/>
              </a:rPr>
              <a:t>5  Show</a:t>
            </a:r>
          </a:p>
        </p:txBody>
      </p:sp>
      <p:sp>
        <p:nvSpPr>
          <p:cNvPr id="22" name="TextBox 21"/>
          <p:cNvSpPr txBox="1"/>
          <p:nvPr/>
        </p:nvSpPr>
        <p:spPr>
          <a:xfrm>
            <a:off x="9582912" y="1828800"/>
            <a:ext cx="1965960" cy="914400"/>
          </a:xfrm>
          <a:prstGeom prst="rect">
            <a:avLst/>
          </a:prstGeom>
          <a:noFill/>
        </p:spPr>
        <p:txBody>
          <a:bodyPr wrap="square" anchor="t" lIns="45720" rIns="45720" tIns="27432" bIns="27432">
            <a:spAutoFit/>
          </a:bodyPr>
          <a:lstStyle/>
          <a:p>
            <a:pPr algn="l">
              <a:spcAft>
                <a:spcPts val="400"/>
              </a:spcAft>
            </a:pPr>
            <a:r>
              <a:rPr sz="1300" b="0">
                <a:solidFill>
                  <a:srgbClr val="FFFFFF"/>
                </a:solidFill>
                <a:latin typeface="Calibri"/>
              </a:rPr>
              <a:t>Dashboard shows numbers, graphs and the reason in words</a:t>
            </a:r>
          </a:p>
        </p:txBody>
      </p:sp>
      <p:graphicFrame>
        <p:nvGraphicFramePr>
          <p:cNvPr id="23" name="Table 22"/>
          <p:cNvGraphicFramePr>
            <a:graphicFrameLocks noGrp="1"/>
          </p:cNvGraphicFramePr>
          <p:nvPr/>
        </p:nvGraphicFramePr>
        <p:xfrm>
          <a:off x="548640" y="2926080"/>
          <a:ext cx="11064240" cy="2816352"/>
        </p:xfrm>
        <a:graphic>
          <a:graphicData uri="http://schemas.openxmlformats.org/drawingml/2006/table">
            <a:tbl>
              <a:tblPr firstRow="1" bandRow="1">
                <a:tableStyleId>{5C22544A-7EE6-4342-B048-85BDC9FD1C3A}</a:tableStyleId>
              </a:tblPr>
              <a:tblGrid>
                <a:gridCol w="2286000"/>
                <a:gridCol w="2743200"/>
                <a:gridCol w="822960"/>
                <a:gridCol w="5212080"/>
              </a:tblGrid>
              <a:tr h="402336">
                <a:tc>
                  <a:txBody>
                    <a:bodyPr wrap="square"/>
                    <a:lstStyle/>
                    <a:p>
                      <a:r>
                        <a:rPr sz="1250" b="1">
                          <a:solidFill>
                            <a:srgbClr val="FFFFFF"/>
                          </a:solidFill>
                          <a:latin typeface="Calibri"/>
                        </a:rPr>
                        <a:t>Input</a:t>
                      </a:r>
                    </a:p>
                  </a:txBody>
                  <a:tcPr marL="54864" marR="54864" marT="18288" marB="18288" anchor="ctr">
                    <a:solidFill>
                      <a:srgbClr val="14342B"/>
                    </a:solidFill>
                  </a:tcPr>
                </a:tc>
                <a:tc>
                  <a:txBody>
                    <a:bodyPr wrap="square"/>
                    <a:lstStyle/>
                    <a:p>
                      <a:r>
                        <a:rPr sz="1250" b="1">
                          <a:solidFill>
                            <a:srgbClr val="FFFFFF"/>
                          </a:solidFill>
                          <a:latin typeface="Calibri"/>
                        </a:rPr>
                        <a:t>Where it comes from</a:t>
                      </a:r>
                    </a:p>
                  </a:txBody>
                  <a:tcPr marL="54864" marR="54864" marT="18288" marB="18288" anchor="ctr">
                    <a:solidFill>
                      <a:srgbClr val="14342B"/>
                    </a:solidFill>
                  </a:tcPr>
                </a:tc>
                <a:tc>
                  <a:txBody>
                    <a:bodyPr wrap="square"/>
                    <a:lstStyle/>
                    <a:p>
                      <a:r>
                        <a:rPr sz="1250" b="1">
                          <a:solidFill>
                            <a:srgbClr val="FFFFFF"/>
                          </a:solidFill>
                          <a:latin typeface="Calibri"/>
                        </a:rPr>
                        <a:t>Status</a:t>
                      </a:r>
                    </a:p>
                  </a:txBody>
                  <a:tcPr marL="54864" marR="54864" marT="18288" marB="18288" anchor="ctr">
                    <a:solidFill>
                      <a:srgbClr val="14342B"/>
                    </a:solidFill>
                  </a:tcPr>
                </a:tc>
                <a:tc>
                  <a:txBody>
                    <a:bodyPr wrap="square"/>
                    <a:lstStyle/>
                    <a:p>
                      <a:r>
                        <a:rPr sz="1250" b="1">
                          <a:solidFill>
                            <a:srgbClr val="FFFFFF"/>
                          </a:solidFill>
                          <a:latin typeface="Calibri"/>
                        </a:rPr>
                        <a:t>Proof / how</a:t>
                      </a:r>
                    </a:p>
                  </a:txBody>
                  <a:tcPr marL="54864" marR="54864" marT="18288" marB="18288" anchor="ctr">
                    <a:solidFill>
                      <a:srgbClr val="14342B"/>
                    </a:solidFill>
                  </a:tcPr>
                </a:tc>
              </a:tr>
              <a:tr h="402336">
                <a:tc>
                  <a:txBody>
                    <a:bodyPr wrap="square"/>
                    <a:lstStyle/>
                    <a:p>
                      <a:r>
                        <a:rPr sz="1250" b="1">
                          <a:solidFill>
                            <a:srgbClr val="1B2A22"/>
                          </a:solidFill>
                          <a:latin typeface="Calibri"/>
                        </a:rPr>
                        <a:t>Air temperature, humidity</a:t>
                      </a:r>
                    </a:p>
                  </a:txBody>
                  <a:tcPr marL="54864" marR="54864" marT="18288" marB="18288" anchor="ctr">
                    <a:solidFill>
                      <a:srgbClr val="FFFFFF"/>
                    </a:solidFill>
                  </a:tcPr>
                </a:tc>
                <a:tc>
                  <a:txBody>
                    <a:bodyPr wrap="square"/>
                    <a:lstStyle/>
                    <a:p>
                      <a:r>
                        <a:rPr sz="1250">
                          <a:solidFill>
                            <a:srgbClr val="1B2A22"/>
                          </a:solidFill>
                          <a:latin typeface="Calibri"/>
                        </a:rPr>
                        <a:t>DHT11 on the ESP board</a:t>
                      </a:r>
                    </a:p>
                  </a:txBody>
                  <a:tcPr marL="54864" marR="54864" marT="18288" marB="18288" anchor="ctr">
                    <a:solidFill>
                      <a:srgbClr val="FFFFFF"/>
                    </a:solidFill>
                  </a:tcPr>
                </a:tc>
                <a:tc>
                  <a:txBody>
                    <a:bodyPr wrap="square"/>
                    <a:lstStyle/>
                    <a:p>
                      <a:r>
                        <a:rPr sz="1250" b="1">
                          <a:solidFill>
                            <a:srgbClr val="4E9A2E"/>
                          </a:solidFill>
                          <a:latin typeface="Calibri"/>
                        </a:rPr>
                        <a:t>REAL</a:t>
                      </a:r>
                    </a:p>
                  </a:txBody>
                  <a:tcPr marL="54864" marR="54864" marT="18288" marB="18288" anchor="ctr">
                    <a:solidFill>
                      <a:srgbClr val="FFFFFF"/>
                    </a:solidFill>
                  </a:tcPr>
                </a:tc>
                <a:tc>
                  <a:txBody>
                    <a:bodyPr wrap="square"/>
                    <a:lstStyle/>
                    <a:p>
                      <a:r>
                        <a:rPr sz="1250">
                          <a:solidFill>
                            <a:srgbClr val="1B2A22"/>
                          </a:solidFill>
                          <a:latin typeface="Calibri"/>
                        </a:rPr>
                        <a:t>datasheet accuracy: 2 C and 5 % RH; checked against a thermometer on the day</a:t>
                      </a:r>
                    </a:p>
                  </a:txBody>
                  <a:tcPr marL="54864" marR="54864" marT="18288" marB="18288" anchor="ctr">
                    <a:solidFill>
                      <a:srgbClr val="FFFFFF"/>
                    </a:solidFill>
                  </a:tcPr>
                </a:tc>
              </a:tr>
              <a:tr h="402336">
                <a:tc>
                  <a:txBody>
                    <a:bodyPr wrap="square"/>
                    <a:lstStyle/>
                    <a:p>
                      <a:r>
                        <a:rPr sz="1250" b="1">
                          <a:solidFill>
                            <a:srgbClr val="1B2A22"/>
                          </a:solidFill>
                          <a:latin typeface="Calibri"/>
                        </a:rPr>
                        <a:t>Soil moisture</a:t>
                      </a:r>
                    </a:p>
                  </a:txBody>
                  <a:tcPr marL="54864" marR="54864" marT="18288" marB="18288" anchor="ctr">
                    <a:solidFill>
                      <a:srgbClr val="E6EEE0"/>
                    </a:solidFill>
                  </a:tcPr>
                </a:tc>
                <a:tc>
                  <a:txBody>
                    <a:bodyPr wrap="square"/>
                    <a:lstStyle/>
                    <a:p>
                      <a:r>
                        <a:rPr sz="1250">
                          <a:solidFill>
                            <a:srgbClr val="1B2A22"/>
                          </a:solidFill>
                          <a:latin typeface="Calibri"/>
                        </a:rPr>
                        <a:t>soil probe -&gt; analog pin</a:t>
                      </a:r>
                    </a:p>
                  </a:txBody>
                  <a:tcPr marL="54864" marR="54864" marT="18288" marB="18288" anchor="ctr">
                    <a:solidFill>
                      <a:srgbClr val="E6EEE0"/>
                    </a:solidFill>
                  </a:tcPr>
                </a:tc>
                <a:tc>
                  <a:txBody>
                    <a:bodyPr wrap="square"/>
                    <a:lstStyle/>
                    <a:p>
                      <a:r>
                        <a:rPr sz="1250" b="1">
                          <a:solidFill>
                            <a:srgbClr val="4E9A2E"/>
                          </a:solidFill>
                          <a:latin typeface="Calibri"/>
                        </a:rPr>
                        <a:t>REAL</a:t>
                      </a:r>
                    </a:p>
                  </a:txBody>
                  <a:tcPr marL="54864" marR="54864" marT="18288" marB="18288" anchor="ctr">
                    <a:solidFill>
                      <a:srgbClr val="E6EEE0"/>
                    </a:solidFill>
                  </a:tcPr>
                </a:tc>
                <a:tc>
                  <a:txBody>
                    <a:bodyPr wrap="square"/>
                    <a:lstStyle/>
                    <a:p>
                      <a:r>
                        <a:rPr sz="1250">
                          <a:solidFill>
                            <a:srgbClr val="1B2A22"/>
                          </a:solidFill>
                          <a:latin typeface="Calibri"/>
                        </a:rPr>
                        <a:t>two-point calibration: dry in air = 0 %, wet in water = 100 %</a:t>
                      </a:r>
                    </a:p>
                  </a:txBody>
                  <a:tcPr marL="54864" marR="54864" marT="18288" marB="18288" anchor="ctr">
                    <a:solidFill>
                      <a:srgbClr val="E6EEE0"/>
                    </a:solidFill>
                  </a:tcPr>
                </a:tc>
              </a:tr>
              <a:tr h="402336">
                <a:tc>
                  <a:txBody>
                    <a:bodyPr wrap="square"/>
                    <a:lstStyle/>
                    <a:p>
                      <a:r>
                        <a:rPr sz="1250" b="1">
                          <a:solidFill>
                            <a:srgbClr val="1B2A22"/>
                          </a:solidFill>
                          <a:latin typeface="Calibri"/>
                        </a:rPr>
                        <a:t>Rain</a:t>
                      </a:r>
                    </a:p>
                  </a:txBody>
                  <a:tcPr marL="54864" marR="54864" marT="18288" marB="18288" anchor="ctr">
                    <a:solidFill>
                      <a:srgbClr val="FFFFFF"/>
                    </a:solidFill>
                  </a:tcPr>
                </a:tc>
                <a:tc>
                  <a:txBody>
                    <a:bodyPr wrap="square"/>
                    <a:lstStyle/>
                    <a:p>
                      <a:r>
                        <a:rPr sz="1250">
                          <a:solidFill>
                            <a:srgbClr val="1B2A22"/>
                          </a:solidFill>
                          <a:latin typeface="Calibri"/>
                        </a:rPr>
                        <a:t>rain sensor module</a:t>
                      </a:r>
                    </a:p>
                  </a:txBody>
                  <a:tcPr marL="54864" marR="54864" marT="18288" marB="18288" anchor="ctr">
                    <a:solidFill>
                      <a:srgbClr val="FFFFFF"/>
                    </a:solidFill>
                  </a:tcPr>
                </a:tc>
                <a:tc>
                  <a:txBody>
                    <a:bodyPr wrap="square"/>
                    <a:lstStyle/>
                    <a:p>
                      <a:r>
                        <a:rPr sz="1250" b="1">
                          <a:solidFill>
                            <a:srgbClr val="4E9A2E"/>
                          </a:solidFill>
                          <a:latin typeface="Calibri"/>
                        </a:rPr>
                        <a:t>REAL</a:t>
                      </a:r>
                    </a:p>
                  </a:txBody>
                  <a:tcPr marL="54864" marR="54864" marT="18288" marB="18288" anchor="ctr">
                    <a:solidFill>
                      <a:srgbClr val="FFFFFF"/>
                    </a:solidFill>
                  </a:tcPr>
                </a:tc>
                <a:tc>
                  <a:txBody>
                    <a:bodyPr wrap="square"/>
                    <a:lstStyle/>
                    <a:p>
                      <a:r>
                        <a:rPr sz="1250">
                          <a:solidFill>
                            <a:srgbClr val="1B2A22"/>
                          </a:solidFill>
                          <a:latin typeface="Calibri"/>
                        </a:rPr>
                        <a:t>wet plate gives rain = 1; sets the 3 degree slope for harvesting</a:t>
                      </a:r>
                    </a:p>
                  </a:txBody>
                  <a:tcPr marL="54864" marR="54864" marT="18288" marB="18288" anchor="ctr">
                    <a:solidFill>
                      <a:srgbClr val="FFFFFF"/>
                    </a:solidFill>
                  </a:tcPr>
                </a:tc>
              </a:tr>
              <a:tr h="402336">
                <a:tc>
                  <a:txBody>
                    <a:bodyPr wrap="square"/>
                    <a:lstStyle/>
                    <a:p>
                      <a:r>
                        <a:rPr sz="1250" b="1">
                          <a:solidFill>
                            <a:srgbClr val="1B2A22"/>
                          </a:solidFill>
                          <a:latin typeface="Calibri"/>
                        </a:rPr>
                        <a:t>Sunlight (pyranometer)</a:t>
                      </a:r>
                    </a:p>
                  </a:txBody>
                  <a:tcPr marL="54864" marR="54864" marT="18288" marB="18288" anchor="ctr">
                    <a:solidFill>
                      <a:srgbClr val="E6EEE0"/>
                    </a:solidFill>
                  </a:tcPr>
                </a:tc>
                <a:tc>
                  <a:txBody>
                    <a:bodyPr wrap="square"/>
                    <a:lstStyle/>
                    <a:p>
                      <a:r>
                        <a:rPr sz="1250">
                          <a:solidFill>
                            <a:srgbClr val="1B2A22"/>
                          </a:solidFill>
                          <a:latin typeface="Calibri"/>
                        </a:rPr>
                        <a:t>scroll bar, or sun model</a:t>
                      </a:r>
                    </a:p>
                  </a:txBody>
                  <a:tcPr marL="54864" marR="54864" marT="18288" marB="18288" anchor="ctr">
                    <a:solidFill>
                      <a:srgbClr val="E6EEE0"/>
                    </a:solidFill>
                  </a:tcPr>
                </a:tc>
                <a:tc>
                  <a:txBody>
                    <a:bodyPr wrap="square"/>
                    <a:lstStyle/>
                    <a:p>
                      <a:r>
                        <a:rPr sz="1250" b="1">
                          <a:solidFill>
                            <a:srgbClr val="C07A00"/>
                          </a:solidFill>
                          <a:latin typeface="Calibri"/>
                        </a:rPr>
                        <a:t>SIM</a:t>
                      </a:r>
                    </a:p>
                  </a:txBody>
                  <a:tcPr marL="54864" marR="54864" marT="18288" marB="18288" anchor="ctr">
                    <a:solidFill>
                      <a:srgbClr val="E6EEE0"/>
                    </a:solidFill>
                  </a:tcPr>
                </a:tc>
                <a:tc>
                  <a:txBody>
                    <a:bodyPr wrap="square"/>
                    <a:lstStyle/>
                    <a:p>
                      <a:r>
                        <a:rPr sz="1250">
                          <a:solidFill>
                            <a:srgbClr val="1B2A22"/>
                          </a:solidFill>
                          <a:latin typeface="Calibri"/>
                        </a:rPr>
                        <a:t>sun position from date, time and latitude; clearness index of TCE from NASA POWER</a:t>
                      </a:r>
                    </a:p>
                  </a:txBody>
                  <a:tcPr marL="54864" marR="54864" marT="18288" marB="18288" anchor="ctr">
                    <a:solidFill>
                      <a:srgbClr val="E6EEE0"/>
                    </a:solidFill>
                  </a:tcPr>
                </a:tc>
              </a:tr>
              <a:tr h="402336">
                <a:tc>
                  <a:txBody>
                    <a:bodyPr wrap="square"/>
                    <a:lstStyle/>
                    <a:p>
                      <a:r>
                        <a:rPr sz="1250" b="1">
                          <a:solidFill>
                            <a:srgbClr val="1B2A22"/>
                          </a:solidFill>
                          <a:latin typeface="Calibri"/>
                        </a:rPr>
                        <a:t>Plant light (PAR)</a:t>
                      </a:r>
                    </a:p>
                  </a:txBody>
                  <a:tcPr marL="54864" marR="54864" marT="18288" marB="18288" anchor="ctr">
                    <a:solidFill>
                      <a:srgbClr val="FFFFFF"/>
                    </a:solidFill>
                  </a:tcPr>
                </a:tc>
                <a:tc>
                  <a:txBody>
                    <a:bodyPr wrap="square"/>
                    <a:lstStyle/>
                    <a:p>
                      <a:r>
                        <a:rPr sz="1250">
                          <a:solidFill>
                            <a:srgbClr val="1B2A22"/>
                          </a:solidFill>
                          <a:latin typeface="Calibri"/>
                        </a:rPr>
                        <a:t>scroll bar, or 0.45 x 4.57 x sunlight</a:t>
                      </a:r>
                    </a:p>
                  </a:txBody>
                  <a:tcPr marL="54864" marR="54864" marT="18288" marB="18288" anchor="ctr">
                    <a:solidFill>
                      <a:srgbClr val="FFFFFF"/>
                    </a:solidFill>
                  </a:tcPr>
                </a:tc>
                <a:tc>
                  <a:txBody>
                    <a:bodyPr wrap="square"/>
                    <a:lstStyle/>
                    <a:p>
                      <a:r>
                        <a:rPr sz="1250" b="1">
                          <a:solidFill>
                            <a:srgbClr val="C07A00"/>
                          </a:solidFill>
                          <a:latin typeface="Calibri"/>
                        </a:rPr>
                        <a:t>SIM</a:t>
                      </a:r>
                    </a:p>
                  </a:txBody>
                  <a:tcPr marL="54864" marR="54864" marT="18288" marB="18288" anchor="ctr">
                    <a:solidFill>
                      <a:srgbClr val="FFFFFF"/>
                    </a:solidFill>
                  </a:tcPr>
                </a:tc>
                <a:tc>
                  <a:txBody>
                    <a:bodyPr wrap="square"/>
                    <a:lstStyle/>
                    <a:p>
                      <a:r>
                        <a:rPr sz="1250">
                          <a:solidFill>
                            <a:srgbClr val="1B2A22"/>
                          </a:solidFill>
                          <a:latin typeface="Calibri"/>
                        </a:rPr>
                        <a:t>about 45 % of sunlight is PAR; 4.57 micromol per joule (standard conversion)</a:t>
                      </a:r>
                    </a:p>
                  </a:txBody>
                  <a:tcPr marL="54864" marR="54864" marT="18288" marB="18288" anchor="ctr">
                    <a:solidFill>
                      <a:srgbClr val="FFFFFF"/>
                    </a:solidFill>
                  </a:tcPr>
                </a:tc>
              </a:tr>
              <a:tr h="402336">
                <a:tc>
                  <a:txBody>
                    <a:bodyPr wrap="square"/>
                    <a:lstStyle/>
                    <a:p>
                      <a:r>
                        <a:rPr sz="1250" b="1">
                          <a:solidFill>
                            <a:srgbClr val="1B2A22"/>
                          </a:solidFill>
                          <a:latin typeface="Calibri"/>
                        </a:rPr>
                        <a:t>Wind</a:t>
                      </a:r>
                    </a:p>
                  </a:txBody>
                  <a:tcPr marL="54864" marR="54864" marT="18288" marB="18288" anchor="ctr">
                    <a:solidFill>
                      <a:srgbClr val="E6EEE0"/>
                    </a:solidFill>
                  </a:tcPr>
                </a:tc>
                <a:tc>
                  <a:txBody>
                    <a:bodyPr wrap="square"/>
                    <a:lstStyle/>
                    <a:p>
                      <a:r>
                        <a:rPr sz="1250">
                          <a:solidFill>
                            <a:srgbClr val="1B2A22"/>
                          </a:solidFill>
                          <a:latin typeface="Calibri"/>
                        </a:rPr>
                        <a:t>scroll bar</a:t>
                      </a:r>
                    </a:p>
                  </a:txBody>
                  <a:tcPr marL="54864" marR="54864" marT="18288" marB="18288" anchor="ctr">
                    <a:solidFill>
                      <a:srgbClr val="E6EEE0"/>
                    </a:solidFill>
                  </a:tcPr>
                </a:tc>
                <a:tc>
                  <a:txBody>
                    <a:bodyPr wrap="square"/>
                    <a:lstStyle/>
                    <a:p>
                      <a:r>
                        <a:rPr sz="1250" b="1">
                          <a:solidFill>
                            <a:srgbClr val="C07A00"/>
                          </a:solidFill>
                          <a:latin typeface="Calibri"/>
                        </a:rPr>
                        <a:t>SIM</a:t>
                      </a:r>
                    </a:p>
                  </a:txBody>
                  <a:tcPr marL="54864" marR="54864" marT="18288" marB="18288" anchor="ctr">
                    <a:solidFill>
                      <a:srgbClr val="E6EEE0"/>
                    </a:solidFill>
                  </a:tcPr>
                </a:tc>
                <a:tc>
                  <a:txBody>
                    <a:bodyPr wrap="square"/>
                    <a:lstStyle/>
                    <a:p>
                      <a:r>
                        <a:rPr sz="1250">
                          <a:solidFill>
                            <a:srgbClr val="1B2A22"/>
                          </a:solidFill>
                          <a:latin typeface="Calibri"/>
                        </a:rPr>
                        <a:t>safety rule: 15 m/s or more turns the panels edge-on (90 degrees)</a:t>
                      </a:r>
                    </a:p>
                  </a:txBody>
                  <a:tcPr marL="54864" marR="54864" marT="18288" marB="18288" anchor="ctr">
                    <a:solidFill>
                      <a:srgbClr val="E6EEE0"/>
                    </a:solidFill>
                  </a:tcPr>
                </a:tc>
              </a:tr>
            </a:tbl>
          </a:graphicData>
        </a:graphic>
      </p:graphicFrame>
      <p:sp>
        <p:nvSpPr>
          <p:cNvPr id="24" name="TextBox 23"/>
          <p:cNvSpPr txBox="1"/>
          <p:nvPr/>
        </p:nvSpPr>
        <p:spPr>
          <a:xfrm>
            <a:off x="548640" y="5852160"/>
            <a:ext cx="11064240" cy="731520"/>
          </a:xfrm>
          <a:prstGeom prst="rect">
            <a:avLst/>
          </a:prstGeom>
          <a:noFill/>
        </p:spPr>
        <p:txBody>
          <a:bodyPr wrap="square" anchor="t" lIns="45720" rIns="45720" tIns="27432" bIns="27432">
            <a:spAutoFit/>
          </a:bodyPr>
          <a:lstStyle/>
          <a:p>
            <a:pPr algn="l">
              <a:spcAft>
                <a:spcPts val="400"/>
              </a:spcAft>
            </a:pPr>
            <a:r>
              <a:rPr sz="1400" b="1">
                <a:solidFill>
                  <a:srgbClr val="14342B"/>
                </a:solidFill>
                <a:latin typeface="Calibri"/>
              </a:rPr>
              <a:t>Real sensor values on the day:  </a:t>
            </a:r>
            <a:r>
              <a:rPr sz="1400" b="0">
                <a:solidFill>
                  <a:srgbClr val="5B6B62"/>
                </a:solidFill>
                <a:latin typeface="Calibri"/>
              </a:rPr>
              <a:t>temperature ______ C    humidity ______ %    soil ______ %    rain ______   (fill from the serial monitor / dashboard)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274320"/>
            <a:ext cx="11064240" cy="685800"/>
          </a:xfrm>
          <a:prstGeom prst="rect">
            <a:avLst/>
          </a:prstGeom>
          <a:noFill/>
        </p:spPr>
        <p:txBody>
          <a:bodyPr wrap="square" anchor="ctr" lIns="45720" rIns="45720" tIns="27432" bIns="27432">
            <a:spAutoFit/>
          </a:bodyPr>
          <a:lstStyle/>
          <a:p>
            <a:pPr algn="l">
              <a:spcAft>
                <a:spcPts val="400"/>
              </a:spcAft>
            </a:pPr>
            <a:r>
              <a:rPr sz="2600" b="1">
                <a:solidFill>
                  <a:srgbClr val="14342B"/>
                </a:solidFill>
                <a:latin typeface="Cambria"/>
              </a:rPr>
              <a:t>The two simulated sensors: scroll bars, and can we trust them?</a:t>
            </a:r>
          </a:p>
        </p:txBody>
      </p:sp>
      <p:sp>
        <p:nvSpPr>
          <p:cNvPr id="3" name="TextBox 2"/>
          <p:cNvSpPr txBox="1"/>
          <p:nvPr/>
        </p:nvSpPr>
        <p:spPr>
          <a:xfrm>
            <a:off x="548640" y="932688"/>
            <a:ext cx="11064240" cy="384048"/>
          </a:xfrm>
          <a:prstGeom prst="rect">
            <a:avLst/>
          </a:prstGeom>
          <a:noFill/>
        </p:spPr>
        <p:txBody>
          <a:bodyPr wrap="square" anchor="t" lIns="45720" rIns="45720" tIns="27432" bIns="27432">
            <a:spAutoFit/>
          </a:bodyPr>
          <a:lstStyle/>
          <a:p>
            <a:pPr algn="l">
              <a:spcAft>
                <a:spcPts val="400"/>
              </a:spcAft>
            </a:pPr>
            <a:r>
              <a:rPr sz="1600" b="0">
                <a:solidFill>
                  <a:srgbClr val="5B6B62"/>
                </a:solidFill>
                <a:latin typeface="Calibri"/>
              </a:rPr>
              <a:t>Move the scroll bar and watch the angle, the electricity and the irrigation react</a:t>
            </a:r>
          </a:p>
        </p:txBody>
      </p:sp>
      <p:pic>
        <p:nvPicPr>
          <p:cNvPr id="4" name="Picture 3" descr="dashboard_v2_manual_cloudy.png"/>
          <p:cNvPicPr>
            <a:picLocks noChangeAspect="1"/>
          </p:cNvPicPr>
          <p:nvPr/>
        </p:nvPicPr>
        <p:blipFill>
          <a:blip r:embed="rId2"/>
          <a:stretch>
            <a:fillRect/>
          </a:stretch>
        </p:blipFill>
        <p:spPr>
          <a:xfrm>
            <a:off x="548640" y="1440647"/>
            <a:ext cx="5852160" cy="3199465"/>
          </a:xfrm>
          <a:prstGeom prst="rect">
            <a:avLst/>
          </a:prstGeom>
        </p:spPr>
      </p:pic>
      <p:sp>
        <p:nvSpPr>
          <p:cNvPr id="5" name="TextBox 4"/>
          <p:cNvSpPr txBox="1"/>
          <p:nvPr/>
        </p:nvSpPr>
        <p:spPr>
          <a:xfrm>
            <a:off x="548640" y="4663440"/>
            <a:ext cx="5852160" cy="274320"/>
          </a:xfrm>
          <a:prstGeom prst="rect">
            <a:avLst/>
          </a:prstGeom>
          <a:noFill/>
        </p:spPr>
        <p:txBody>
          <a:bodyPr wrap="square" anchor="t" lIns="45720" rIns="45720" tIns="27432" bIns="27432">
            <a:spAutoFit/>
          </a:bodyPr>
          <a:lstStyle/>
          <a:p>
            <a:pPr algn="ctr">
              <a:spcAft>
                <a:spcPts val="400"/>
              </a:spcAft>
            </a:pPr>
            <a:r>
              <a:rPr sz="1200" b="0">
                <a:solidFill>
                  <a:srgbClr val="5B6B62"/>
                </a:solidFill>
                <a:latin typeface="Calibri"/>
              </a:rPr>
              <a:t>Manual mode: sunlight 350 W/m2, PAR 700 micromol/m2/s</a:t>
            </a:r>
          </a:p>
        </p:txBody>
      </p:sp>
      <p:sp>
        <p:nvSpPr>
          <p:cNvPr id="6" name="Rounded Rectangle 5"/>
          <p:cNvSpPr/>
          <p:nvPr/>
        </p:nvSpPr>
        <p:spPr>
          <a:xfrm>
            <a:off x="548640" y="5029200"/>
            <a:ext cx="5852160" cy="1554480"/>
          </a:xfrm>
          <a:prstGeom prst="roundRect">
            <a:avLst>
              <a:gd name="adj" fmla="val 6000"/>
            </a:avLst>
          </a:prstGeom>
          <a:solidFill>
            <a:srgbClr val="FFF6DC"/>
          </a:solidFill>
          <a:ln w="15875">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5084064"/>
            <a:ext cx="5632704" cy="274320"/>
          </a:xfrm>
          <a:prstGeom prst="rect">
            <a:avLst/>
          </a:prstGeom>
          <a:noFill/>
        </p:spPr>
        <p:txBody>
          <a:bodyPr wrap="square" anchor="t" lIns="45720" rIns="45720" tIns="27432" bIns="27432">
            <a:spAutoFit/>
          </a:bodyPr>
          <a:lstStyle/>
          <a:p>
            <a:pPr algn="l">
              <a:spcAft>
                <a:spcPts val="400"/>
              </a:spcAft>
            </a:pPr>
            <a:r>
              <a:rPr sz="1250" b="1">
                <a:solidFill>
                  <a:srgbClr val="8A5A00"/>
                </a:solidFill>
                <a:latin typeface="Calibri"/>
              </a:rPr>
              <a:t>PROOF: how it works and where it comes from</a:t>
            </a:r>
          </a:p>
        </p:txBody>
      </p:sp>
      <p:sp>
        <p:nvSpPr>
          <p:cNvPr id="8" name="TextBox 7"/>
          <p:cNvSpPr txBox="1"/>
          <p:nvPr/>
        </p:nvSpPr>
        <p:spPr>
          <a:xfrm>
            <a:off x="658368" y="5376672"/>
            <a:ext cx="5632704" cy="1170432"/>
          </a:xfrm>
          <a:prstGeom prst="rect">
            <a:avLst/>
          </a:prstGeom>
          <a:noFill/>
        </p:spPr>
        <p:txBody>
          <a:bodyPr wrap="square">
            <a:spAutoFit/>
          </a:bodyPr>
          <a:lstStyle/>
          <a:p>
            <a:pPr>
              <a:spcAft>
                <a:spcPts val="200"/>
              </a:spcAft>
            </a:pPr>
            <a:r>
              <a:rPr sz="1200" b="0">
                <a:solidFill>
                  <a:srgbClr val="1B2A22"/>
                </a:solidFill>
                <a:latin typeface="Calibri"/>
              </a:rPr>
              <a:t>•  Sun position: standard solar equations; sky clearness for TCE: NASA POWER monthly data</a:t>
            </a:r>
          </a:p>
          <a:p>
            <a:pPr>
              <a:spcAft>
                <a:spcPts val="200"/>
              </a:spcAft>
            </a:pPr>
            <a:r>
              <a:rPr sz="1200" b="0">
                <a:solidFill>
                  <a:srgbClr val="1B2A22"/>
                </a:solidFill>
                <a:latin typeface="Calibri"/>
              </a:rPr>
              <a:t>•  PAR = 0.45 x 4.57 x sunlight (standard conversion); the dashboard flags it if PAR / sunlight is far from 2.06</a:t>
            </a:r>
          </a:p>
          <a:p>
            <a:pPr>
              <a:spcAft>
                <a:spcPts val="200"/>
              </a:spcAft>
            </a:pPr>
            <a:r>
              <a:rPr sz="1200" b="0">
                <a:solidFill>
                  <a:srgbClr val="1B2A22"/>
                </a:solidFill>
                <a:latin typeface="Calibri"/>
              </a:rPr>
              <a:t>•  Same equations were checked against the PVGIS service: +5.0 % per year</a:t>
            </a:r>
          </a:p>
        </p:txBody>
      </p:sp>
      <p:sp>
        <p:nvSpPr>
          <p:cNvPr id="9" name="TextBox 8"/>
          <p:cNvSpPr txBox="1"/>
          <p:nvPr/>
        </p:nvSpPr>
        <p:spPr>
          <a:xfrm>
            <a:off x="6675120" y="1371600"/>
            <a:ext cx="4983480" cy="2148840"/>
          </a:xfrm>
          <a:prstGeom prst="rect">
            <a:avLst/>
          </a:prstGeom>
          <a:noFill/>
        </p:spPr>
        <p:txBody>
          <a:bodyPr wrap="square">
            <a:spAutoFit/>
          </a:bodyPr>
          <a:lstStyle/>
          <a:p>
            <a:pPr>
              <a:spcAft>
                <a:spcPts val="500"/>
              </a:spcAft>
            </a:pPr>
            <a:r>
              <a:rPr sz="1400" b="1">
                <a:solidFill>
                  <a:srgbClr val="1B2A22"/>
                </a:solidFill>
                <a:latin typeface="Calibri"/>
              </a:rPr>
              <a:t>•  Dim sky (300 W/m2): </a:t>
            </a:r>
            <a:r>
              <a:rPr sz="1400" b="0">
                <a:solidFill>
                  <a:srgbClr val="1B2A22"/>
                </a:solidFill>
                <a:latin typeface="Calibri"/>
              </a:rPr>
              <a:t>panels go steep (55.5 degrees) to give crops light; electricity 36 W/m2</a:t>
            </a:r>
          </a:p>
          <a:p>
            <a:pPr>
              <a:spcAft>
                <a:spcPts val="500"/>
              </a:spcAft>
            </a:pPr>
            <a:r>
              <a:rPr sz="1400" b="1">
                <a:solidFill>
                  <a:srgbClr val="1B2A22"/>
                </a:solidFill>
                <a:latin typeface="Calibri"/>
              </a:rPr>
              <a:t>•  Bright sky (1000 W/m2): </a:t>
            </a:r>
            <a:r>
              <a:rPr sz="1400" b="0">
                <a:solidFill>
                  <a:srgbClr val="1B2A22"/>
                </a:solidFill>
                <a:latin typeface="Calibri"/>
              </a:rPr>
              <a:t>flatter (39.5 degrees); electricity 124 W/m2</a:t>
            </a:r>
          </a:p>
          <a:p>
            <a:pPr>
              <a:spcAft>
                <a:spcPts val="500"/>
              </a:spcAft>
            </a:pPr>
            <a:r>
              <a:rPr sz="1400" b="1">
                <a:solidFill>
                  <a:srgbClr val="1B2A22"/>
                </a:solidFill>
                <a:latin typeface="Calibri"/>
              </a:rPr>
              <a:t>•  Real sensors later: </a:t>
            </a:r>
            <a:r>
              <a:rPr sz="1400" b="0">
                <a:solidFill>
                  <a:srgbClr val="1B2A22"/>
                </a:solidFill>
                <a:latin typeface="Calibri"/>
              </a:rPr>
              <a:t>the serial line takes two extra numbers and replaces the simulated ones</a:t>
            </a:r>
          </a:p>
        </p:txBody>
      </p:sp>
      <p:graphicFrame>
        <p:nvGraphicFramePr>
          <p:cNvPr id="10" name="Chart 9"/>
          <p:cNvGraphicFramePr>
            <a:graphicFrameLocks noGrp="1"/>
          </p:cNvGraphicFramePr>
          <p:nvPr/>
        </p:nvGraphicFramePr>
        <p:xfrm>
          <a:off x="6675120" y="3520440"/>
          <a:ext cx="4983480" cy="3063240"/>
        </p:xfrm>
        <a:graphic>
          <a:graphicData uri="http://schemas.openxmlformats.org/drawingml/2006/chart">
            <c:chart xmlns:c="http://schemas.openxmlformats.org/drawingml/2006/chart" r:id="rId3"/>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274320"/>
            <a:ext cx="11064240" cy="685800"/>
          </a:xfrm>
          <a:prstGeom prst="rect">
            <a:avLst/>
          </a:prstGeom>
          <a:noFill/>
        </p:spPr>
        <p:txBody>
          <a:bodyPr wrap="square" anchor="ctr" lIns="45720" rIns="45720" tIns="27432" bIns="27432">
            <a:spAutoFit/>
          </a:bodyPr>
          <a:lstStyle/>
          <a:p>
            <a:pPr algn="l">
              <a:spcAft>
                <a:spcPts val="400"/>
              </a:spcAft>
            </a:pPr>
            <a:r>
              <a:rPr sz="3000" b="1">
                <a:solidFill>
                  <a:srgbClr val="14342B"/>
                </a:solidFill>
                <a:latin typeface="Cambria"/>
              </a:rPr>
              <a:t>How the controller chooses the tilt angle</a:t>
            </a:r>
          </a:p>
        </p:txBody>
      </p:sp>
      <p:sp>
        <p:nvSpPr>
          <p:cNvPr id="3" name="TextBox 2"/>
          <p:cNvSpPr txBox="1"/>
          <p:nvPr/>
        </p:nvSpPr>
        <p:spPr>
          <a:xfrm>
            <a:off x="548640" y="932688"/>
            <a:ext cx="11064240" cy="384048"/>
          </a:xfrm>
          <a:prstGeom prst="rect">
            <a:avLst/>
          </a:prstGeom>
          <a:noFill/>
        </p:spPr>
        <p:txBody>
          <a:bodyPr wrap="square" anchor="t" lIns="45720" rIns="45720" tIns="27432" bIns="27432">
            <a:spAutoFit/>
          </a:bodyPr>
          <a:lstStyle/>
          <a:p>
            <a:pPr algn="l">
              <a:spcAft>
                <a:spcPts val="400"/>
              </a:spcAft>
            </a:pPr>
            <a:r>
              <a:rPr sz="1600" b="0">
                <a:solidFill>
                  <a:srgbClr val="5B6B62"/>
                </a:solidFill>
                <a:latin typeface="Calibri"/>
              </a:rPr>
              <a:t>It tries every angle from 15 to 60 degrees and keeps the one with the best combined score</a:t>
            </a:r>
          </a:p>
        </p:txBody>
      </p:sp>
      <p:pic>
        <p:nvPicPr>
          <p:cNvPr id="4" name="Picture 3" descr="explain_top.png"/>
          <p:cNvPicPr>
            <a:picLocks noChangeAspect="1"/>
          </p:cNvPicPr>
          <p:nvPr/>
        </p:nvPicPr>
        <p:blipFill>
          <a:blip r:embed="rId2"/>
          <a:stretch>
            <a:fillRect/>
          </a:stretch>
        </p:blipFill>
        <p:spPr>
          <a:xfrm>
            <a:off x="548640" y="1408374"/>
            <a:ext cx="11064240" cy="3126850"/>
          </a:xfrm>
          <a:prstGeom prst="rect">
            <a:avLst/>
          </a:prstGeom>
        </p:spPr>
      </p:pic>
      <p:sp>
        <p:nvSpPr>
          <p:cNvPr id="5" name="Rounded Rectangle 4"/>
          <p:cNvSpPr/>
          <p:nvPr/>
        </p:nvSpPr>
        <p:spPr>
          <a:xfrm>
            <a:off x="548640" y="4645152"/>
            <a:ext cx="3611880" cy="1371600"/>
          </a:xfrm>
          <a:prstGeom prst="roundRect">
            <a:avLst>
              <a:gd name="adj" fmla="val 6000"/>
            </a:avLst>
          </a:prstGeom>
          <a:solidFill>
            <a:srgbClr val="FFFFFF"/>
          </a:solidFill>
          <a:ln w="15875">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663440"/>
            <a:ext cx="3429000" cy="274320"/>
          </a:xfrm>
          <a:prstGeom prst="rect">
            <a:avLst/>
          </a:prstGeom>
          <a:noFill/>
        </p:spPr>
        <p:txBody>
          <a:bodyPr wrap="square" anchor="t" lIns="45720" rIns="45720" tIns="27432" bIns="27432">
            <a:spAutoFit/>
          </a:bodyPr>
          <a:lstStyle/>
          <a:p>
            <a:pPr algn="l">
              <a:spcAft>
                <a:spcPts val="400"/>
              </a:spcAft>
            </a:pPr>
            <a:r>
              <a:rPr sz="1350" b="1">
                <a:solidFill>
                  <a:srgbClr val="14342B"/>
                </a:solidFill>
                <a:latin typeface="Calibri"/>
              </a:rPr>
              <a:t>Rules first (safety and water)</a:t>
            </a:r>
          </a:p>
        </p:txBody>
      </p:sp>
      <p:sp>
        <p:nvSpPr>
          <p:cNvPr id="7" name="TextBox 6"/>
          <p:cNvSpPr txBox="1"/>
          <p:nvPr/>
        </p:nvSpPr>
        <p:spPr>
          <a:xfrm>
            <a:off x="640080" y="4937760"/>
            <a:ext cx="3429000" cy="1097280"/>
          </a:xfrm>
          <a:prstGeom prst="rect">
            <a:avLst/>
          </a:prstGeom>
          <a:noFill/>
        </p:spPr>
        <p:txBody>
          <a:bodyPr wrap="square">
            <a:spAutoFit/>
          </a:bodyPr>
          <a:lstStyle/>
          <a:p>
            <a:pPr>
              <a:spcAft>
                <a:spcPts val="100"/>
              </a:spcAft>
            </a:pPr>
            <a:r>
              <a:rPr sz="1150" b="0">
                <a:solidFill>
                  <a:srgbClr val="1B2A22"/>
                </a:solidFill>
                <a:latin typeface="Calibri"/>
              </a:rPr>
              <a:t>•  Wind 15 m/s or more: panels edge-on (90 degrees)</a:t>
            </a:r>
          </a:p>
          <a:p>
            <a:pPr>
              <a:spcAft>
                <a:spcPts val="100"/>
              </a:spcAft>
            </a:pPr>
            <a:r>
              <a:rPr sz="1150" b="0">
                <a:solidFill>
                  <a:srgbClr val="1B2A22"/>
                </a:solidFill>
                <a:latin typeface="Calibri"/>
              </a:rPr>
              <a:t>•  Rain detected: 3 degree slope, rain goes to the tank</a:t>
            </a:r>
          </a:p>
          <a:p>
            <a:pPr>
              <a:spcAft>
                <a:spcPts val="100"/>
              </a:spcAft>
            </a:pPr>
            <a:r>
              <a:rPr sz="1150" b="0">
                <a:solidFill>
                  <a:srgbClr val="1B2A22"/>
                </a:solidFill>
                <a:latin typeface="Calibri"/>
              </a:rPr>
              <a:t>•  Night: rest at 15 degrees</a:t>
            </a:r>
          </a:p>
        </p:txBody>
      </p:sp>
      <p:sp>
        <p:nvSpPr>
          <p:cNvPr id="8" name="Rounded Rectangle 7"/>
          <p:cNvSpPr/>
          <p:nvPr/>
        </p:nvSpPr>
        <p:spPr>
          <a:xfrm>
            <a:off x="4297679" y="4645152"/>
            <a:ext cx="3611880" cy="1371600"/>
          </a:xfrm>
          <a:prstGeom prst="roundRect">
            <a:avLst>
              <a:gd name="adj" fmla="val 6000"/>
            </a:avLst>
          </a:prstGeom>
          <a:solidFill>
            <a:srgbClr val="FFFFFF"/>
          </a:solidFill>
          <a:ln w="15875">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19" y="4663440"/>
            <a:ext cx="3429000" cy="274320"/>
          </a:xfrm>
          <a:prstGeom prst="rect">
            <a:avLst/>
          </a:prstGeom>
          <a:noFill/>
        </p:spPr>
        <p:txBody>
          <a:bodyPr wrap="square" anchor="t" lIns="45720" rIns="45720" tIns="27432" bIns="27432">
            <a:spAutoFit/>
          </a:bodyPr>
          <a:lstStyle/>
          <a:p>
            <a:pPr algn="l">
              <a:spcAft>
                <a:spcPts val="400"/>
              </a:spcAft>
            </a:pPr>
            <a:r>
              <a:rPr sz="1350" b="1">
                <a:solidFill>
                  <a:srgbClr val="14342B"/>
                </a:solidFill>
                <a:latin typeface="Calibri"/>
              </a:rPr>
              <a:t>Then the search (graph 1)</a:t>
            </a:r>
          </a:p>
        </p:txBody>
      </p:sp>
      <p:sp>
        <p:nvSpPr>
          <p:cNvPr id="10" name="TextBox 9"/>
          <p:cNvSpPr txBox="1"/>
          <p:nvPr/>
        </p:nvSpPr>
        <p:spPr>
          <a:xfrm>
            <a:off x="4389119" y="4937760"/>
            <a:ext cx="3429000" cy="1097280"/>
          </a:xfrm>
          <a:prstGeom prst="rect">
            <a:avLst/>
          </a:prstGeom>
          <a:noFill/>
        </p:spPr>
        <p:txBody>
          <a:bodyPr wrap="square">
            <a:spAutoFit/>
          </a:bodyPr>
          <a:lstStyle/>
          <a:p>
            <a:pPr>
              <a:spcAft>
                <a:spcPts val="100"/>
              </a:spcAft>
            </a:pPr>
            <a:r>
              <a:rPr sz="1150" b="0">
                <a:solidFill>
                  <a:srgbClr val="1B2A22"/>
                </a:solidFill>
                <a:latin typeface="Calibri"/>
              </a:rPr>
              <a:t>•  Amber line: electricity at each angle</a:t>
            </a:r>
          </a:p>
          <a:p>
            <a:pPr>
              <a:spcAft>
                <a:spcPts val="100"/>
              </a:spcAft>
            </a:pPr>
            <a:r>
              <a:rPr sz="1150" b="0">
                <a:solidFill>
                  <a:srgbClr val="1B2A22"/>
                </a:solidFill>
                <a:latin typeface="Calibri"/>
              </a:rPr>
              <a:t>•  Green line: light that reaches the crops</a:t>
            </a:r>
          </a:p>
          <a:p>
            <a:pPr>
              <a:spcAft>
                <a:spcPts val="100"/>
              </a:spcAft>
            </a:pPr>
            <a:r>
              <a:rPr sz="1150" b="0">
                <a:solidFill>
                  <a:srgbClr val="1B2A22"/>
                </a:solidFill>
                <a:latin typeface="Calibri"/>
              </a:rPr>
              <a:t>•  Blue line: combined score = 0.5 x electricity + 0.5 x crop light; red star = the angle chosen</a:t>
            </a:r>
          </a:p>
        </p:txBody>
      </p:sp>
      <p:sp>
        <p:nvSpPr>
          <p:cNvPr id="11" name="Rounded Rectangle 10"/>
          <p:cNvSpPr/>
          <p:nvPr/>
        </p:nvSpPr>
        <p:spPr>
          <a:xfrm>
            <a:off x="8046719" y="4645152"/>
            <a:ext cx="3611880" cy="1371600"/>
          </a:xfrm>
          <a:prstGeom prst="roundRect">
            <a:avLst>
              <a:gd name="adj" fmla="val 6000"/>
            </a:avLst>
          </a:prstGeom>
          <a:solidFill>
            <a:srgbClr val="FFFFFF"/>
          </a:solidFill>
          <a:ln w="15875">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59" y="4663440"/>
            <a:ext cx="3429000" cy="274320"/>
          </a:xfrm>
          <a:prstGeom prst="rect">
            <a:avLst/>
          </a:prstGeom>
          <a:noFill/>
        </p:spPr>
        <p:txBody>
          <a:bodyPr wrap="square" anchor="t" lIns="45720" rIns="45720" tIns="27432" bIns="27432">
            <a:spAutoFit/>
          </a:bodyPr>
          <a:lstStyle/>
          <a:p>
            <a:pPr algn="l">
              <a:spcAft>
                <a:spcPts val="400"/>
              </a:spcAft>
            </a:pPr>
            <a:r>
              <a:rPr sz="1350" b="1">
                <a:solidFill>
                  <a:srgbClr val="14342B"/>
                </a:solidFill>
                <a:latin typeface="Calibri"/>
              </a:rPr>
              <a:t>Stress changes the need</a:t>
            </a:r>
          </a:p>
        </p:txBody>
      </p:sp>
      <p:sp>
        <p:nvSpPr>
          <p:cNvPr id="13" name="TextBox 12"/>
          <p:cNvSpPr txBox="1"/>
          <p:nvPr/>
        </p:nvSpPr>
        <p:spPr>
          <a:xfrm>
            <a:off x="8138159" y="4937760"/>
            <a:ext cx="3429000" cy="1097280"/>
          </a:xfrm>
          <a:prstGeom prst="rect">
            <a:avLst/>
          </a:prstGeom>
          <a:noFill/>
        </p:spPr>
        <p:txBody>
          <a:bodyPr wrap="square">
            <a:spAutoFit/>
          </a:bodyPr>
          <a:lstStyle/>
          <a:p>
            <a:pPr>
              <a:spcAft>
                <a:spcPts val="100"/>
              </a:spcAft>
            </a:pPr>
            <a:r>
              <a:rPr sz="1150" b="0">
                <a:solidFill>
                  <a:srgbClr val="1B2A22"/>
                </a:solidFill>
                <a:latin typeface="Calibri"/>
              </a:rPr>
              <a:t>•  Hot, dry air (VPD above 2.5 kPa) or dry soil: crops need less light</a:t>
            </a:r>
          </a:p>
          <a:p>
            <a:pPr>
              <a:spcAft>
                <a:spcPts val="100"/>
              </a:spcAft>
            </a:pPr>
            <a:r>
              <a:rPr sz="1150" b="0">
                <a:solidFill>
                  <a:srgbClr val="1B2A22"/>
                </a:solidFill>
                <a:latin typeface="Calibri"/>
              </a:rPr>
              <a:t>•  The panels can then shade more and make more electricity</a:t>
            </a:r>
          </a:p>
          <a:p>
            <a:pPr>
              <a:spcAft>
                <a:spcPts val="100"/>
              </a:spcAft>
            </a:pPr>
            <a:r>
              <a:rPr sz="1150" b="0">
                <a:solidFill>
                  <a:srgbClr val="1B2A22"/>
                </a:solidFill>
                <a:latin typeface="Calibri"/>
              </a:rPr>
              <a:t>•  Dry soil: pump on below 35 %, off at 55 %</a:t>
            </a:r>
          </a:p>
        </p:txBody>
      </p:sp>
      <p:sp>
        <p:nvSpPr>
          <p:cNvPr id="14" name="Rounded Rectangle 13"/>
          <p:cNvSpPr/>
          <p:nvPr/>
        </p:nvSpPr>
        <p:spPr>
          <a:xfrm>
            <a:off x="548640" y="6053328"/>
            <a:ext cx="11064240" cy="731520"/>
          </a:xfrm>
          <a:prstGeom prst="roundRect">
            <a:avLst>
              <a:gd name="adj" fmla="val 6000"/>
            </a:avLst>
          </a:prstGeom>
          <a:solidFill>
            <a:srgbClr val="FFF6DC"/>
          </a:solidFill>
          <a:ln w="15875">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6108192"/>
            <a:ext cx="10844784" cy="274320"/>
          </a:xfrm>
          <a:prstGeom prst="rect">
            <a:avLst/>
          </a:prstGeom>
          <a:noFill/>
        </p:spPr>
        <p:txBody>
          <a:bodyPr wrap="square" anchor="t" lIns="45720" rIns="45720" tIns="27432" bIns="27432">
            <a:spAutoFit/>
          </a:bodyPr>
          <a:lstStyle/>
          <a:p>
            <a:pPr algn="l">
              <a:spcAft>
                <a:spcPts val="400"/>
              </a:spcAft>
            </a:pPr>
            <a:r>
              <a:rPr sz="1250" b="1">
                <a:solidFill>
                  <a:srgbClr val="8A5A00"/>
                </a:solidFill>
                <a:latin typeface="Calibri"/>
              </a:rPr>
              <a:t>PROOF</a:t>
            </a:r>
          </a:p>
        </p:txBody>
      </p:sp>
      <p:sp>
        <p:nvSpPr>
          <p:cNvPr id="16" name="TextBox 15"/>
          <p:cNvSpPr txBox="1"/>
          <p:nvPr/>
        </p:nvSpPr>
        <p:spPr>
          <a:xfrm>
            <a:off x="658368" y="6400800"/>
            <a:ext cx="10844784" cy="347472"/>
          </a:xfrm>
          <a:prstGeom prst="rect">
            <a:avLst/>
          </a:prstGeom>
          <a:noFill/>
        </p:spPr>
        <p:txBody>
          <a:bodyPr wrap="square">
            <a:spAutoFit/>
          </a:bodyPr>
          <a:lstStyle/>
          <a:p>
            <a:pPr>
              <a:spcAft>
                <a:spcPts val="200"/>
              </a:spcAft>
            </a:pPr>
            <a:r>
              <a:rPr sz="1050" b="0">
                <a:solidFill>
                  <a:srgbClr val="1B2A22"/>
                </a:solidFill>
                <a:latin typeface="Calibri"/>
              </a:rPr>
              <a:t>•  Accuracy point A: the chosen angle is compared with a full search of every 0.5 degree step. Clear noon: difference 0.0 degrees. Worst case tested: 3 degrees, with the score within 0.02 % (a flat top).  Light and shadow come from the same equations checked against Blender 3-D ray tracing (mean difference 0.010).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274320"/>
            <a:ext cx="11064240" cy="685800"/>
          </a:xfrm>
          <a:prstGeom prst="rect">
            <a:avLst/>
          </a:prstGeom>
          <a:noFill/>
        </p:spPr>
        <p:txBody>
          <a:bodyPr wrap="square" anchor="ctr" lIns="45720" rIns="45720" tIns="27432" bIns="27432">
            <a:spAutoFit/>
          </a:bodyPr>
          <a:lstStyle/>
          <a:p>
            <a:pPr algn="l">
              <a:spcAft>
                <a:spcPts val="400"/>
              </a:spcAft>
            </a:pPr>
            <a:r>
              <a:rPr sz="2600" b="1">
                <a:solidFill>
                  <a:srgbClr val="14342B"/>
                </a:solidFill>
                <a:latin typeface="Cambria"/>
              </a:rPr>
              <a:t>Result: electricity and crop light together (clear day)</a:t>
            </a:r>
          </a:p>
        </p:txBody>
      </p:sp>
      <p:sp>
        <p:nvSpPr>
          <p:cNvPr id="3" name="TextBox 2"/>
          <p:cNvSpPr txBox="1"/>
          <p:nvPr/>
        </p:nvSpPr>
        <p:spPr>
          <a:xfrm>
            <a:off x="548640" y="932688"/>
            <a:ext cx="11064240" cy="384048"/>
          </a:xfrm>
          <a:prstGeom prst="rect">
            <a:avLst/>
          </a:prstGeom>
          <a:noFill/>
        </p:spPr>
        <p:txBody>
          <a:bodyPr wrap="square" anchor="t" lIns="45720" rIns="45720" tIns="27432" bIns="27432">
            <a:spAutoFit/>
          </a:bodyPr>
          <a:lstStyle/>
          <a:p>
            <a:pPr algn="l">
              <a:spcAft>
                <a:spcPts val="400"/>
              </a:spcAft>
            </a:pPr>
            <a:r>
              <a:rPr sz="1600" b="0">
                <a:solidFill>
                  <a:srgbClr val="5B6B62"/>
                </a:solidFill>
                <a:latin typeface="Calibri"/>
              </a:rPr>
              <a:t>Each bar is a percentage of the best way for that quantity; simulated day, 6 to 18 h</a:t>
            </a:r>
          </a:p>
        </p:txBody>
      </p:sp>
      <p:graphicFrame>
        <p:nvGraphicFramePr>
          <p:cNvPr id="4" name="Chart 3"/>
          <p:cNvGraphicFramePr>
            <a:graphicFrameLocks noGrp="1"/>
          </p:cNvGraphicFramePr>
          <p:nvPr/>
        </p:nvGraphicFramePr>
        <p:xfrm>
          <a:off x="548640" y="1371600"/>
          <a:ext cx="6766560" cy="3657600"/>
        </p:xfrm>
        <a:graphic>
          <a:graphicData uri="http://schemas.openxmlformats.org/drawingml/2006/chart">
            <c:chart xmlns:c="http://schemas.openxmlformats.org/drawingml/2006/chart" r:id="rId2"/>
          </a:graphicData>
        </a:graphic>
      </p:graphicFrame>
      <p:sp>
        <p:nvSpPr>
          <p:cNvPr id="5" name="Rounded Rectangle 4"/>
          <p:cNvSpPr/>
          <p:nvPr/>
        </p:nvSpPr>
        <p:spPr>
          <a:xfrm>
            <a:off x="7589520" y="1371600"/>
            <a:ext cx="4069080" cy="3657600"/>
          </a:xfrm>
          <a:prstGeom prst="roundRect">
            <a:avLst>
              <a:gd name="adj" fmla="val 6000"/>
            </a:avLst>
          </a:prstGeom>
          <a:solidFill>
            <a:srgbClr val="FFFFFF"/>
          </a:solidFill>
          <a:ln w="15875">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26679" y="1417320"/>
            <a:ext cx="3840480" cy="365760"/>
          </a:xfrm>
          <a:prstGeom prst="rect">
            <a:avLst/>
          </a:prstGeom>
          <a:noFill/>
        </p:spPr>
        <p:txBody>
          <a:bodyPr wrap="square" anchor="t" lIns="45720" rIns="45720" tIns="27432" bIns="27432">
            <a:spAutoFit/>
          </a:bodyPr>
          <a:lstStyle/>
          <a:p>
            <a:pPr algn="l">
              <a:spcAft>
                <a:spcPts val="400"/>
              </a:spcAft>
            </a:pPr>
            <a:r>
              <a:rPr sz="1700" b="1">
                <a:solidFill>
                  <a:srgbClr val="14342B"/>
                </a:solidFill>
                <a:latin typeface="Calibri"/>
              </a:rPr>
              <a:t>In simple words</a:t>
            </a:r>
          </a:p>
        </p:txBody>
      </p:sp>
      <p:sp>
        <p:nvSpPr>
          <p:cNvPr id="7" name="TextBox 6"/>
          <p:cNvSpPr txBox="1"/>
          <p:nvPr/>
        </p:nvSpPr>
        <p:spPr>
          <a:xfrm>
            <a:off x="7726679" y="1828800"/>
            <a:ext cx="3840480" cy="3200400"/>
          </a:xfrm>
          <a:prstGeom prst="rect">
            <a:avLst/>
          </a:prstGeom>
          <a:noFill/>
        </p:spPr>
        <p:txBody>
          <a:bodyPr wrap="square">
            <a:spAutoFit/>
          </a:bodyPr>
          <a:lstStyle/>
          <a:p>
            <a:pPr>
              <a:spcAft>
                <a:spcPts val="700"/>
              </a:spcAft>
            </a:pPr>
            <a:r>
              <a:rPr sz="1400" b="1">
                <a:solidFill>
                  <a:srgbClr val="1B2A22"/>
                </a:solidFill>
                <a:latin typeface="Calibri"/>
              </a:rPr>
              <a:t>•  Sun tracking: </a:t>
            </a:r>
            <a:r>
              <a:rPr sz="1400" b="0">
                <a:solidFill>
                  <a:srgbClr val="1B2A22"/>
                </a:solidFill>
                <a:latin typeface="Calibri"/>
              </a:rPr>
              <a:t>most electricity, but the crops get only 27 % of the light they need.</a:t>
            </a:r>
          </a:p>
          <a:p>
            <a:pPr>
              <a:spcAft>
                <a:spcPts val="700"/>
              </a:spcAft>
            </a:pPr>
            <a:r>
              <a:rPr sz="1400" b="1">
                <a:solidFill>
                  <a:srgbClr val="1B2A22"/>
                </a:solidFill>
                <a:latin typeface="Calibri"/>
              </a:rPr>
              <a:t>•  Fixed 45 degrees: </a:t>
            </a:r>
            <a:r>
              <a:rPr sz="1400" b="0">
                <a:solidFill>
                  <a:srgbClr val="1B2A22"/>
                </a:solidFill>
                <a:latin typeface="Calibri"/>
              </a:rPr>
              <a:t>crops fine, electricity 74 % of best.</a:t>
            </a:r>
          </a:p>
          <a:p>
            <a:pPr>
              <a:spcAft>
                <a:spcPts val="700"/>
              </a:spcAft>
            </a:pPr>
            <a:r>
              <a:rPr sz="1400" b="1">
                <a:solidFill>
                  <a:srgbClr val="1B2A22"/>
                </a:solidFill>
                <a:latin typeface="Calibri"/>
              </a:rPr>
              <a:t>•  SRMC controller: </a:t>
            </a:r>
            <a:r>
              <a:rPr sz="1400" b="0">
                <a:solidFill>
                  <a:srgbClr val="1B2A22"/>
                </a:solidFill>
                <a:latin typeface="Calibri"/>
              </a:rPr>
              <a:t>75 % of the best electricity and 89 % of the best crop light.</a:t>
            </a:r>
          </a:p>
          <a:p>
            <a:pPr>
              <a:spcAft>
                <a:spcPts val="700"/>
              </a:spcAft>
            </a:pPr>
            <a:r>
              <a:rPr sz="1400" b="1">
                <a:solidFill>
                  <a:srgbClr val="1B2A22"/>
                </a:solidFill>
                <a:latin typeface="Calibri"/>
              </a:rPr>
              <a:t>•  Against fixed 45 degrees: </a:t>
            </a:r>
            <a:r>
              <a:rPr sz="1400" b="0">
                <a:solidFill>
                  <a:srgbClr val="1B2A22"/>
                </a:solidFill>
                <a:latin typeface="Calibri"/>
              </a:rPr>
              <a:t>electricity +2.5 %, crop light +9.7 %.</a:t>
            </a:r>
          </a:p>
        </p:txBody>
      </p:sp>
      <p:graphicFrame>
        <p:nvGraphicFramePr>
          <p:cNvPr id="8" name="Table 7"/>
          <p:cNvGraphicFramePr>
            <a:graphicFrameLocks noGrp="1"/>
          </p:cNvGraphicFramePr>
          <p:nvPr/>
        </p:nvGraphicFramePr>
        <p:xfrm>
          <a:off x="548640" y="5166360"/>
          <a:ext cx="6766560" cy="987552"/>
        </p:xfrm>
        <a:graphic>
          <a:graphicData uri="http://schemas.openxmlformats.org/drawingml/2006/table">
            <a:tbl>
              <a:tblPr firstRow="1" bandRow="1">
                <a:tableStyleId>{5C22544A-7EE6-4342-B048-85BDC9FD1C3A}</a:tableStyleId>
              </a:tblPr>
              <a:tblGrid>
                <a:gridCol w="3108960"/>
                <a:gridCol w="1828800"/>
                <a:gridCol w="1828800"/>
              </a:tblGrid>
              <a:tr h="329184">
                <a:tc>
                  <a:txBody>
                    <a:bodyPr wrap="square"/>
                    <a:lstStyle/>
                    <a:p>
                      <a:r>
                        <a:rPr sz="1250" b="1">
                          <a:solidFill>
                            <a:srgbClr val="FFFFFF"/>
                          </a:solidFill>
                          <a:latin typeface="Calibri"/>
                        </a:rPr>
                        <a:t>Other days (same controller)</a:t>
                      </a:r>
                    </a:p>
                  </a:txBody>
                  <a:tcPr marL="54864" marR="54864" marT="18288" marB="18288" anchor="ctr">
                    <a:solidFill>
                      <a:srgbClr val="14342B"/>
                    </a:solidFill>
                  </a:tcPr>
                </a:tc>
                <a:tc>
                  <a:txBody>
                    <a:bodyPr wrap="square"/>
                    <a:lstStyle/>
                    <a:p>
                      <a:r>
                        <a:rPr sz="1250" b="1">
                          <a:solidFill>
                            <a:srgbClr val="FFFFFF"/>
                          </a:solidFill>
                          <a:latin typeface="Calibri"/>
                        </a:rPr>
                        <a:t>Electricity</a:t>
                      </a:r>
                    </a:p>
                  </a:txBody>
                  <a:tcPr marL="54864" marR="54864" marT="18288" marB="18288" anchor="ctr">
                    <a:solidFill>
                      <a:srgbClr val="14342B"/>
                    </a:solidFill>
                  </a:tcPr>
                </a:tc>
                <a:tc>
                  <a:txBody>
                    <a:bodyPr wrap="square"/>
                    <a:lstStyle/>
                    <a:p>
                      <a:r>
                        <a:rPr sz="1250" b="1">
                          <a:solidFill>
                            <a:srgbClr val="FFFFFF"/>
                          </a:solidFill>
                          <a:latin typeface="Calibri"/>
                        </a:rPr>
                        <a:t>Crop light</a:t>
                      </a:r>
                    </a:p>
                  </a:txBody>
                  <a:tcPr marL="54864" marR="54864" marT="18288" marB="18288" anchor="ctr">
                    <a:solidFill>
                      <a:srgbClr val="14342B"/>
                    </a:solidFill>
                  </a:tcPr>
                </a:tc>
              </a:tr>
              <a:tr h="329184">
                <a:tc>
                  <a:txBody>
                    <a:bodyPr wrap="square"/>
                    <a:lstStyle/>
                    <a:p>
                      <a:r>
                        <a:rPr sz="1250" b="1">
                          <a:solidFill>
                            <a:srgbClr val="1B2A22"/>
                          </a:solidFill>
                          <a:latin typeface="Calibri"/>
                        </a:rPr>
                        <a:t>Partly cloudy day</a:t>
                      </a:r>
                    </a:p>
                  </a:txBody>
                  <a:tcPr marL="54864" marR="54864" marT="18288" marB="18288" anchor="ctr">
                    <a:solidFill>
                      <a:srgbClr val="FFFFFF"/>
                    </a:solidFill>
                  </a:tcPr>
                </a:tc>
                <a:tc>
                  <a:txBody>
                    <a:bodyPr wrap="square"/>
                    <a:lstStyle/>
                    <a:p>
                      <a:r>
                        <a:rPr sz="1250">
                          <a:solidFill>
                            <a:srgbClr val="1B2A22"/>
                          </a:solidFill>
                          <a:latin typeface="Calibri"/>
                        </a:rPr>
                        <a:t>78 % of best</a:t>
                      </a:r>
                    </a:p>
                  </a:txBody>
                  <a:tcPr marL="54864" marR="54864" marT="18288" marB="18288" anchor="ctr">
                    <a:solidFill>
                      <a:srgbClr val="FFFFFF"/>
                    </a:solidFill>
                  </a:tcPr>
                </a:tc>
                <a:tc>
                  <a:txBody>
                    <a:bodyPr wrap="square"/>
                    <a:lstStyle/>
                    <a:p>
                      <a:r>
                        <a:rPr sz="1250">
                          <a:solidFill>
                            <a:srgbClr val="1B2A22"/>
                          </a:solidFill>
                          <a:latin typeface="Calibri"/>
                        </a:rPr>
                        <a:t>97 % of best</a:t>
                      </a:r>
                    </a:p>
                  </a:txBody>
                  <a:tcPr marL="54864" marR="54864" marT="18288" marB="18288" anchor="ctr">
                    <a:solidFill>
                      <a:srgbClr val="FFFFFF"/>
                    </a:solidFill>
                  </a:tcPr>
                </a:tc>
              </a:tr>
              <a:tr h="329184">
                <a:tc>
                  <a:txBody>
                    <a:bodyPr wrap="square"/>
                    <a:lstStyle/>
                    <a:p>
                      <a:r>
                        <a:rPr sz="1250" b="1">
                          <a:solidFill>
                            <a:srgbClr val="1B2A22"/>
                          </a:solidFill>
                          <a:latin typeface="Calibri"/>
                        </a:rPr>
                        <a:t>Hot, dry day (plant stress)</a:t>
                      </a:r>
                    </a:p>
                  </a:txBody>
                  <a:tcPr marL="54864" marR="54864" marT="18288" marB="18288" anchor="ctr">
                    <a:solidFill>
                      <a:srgbClr val="E6EEE0"/>
                    </a:solidFill>
                  </a:tcPr>
                </a:tc>
                <a:tc>
                  <a:txBody>
                    <a:bodyPr wrap="square"/>
                    <a:lstStyle/>
                    <a:p>
                      <a:r>
                        <a:rPr sz="1250">
                          <a:solidFill>
                            <a:srgbClr val="1B2A22"/>
                          </a:solidFill>
                          <a:latin typeface="Calibri"/>
                        </a:rPr>
                        <a:t>79 % of best</a:t>
                      </a:r>
                    </a:p>
                  </a:txBody>
                  <a:tcPr marL="54864" marR="54864" marT="18288" marB="18288" anchor="ctr">
                    <a:solidFill>
                      <a:srgbClr val="E6EEE0"/>
                    </a:solidFill>
                  </a:tcPr>
                </a:tc>
                <a:tc>
                  <a:txBody>
                    <a:bodyPr wrap="square"/>
                    <a:lstStyle/>
                    <a:p>
                      <a:r>
                        <a:rPr sz="1250">
                          <a:solidFill>
                            <a:srgbClr val="1B2A22"/>
                          </a:solidFill>
                          <a:latin typeface="Calibri"/>
                        </a:rPr>
                        <a:t>88 % of best</a:t>
                      </a:r>
                    </a:p>
                  </a:txBody>
                  <a:tcPr marL="54864" marR="54864" marT="18288" marB="18288" anchor="ctr">
                    <a:solidFill>
                      <a:srgbClr val="E6EEE0"/>
                    </a:solidFill>
                  </a:tcPr>
                </a:tc>
              </a:tr>
            </a:tbl>
          </a:graphicData>
        </a:graphic>
      </p:graphicFrame>
      <p:sp>
        <p:nvSpPr>
          <p:cNvPr id="9" name="Rounded Rectangle 8"/>
          <p:cNvSpPr/>
          <p:nvPr/>
        </p:nvSpPr>
        <p:spPr>
          <a:xfrm>
            <a:off x="7589520" y="5166360"/>
            <a:ext cx="4069080" cy="1463040"/>
          </a:xfrm>
          <a:prstGeom prst="roundRect">
            <a:avLst>
              <a:gd name="adj" fmla="val 6000"/>
            </a:avLst>
          </a:prstGeom>
          <a:solidFill>
            <a:srgbClr val="FFF6DC"/>
          </a:solidFill>
          <a:ln w="15875">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99248" y="5221224"/>
            <a:ext cx="3849624" cy="274320"/>
          </a:xfrm>
          <a:prstGeom prst="rect">
            <a:avLst/>
          </a:prstGeom>
          <a:noFill/>
        </p:spPr>
        <p:txBody>
          <a:bodyPr wrap="square" anchor="t" lIns="45720" rIns="45720" tIns="27432" bIns="27432">
            <a:spAutoFit/>
          </a:bodyPr>
          <a:lstStyle/>
          <a:p>
            <a:pPr algn="l">
              <a:spcAft>
                <a:spcPts val="400"/>
              </a:spcAft>
            </a:pPr>
            <a:r>
              <a:rPr sz="1250" b="1">
                <a:solidFill>
                  <a:srgbClr val="8A5A00"/>
                </a:solidFill>
                <a:latin typeface="Calibri"/>
              </a:rPr>
              <a:t>PROOF: how it works and where it comes from</a:t>
            </a:r>
          </a:p>
        </p:txBody>
      </p:sp>
      <p:sp>
        <p:nvSpPr>
          <p:cNvPr id="11" name="TextBox 10"/>
          <p:cNvSpPr txBox="1"/>
          <p:nvPr/>
        </p:nvSpPr>
        <p:spPr>
          <a:xfrm>
            <a:off x="7699248" y="5513832"/>
            <a:ext cx="3849624" cy="1078992"/>
          </a:xfrm>
          <a:prstGeom prst="rect">
            <a:avLst/>
          </a:prstGeom>
          <a:noFill/>
        </p:spPr>
        <p:txBody>
          <a:bodyPr wrap="square">
            <a:spAutoFit/>
          </a:bodyPr>
          <a:lstStyle/>
          <a:p>
            <a:pPr>
              <a:spcAft>
                <a:spcPts val="200"/>
              </a:spcAft>
            </a:pPr>
            <a:r>
              <a:rPr sz="1150" b="0">
                <a:solidFill>
                  <a:srgbClr val="1B2A22"/>
                </a:solidFill>
                <a:latin typeface="Calibri"/>
              </a:rPr>
              <a:t>•  Simulated day 105, TCE; same functions as the dashboard</a:t>
            </a:r>
          </a:p>
          <a:p>
            <a:pPr>
              <a:spcAft>
                <a:spcPts val="200"/>
              </a:spcAft>
            </a:pPr>
            <a:r>
              <a:rPr sz="1150" b="0">
                <a:solidFill>
                  <a:srgbClr val="1B2A22"/>
                </a:solidFill>
                <a:latin typeface="Calibri"/>
              </a:rPr>
              <a:t>•  Sun tracking is only a reference: our panels have two positions</a:t>
            </a:r>
          </a:p>
          <a:p>
            <a:pPr>
              <a:spcAft>
                <a:spcPts val="200"/>
              </a:spcAft>
            </a:pPr>
            <a:r>
              <a:rPr sz="1150" b="0">
                <a:solidFill>
                  <a:srgbClr val="1B2A22"/>
                </a:solidFill>
                <a:latin typeface="Calibri"/>
              </a:rPr>
              <a:t>•  Files: results/day_comparison.csv, fig_energy_vs_crop_clear_day.png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274320"/>
            <a:ext cx="11064240" cy="685800"/>
          </a:xfrm>
          <a:prstGeom prst="rect">
            <a:avLst/>
          </a:prstGeom>
          <a:noFill/>
        </p:spPr>
        <p:txBody>
          <a:bodyPr wrap="square" anchor="ctr" lIns="45720" rIns="45720" tIns="27432" bIns="27432">
            <a:spAutoFit/>
          </a:bodyPr>
          <a:lstStyle/>
          <a:p>
            <a:pPr algn="l">
              <a:spcAft>
                <a:spcPts val="400"/>
              </a:spcAft>
            </a:pPr>
            <a:r>
              <a:rPr sz="3000" b="1">
                <a:solidFill>
                  <a:srgbClr val="14342B"/>
                </a:solidFill>
                <a:latin typeface="Cambria"/>
              </a:rPr>
              <a:t>MPPT: always working at the top of the power curve</a:t>
            </a:r>
          </a:p>
        </p:txBody>
      </p:sp>
      <p:sp>
        <p:nvSpPr>
          <p:cNvPr id="3" name="TextBox 2"/>
          <p:cNvSpPr txBox="1"/>
          <p:nvPr/>
        </p:nvSpPr>
        <p:spPr>
          <a:xfrm>
            <a:off x="548640" y="932688"/>
            <a:ext cx="11064240" cy="384048"/>
          </a:xfrm>
          <a:prstGeom prst="rect">
            <a:avLst/>
          </a:prstGeom>
          <a:noFill/>
        </p:spPr>
        <p:txBody>
          <a:bodyPr wrap="square" anchor="t" lIns="45720" rIns="45720" tIns="27432" bIns="27432">
            <a:spAutoFit/>
          </a:bodyPr>
          <a:lstStyle/>
          <a:p>
            <a:pPr algn="l">
              <a:spcAft>
                <a:spcPts val="400"/>
              </a:spcAft>
            </a:pPr>
            <a:r>
              <a:rPr sz="1600" b="0">
                <a:solidFill>
                  <a:srgbClr val="5B6B62"/>
                </a:solidFill>
                <a:latin typeface="Calibri"/>
              </a:rPr>
              <a:t>Maximum power point tracking, Perturb and Observe</a:t>
            </a:r>
          </a:p>
        </p:txBody>
      </p:sp>
      <p:pic>
        <p:nvPicPr>
          <p:cNvPr id="4" name="Picture 3" descr="fig_mppt_curves.png"/>
          <p:cNvPicPr>
            <a:picLocks noChangeAspect="1"/>
          </p:cNvPicPr>
          <p:nvPr/>
        </p:nvPicPr>
        <p:blipFill>
          <a:blip r:embed="rId2"/>
          <a:stretch>
            <a:fillRect/>
          </a:stretch>
        </p:blipFill>
        <p:spPr>
          <a:xfrm>
            <a:off x="588033" y="1371600"/>
            <a:ext cx="6596332" cy="2788920"/>
          </a:xfrm>
          <a:prstGeom prst="rect">
            <a:avLst/>
          </a:prstGeom>
        </p:spPr>
      </p:pic>
      <p:pic>
        <p:nvPicPr>
          <p:cNvPr id="5" name="Picture 4" descr="fig_mppt_tracking.png"/>
          <p:cNvPicPr>
            <a:picLocks noChangeAspect="1"/>
          </p:cNvPicPr>
          <p:nvPr/>
        </p:nvPicPr>
        <p:blipFill>
          <a:blip r:embed="rId3"/>
          <a:stretch>
            <a:fillRect/>
          </a:stretch>
        </p:blipFill>
        <p:spPr>
          <a:xfrm>
            <a:off x="7558201" y="1371600"/>
            <a:ext cx="3948837" cy="2788920"/>
          </a:xfrm>
          <a:prstGeom prst="rect">
            <a:avLst/>
          </a:prstGeom>
        </p:spPr>
      </p:pic>
      <p:sp>
        <p:nvSpPr>
          <p:cNvPr id="6" name="Rounded Rectangle 5"/>
          <p:cNvSpPr/>
          <p:nvPr/>
        </p:nvSpPr>
        <p:spPr>
          <a:xfrm>
            <a:off x="548640" y="4251960"/>
            <a:ext cx="3611880" cy="1280160"/>
          </a:xfrm>
          <a:prstGeom prst="roundRect">
            <a:avLst>
              <a:gd name="adj" fmla="val 6000"/>
            </a:avLst>
          </a:prstGeom>
          <a:solidFill>
            <a:srgbClr val="FFFFFF"/>
          </a:solidFill>
          <a:ln w="15875">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279392"/>
            <a:ext cx="3429000" cy="274320"/>
          </a:xfrm>
          <a:prstGeom prst="rect">
            <a:avLst/>
          </a:prstGeom>
          <a:noFill/>
        </p:spPr>
        <p:txBody>
          <a:bodyPr wrap="square" anchor="t" lIns="45720" rIns="45720" tIns="27432" bIns="27432">
            <a:spAutoFit/>
          </a:bodyPr>
          <a:lstStyle/>
          <a:p>
            <a:pPr algn="l">
              <a:spcAft>
                <a:spcPts val="400"/>
              </a:spcAft>
            </a:pPr>
            <a:r>
              <a:rPr sz="1400" b="1">
                <a:solidFill>
                  <a:srgbClr val="14342B"/>
                </a:solidFill>
                <a:latin typeface="Calibri"/>
              </a:rPr>
              <a:t>What it is</a:t>
            </a:r>
          </a:p>
        </p:txBody>
      </p:sp>
      <p:sp>
        <p:nvSpPr>
          <p:cNvPr id="8" name="TextBox 7"/>
          <p:cNvSpPr txBox="1"/>
          <p:nvPr/>
        </p:nvSpPr>
        <p:spPr>
          <a:xfrm>
            <a:off x="640080" y="4590288"/>
            <a:ext cx="3429000" cy="914400"/>
          </a:xfrm>
          <a:prstGeom prst="rect">
            <a:avLst/>
          </a:prstGeom>
          <a:noFill/>
        </p:spPr>
        <p:txBody>
          <a:bodyPr wrap="square" anchor="t" lIns="45720" rIns="45720" tIns="27432" bIns="27432">
            <a:spAutoFit/>
          </a:bodyPr>
          <a:lstStyle/>
          <a:p>
            <a:pPr algn="l">
              <a:spcAft>
                <a:spcPts val="400"/>
              </a:spcAft>
            </a:pPr>
            <a:r>
              <a:rPr sz="1300" b="0">
                <a:solidFill>
                  <a:srgbClr val="1B2A22"/>
                </a:solidFill>
                <a:latin typeface="Calibri"/>
              </a:rPr>
              <a:t>A solar panel gives the most power at one voltage (red star). That voltage moves with sunlight and cell temperature.</a:t>
            </a:r>
          </a:p>
        </p:txBody>
      </p:sp>
      <p:sp>
        <p:nvSpPr>
          <p:cNvPr id="9" name="Rounded Rectangle 8"/>
          <p:cNvSpPr/>
          <p:nvPr/>
        </p:nvSpPr>
        <p:spPr>
          <a:xfrm>
            <a:off x="4297679" y="4251960"/>
            <a:ext cx="3611880" cy="1280160"/>
          </a:xfrm>
          <a:prstGeom prst="roundRect">
            <a:avLst>
              <a:gd name="adj" fmla="val 6000"/>
            </a:avLst>
          </a:prstGeom>
          <a:solidFill>
            <a:srgbClr val="FFFFFF"/>
          </a:solidFill>
          <a:ln w="15875">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19" y="4279392"/>
            <a:ext cx="3429000" cy="274320"/>
          </a:xfrm>
          <a:prstGeom prst="rect">
            <a:avLst/>
          </a:prstGeom>
          <a:noFill/>
        </p:spPr>
        <p:txBody>
          <a:bodyPr wrap="square" anchor="t" lIns="45720" rIns="45720" tIns="27432" bIns="27432">
            <a:spAutoFit/>
          </a:bodyPr>
          <a:lstStyle/>
          <a:p>
            <a:pPr algn="l">
              <a:spcAft>
                <a:spcPts val="400"/>
              </a:spcAft>
            </a:pPr>
            <a:r>
              <a:rPr sz="1400" b="1">
                <a:solidFill>
                  <a:srgbClr val="14342B"/>
                </a:solidFill>
                <a:latin typeface="Calibri"/>
              </a:rPr>
              <a:t>What MPPT does</a:t>
            </a:r>
          </a:p>
        </p:txBody>
      </p:sp>
      <p:sp>
        <p:nvSpPr>
          <p:cNvPr id="11" name="TextBox 10"/>
          <p:cNvSpPr txBox="1"/>
          <p:nvPr/>
        </p:nvSpPr>
        <p:spPr>
          <a:xfrm>
            <a:off x="4389119" y="4590288"/>
            <a:ext cx="3429000" cy="914400"/>
          </a:xfrm>
          <a:prstGeom prst="rect">
            <a:avLst/>
          </a:prstGeom>
          <a:noFill/>
        </p:spPr>
        <p:txBody>
          <a:bodyPr wrap="square" anchor="t" lIns="45720" rIns="45720" tIns="27432" bIns="27432">
            <a:spAutoFit/>
          </a:bodyPr>
          <a:lstStyle/>
          <a:p>
            <a:pPr algn="l">
              <a:spcAft>
                <a:spcPts val="400"/>
              </a:spcAft>
            </a:pPr>
            <a:r>
              <a:rPr sz="1300" b="0">
                <a:solidFill>
                  <a:srgbClr val="1B2A22"/>
                </a:solidFill>
                <a:latin typeface="Calibri"/>
              </a:rPr>
              <a:t>A small controller nudges the voltage up and down and keeps the point where power is highest.</a:t>
            </a:r>
          </a:p>
        </p:txBody>
      </p:sp>
      <p:sp>
        <p:nvSpPr>
          <p:cNvPr id="12" name="Rounded Rectangle 11"/>
          <p:cNvSpPr/>
          <p:nvPr/>
        </p:nvSpPr>
        <p:spPr>
          <a:xfrm>
            <a:off x="8046719" y="4251960"/>
            <a:ext cx="3611880" cy="1280160"/>
          </a:xfrm>
          <a:prstGeom prst="roundRect">
            <a:avLst>
              <a:gd name="adj" fmla="val 6000"/>
            </a:avLst>
          </a:prstGeom>
          <a:solidFill>
            <a:srgbClr val="FFFFFF"/>
          </a:solidFill>
          <a:ln w="15875">
            <a:solidFill>
              <a:srgbClr val="E6EE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59" y="4279392"/>
            <a:ext cx="3429000" cy="274320"/>
          </a:xfrm>
          <a:prstGeom prst="rect">
            <a:avLst/>
          </a:prstGeom>
          <a:noFill/>
        </p:spPr>
        <p:txBody>
          <a:bodyPr wrap="square" anchor="t" lIns="45720" rIns="45720" tIns="27432" bIns="27432">
            <a:spAutoFit/>
          </a:bodyPr>
          <a:lstStyle/>
          <a:p>
            <a:pPr algn="l">
              <a:spcAft>
                <a:spcPts val="400"/>
              </a:spcAft>
            </a:pPr>
            <a:r>
              <a:rPr sz="1400" b="1">
                <a:solidFill>
                  <a:srgbClr val="14342B"/>
                </a:solidFill>
                <a:latin typeface="Calibri"/>
              </a:rPr>
              <a:t>What we gain</a:t>
            </a:r>
          </a:p>
        </p:txBody>
      </p:sp>
      <p:sp>
        <p:nvSpPr>
          <p:cNvPr id="14" name="TextBox 13"/>
          <p:cNvSpPr txBox="1"/>
          <p:nvPr/>
        </p:nvSpPr>
        <p:spPr>
          <a:xfrm>
            <a:off x="8138159" y="4590288"/>
            <a:ext cx="3429000" cy="914400"/>
          </a:xfrm>
          <a:prstGeom prst="rect">
            <a:avLst/>
          </a:prstGeom>
          <a:noFill/>
        </p:spPr>
        <p:txBody>
          <a:bodyPr wrap="square" anchor="t" lIns="45720" rIns="45720" tIns="27432" bIns="27432">
            <a:spAutoFit/>
          </a:bodyPr>
          <a:lstStyle/>
          <a:p>
            <a:pPr algn="l">
              <a:spcAft>
                <a:spcPts val="400"/>
              </a:spcAft>
            </a:pPr>
            <a:r>
              <a:rPr sz="1300" b="0">
                <a:solidFill>
                  <a:srgbClr val="1B2A22"/>
                </a:solidFill>
                <a:latin typeface="Calibri"/>
              </a:rPr>
              <a:t>Cloud test: MPPT keeps 99.83 % of the maximum energy; a fixed voltage keeps 96.95 % (gain +2.96 %).</a:t>
            </a:r>
          </a:p>
        </p:txBody>
      </p:sp>
      <p:sp>
        <p:nvSpPr>
          <p:cNvPr id="15" name="Rounded Rectangle 14"/>
          <p:cNvSpPr/>
          <p:nvPr/>
        </p:nvSpPr>
        <p:spPr>
          <a:xfrm>
            <a:off x="548640" y="5577840"/>
            <a:ext cx="11064240" cy="1188720"/>
          </a:xfrm>
          <a:prstGeom prst="roundRect">
            <a:avLst>
              <a:gd name="adj" fmla="val 6000"/>
            </a:avLst>
          </a:prstGeom>
          <a:solidFill>
            <a:srgbClr val="FFF6DC"/>
          </a:solidFill>
          <a:ln w="15875">
            <a:solidFill>
              <a:srgbClr val="E8A31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632703"/>
            <a:ext cx="10844784" cy="274320"/>
          </a:xfrm>
          <a:prstGeom prst="rect">
            <a:avLst/>
          </a:prstGeom>
          <a:noFill/>
        </p:spPr>
        <p:txBody>
          <a:bodyPr wrap="square" anchor="t" lIns="45720" rIns="45720" tIns="27432" bIns="27432">
            <a:spAutoFit/>
          </a:bodyPr>
          <a:lstStyle/>
          <a:p>
            <a:pPr algn="l">
              <a:spcAft>
                <a:spcPts val="400"/>
              </a:spcAft>
            </a:pPr>
            <a:r>
              <a:rPr sz="1250" b="1">
                <a:solidFill>
                  <a:srgbClr val="8A5A00"/>
                </a:solidFill>
                <a:latin typeface="Calibri"/>
              </a:rPr>
              <a:t>PROOF</a:t>
            </a:r>
          </a:p>
        </p:txBody>
      </p:sp>
      <p:sp>
        <p:nvSpPr>
          <p:cNvPr id="17" name="TextBox 16"/>
          <p:cNvSpPr txBox="1"/>
          <p:nvPr/>
        </p:nvSpPr>
        <p:spPr>
          <a:xfrm>
            <a:off x="658368" y="5925312"/>
            <a:ext cx="10844784" cy="804672"/>
          </a:xfrm>
          <a:prstGeom prst="rect">
            <a:avLst/>
          </a:prstGeom>
          <a:noFill/>
        </p:spPr>
        <p:txBody>
          <a:bodyPr wrap="square">
            <a:spAutoFit/>
          </a:bodyPr>
          <a:lstStyle/>
          <a:p>
            <a:pPr>
              <a:spcAft>
                <a:spcPts val="200"/>
              </a:spcAft>
            </a:pPr>
            <a:r>
              <a:rPr sz="1150" b="0">
                <a:solidFill>
                  <a:srgbClr val="1B2A22"/>
                </a:solidFill>
                <a:latin typeface="Calibri"/>
              </a:rPr>
              <a:t>•  Model: single-diode PV model of a typical 400 W module (Isc 10.5 A, Voc 49.6 V, Vmp 40.5 V; replace with your datasheet). Tracker: Perturb and Observe, 0.5 V steps. Hotter cell: best voltage falls from 41.1 V (25 C) to 35.6 V (65 C).</a:t>
            </a:r>
          </a:p>
          <a:p>
            <a:pPr>
              <a:spcAft>
                <a:spcPts val="200"/>
              </a:spcAft>
            </a:pPr>
            <a:r>
              <a:rPr sz="1150" b="0">
                <a:solidFill>
                  <a:srgbClr val="1B2A22"/>
                </a:solidFill>
                <a:latin typeface="Calibri"/>
              </a:rPr>
              <a:t>•  Accuracy point C: tracking efficiency 99.83 %.  Tested in MATLAB (5 MPPT tests pass).  This is a model of the tracker, not yet a hardware DC-DC converter.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7F2"/>
        </a:solidFill>
        <a:effectLst/>
      </p:bgPr>
    </p:bg>
    <p:spTree>
      <p:nvGrpSpPr>
        <p:cNvPr id="1" name=""/>
        <p:cNvGrpSpPr/>
        <p:nvPr/>
      </p:nvGrpSpPr>
      <p:grpSpPr/>
      <p:sp>
        <p:nvSpPr>
          <p:cNvPr id="2" name="TextBox 1"/>
          <p:cNvSpPr txBox="1"/>
          <p:nvPr/>
        </p:nvSpPr>
        <p:spPr>
          <a:xfrm>
            <a:off x="548640" y="274320"/>
            <a:ext cx="11064240" cy="685800"/>
          </a:xfrm>
          <a:prstGeom prst="rect">
            <a:avLst/>
          </a:prstGeom>
          <a:noFill/>
        </p:spPr>
        <p:txBody>
          <a:bodyPr wrap="square" anchor="ctr" lIns="45720" rIns="45720" tIns="27432" bIns="27432">
            <a:spAutoFit/>
          </a:bodyPr>
          <a:lstStyle/>
          <a:p>
            <a:pPr algn="l">
              <a:spcAft>
                <a:spcPts val="400"/>
              </a:spcAft>
            </a:pPr>
            <a:r>
              <a:rPr sz="3000" b="1">
                <a:solidFill>
                  <a:srgbClr val="14342B"/>
                </a:solidFill>
                <a:latin typeface="Cambria"/>
              </a:rPr>
              <a:t>Accuracy points and proof</a:t>
            </a:r>
          </a:p>
        </p:txBody>
      </p:sp>
      <p:sp>
        <p:nvSpPr>
          <p:cNvPr id="3" name="TextBox 2"/>
          <p:cNvSpPr txBox="1"/>
          <p:nvPr/>
        </p:nvSpPr>
        <p:spPr>
          <a:xfrm>
            <a:off x="548640" y="932688"/>
            <a:ext cx="11064240" cy="384048"/>
          </a:xfrm>
          <a:prstGeom prst="rect">
            <a:avLst/>
          </a:prstGeom>
          <a:noFill/>
        </p:spPr>
        <p:txBody>
          <a:bodyPr wrap="square" anchor="t" lIns="45720" rIns="45720" tIns="27432" bIns="27432">
            <a:spAutoFit/>
          </a:bodyPr>
          <a:lstStyle/>
          <a:p>
            <a:pPr algn="l">
              <a:spcAft>
                <a:spcPts val="400"/>
              </a:spcAft>
            </a:pPr>
            <a:r>
              <a:rPr sz="1600" b="0">
                <a:solidFill>
                  <a:srgbClr val="5B6B62"/>
                </a:solidFill>
                <a:latin typeface="Calibri"/>
              </a:rPr>
              <a:t>Every number: what it means, and where it comes from</a:t>
            </a:r>
          </a:p>
        </p:txBody>
      </p:sp>
      <p:graphicFrame>
        <p:nvGraphicFramePr>
          <p:cNvPr id="4" name="Table 3"/>
          <p:cNvGraphicFramePr>
            <a:graphicFrameLocks noGrp="1"/>
          </p:cNvGraphicFramePr>
          <p:nvPr/>
        </p:nvGraphicFramePr>
        <p:xfrm>
          <a:off x="548640" y="1371600"/>
          <a:ext cx="11064240" cy="3657600"/>
        </p:xfrm>
        <a:graphic>
          <a:graphicData uri="http://schemas.openxmlformats.org/drawingml/2006/table">
            <a:tbl>
              <a:tblPr firstRow="1" bandRow="1">
                <a:tableStyleId>{5C22544A-7EE6-4342-B048-85BDC9FD1C3A}</a:tableStyleId>
              </a:tblPr>
              <a:tblGrid>
                <a:gridCol w="457200"/>
                <a:gridCol w="3108960"/>
                <a:gridCol w="4572000"/>
                <a:gridCol w="2926080"/>
              </a:tblGrid>
              <a:tr h="457200">
                <a:tc>
                  <a:txBody>
                    <a:bodyPr wrap="square"/>
                    <a:lstStyle/>
                    <a:p>
                      <a:r>
                        <a:rPr sz="1200" b="1">
                          <a:solidFill>
                            <a:srgbClr val="FFFFFF"/>
                          </a:solidFill>
                          <a:latin typeface="Calibri"/>
                        </a:rPr>
                        <a:t/>
                      </a:r>
                    </a:p>
                  </a:txBody>
                  <a:tcPr marL="54864" marR="54864" marT="18288" marB="18288" anchor="ctr">
                    <a:solidFill>
                      <a:srgbClr val="14342B"/>
                    </a:solidFill>
                  </a:tcPr>
                </a:tc>
                <a:tc>
                  <a:txBody>
                    <a:bodyPr wrap="square"/>
                    <a:lstStyle/>
                    <a:p>
                      <a:r>
                        <a:rPr sz="1200" b="1">
                          <a:solidFill>
                            <a:srgbClr val="FFFFFF"/>
                          </a:solidFill>
                          <a:latin typeface="Calibri"/>
                        </a:rPr>
                        <a:t>Accuracy point</a:t>
                      </a:r>
                    </a:p>
                  </a:txBody>
                  <a:tcPr marL="54864" marR="54864" marT="18288" marB="18288" anchor="ctr">
                    <a:solidFill>
                      <a:srgbClr val="14342B"/>
                    </a:solidFill>
                  </a:tcPr>
                </a:tc>
                <a:tc>
                  <a:txBody>
                    <a:bodyPr wrap="square"/>
                    <a:lstStyle/>
                    <a:p>
                      <a:r>
                        <a:rPr sz="1200" b="1">
                          <a:solidFill>
                            <a:srgbClr val="FFFFFF"/>
                          </a:solidFill>
                          <a:latin typeface="Calibri"/>
                        </a:rPr>
                        <a:t>Number</a:t>
                      </a:r>
                    </a:p>
                  </a:txBody>
                  <a:tcPr marL="54864" marR="54864" marT="18288" marB="18288" anchor="ctr">
                    <a:solidFill>
                      <a:srgbClr val="14342B"/>
                    </a:solidFill>
                  </a:tcPr>
                </a:tc>
                <a:tc>
                  <a:txBody>
                    <a:bodyPr wrap="square"/>
                    <a:lstStyle/>
                    <a:p>
                      <a:r>
                        <a:rPr sz="1200" b="1">
                          <a:solidFill>
                            <a:srgbClr val="FFFFFF"/>
                          </a:solidFill>
                          <a:latin typeface="Calibri"/>
                        </a:rPr>
                        <a:t>Where it comes from</a:t>
                      </a:r>
                    </a:p>
                  </a:txBody>
                  <a:tcPr marL="54864" marR="54864" marT="18288" marB="18288" anchor="ctr">
                    <a:solidFill>
                      <a:srgbClr val="14342B"/>
                    </a:solidFill>
                  </a:tcPr>
                </a:tc>
              </a:tr>
              <a:tr h="457200">
                <a:tc>
                  <a:txBody>
                    <a:bodyPr wrap="square"/>
                    <a:lstStyle/>
                    <a:p>
                      <a:r>
                        <a:rPr sz="1200" b="1">
                          <a:solidFill>
                            <a:srgbClr val="1B2A22"/>
                          </a:solidFill>
                          <a:latin typeface="Calibri"/>
                        </a:rPr>
                        <a:t>A</a:t>
                      </a:r>
                    </a:p>
                  </a:txBody>
                  <a:tcPr marL="54864" marR="54864" marT="18288" marB="18288" anchor="ctr">
                    <a:solidFill>
                      <a:srgbClr val="FFFFFF"/>
                    </a:solidFill>
                  </a:tcPr>
                </a:tc>
                <a:tc>
                  <a:txBody>
                    <a:bodyPr wrap="square"/>
                    <a:lstStyle/>
                    <a:p>
                      <a:r>
                        <a:rPr sz="1200">
                          <a:solidFill>
                            <a:srgbClr val="1B2A22"/>
                          </a:solidFill>
                          <a:latin typeface="Calibri"/>
                        </a:rPr>
                        <a:t>Angle chosen vs full 0.5 degree search</a:t>
                      </a:r>
                    </a:p>
                  </a:txBody>
                  <a:tcPr marL="54864" marR="54864" marT="18288" marB="18288" anchor="ctr">
                    <a:solidFill>
                      <a:srgbClr val="FFFFFF"/>
                    </a:solidFill>
                  </a:tcPr>
                </a:tc>
                <a:tc>
                  <a:txBody>
                    <a:bodyPr wrap="square"/>
                    <a:lstStyle/>
                    <a:p>
                      <a:r>
                        <a:rPr sz="1200">
                          <a:solidFill>
                            <a:srgbClr val="1B2A22"/>
                          </a:solidFill>
                          <a:latin typeface="Calibri"/>
                        </a:rPr>
                        <a:t>0.0 degrees at clear noon (worst tested 3 degrees, score within 0.02 %)</a:t>
                      </a:r>
                    </a:p>
                  </a:txBody>
                  <a:tcPr marL="54864" marR="54864" marT="18288" marB="18288" anchor="ctr">
                    <a:solidFill>
                      <a:srgbClr val="FFFFFF"/>
                    </a:solidFill>
                  </a:tcPr>
                </a:tc>
                <a:tc>
                  <a:txBody>
                    <a:bodyPr wrap="square"/>
                    <a:lstStyle/>
                    <a:p>
                      <a:r>
                        <a:rPr sz="1200">
                          <a:solidFill>
                            <a:srgbClr val="1B2A22"/>
                          </a:solidFill>
                          <a:latin typeface="Calibri"/>
                        </a:rPr>
                        <a:t>search built into the dashboard (Explain window)</a:t>
                      </a:r>
                    </a:p>
                  </a:txBody>
                  <a:tcPr marL="54864" marR="54864" marT="18288" marB="18288" anchor="ctr">
                    <a:solidFill>
                      <a:srgbClr val="FFFFFF"/>
                    </a:solidFill>
                  </a:tcPr>
                </a:tc>
              </a:tr>
              <a:tr h="457200">
                <a:tc>
                  <a:txBody>
                    <a:bodyPr wrap="square"/>
                    <a:lstStyle/>
                    <a:p>
                      <a:r>
                        <a:rPr sz="1200" b="1">
                          <a:solidFill>
                            <a:srgbClr val="1B2A22"/>
                          </a:solidFill>
                          <a:latin typeface="Calibri"/>
                        </a:rPr>
                        <a:t>B</a:t>
                      </a:r>
                    </a:p>
                  </a:txBody>
                  <a:tcPr marL="54864" marR="54864" marT="18288" marB="18288" anchor="ctr">
                    <a:solidFill>
                      <a:srgbClr val="E6EEE0"/>
                    </a:solidFill>
                  </a:tcPr>
                </a:tc>
                <a:tc>
                  <a:txBody>
                    <a:bodyPr wrap="square"/>
                    <a:lstStyle/>
                    <a:p>
                      <a:r>
                        <a:rPr sz="1200">
                          <a:solidFill>
                            <a:srgbClr val="1B2A22"/>
                          </a:solidFill>
                          <a:latin typeface="Calibri"/>
                        </a:rPr>
                        <a:t>Gain over a fixed 45 degree panel</a:t>
                      </a:r>
                    </a:p>
                  </a:txBody>
                  <a:tcPr marL="54864" marR="54864" marT="18288" marB="18288" anchor="ctr">
                    <a:solidFill>
                      <a:srgbClr val="E6EEE0"/>
                    </a:solidFill>
                  </a:tcPr>
                </a:tc>
                <a:tc>
                  <a:txBody>
                    <a:bodyPr wrap="square"/>
                    <a:lstStyle/>
                    <a:p>
                      <a:r>
                        <a:rPr sz="1200">
                          <a:solidFill>
                            <a:srgbClr val="1B2A22"/>
                          </a:solidFill>
                          <a:latin typeface="Calibri"/>
                        </a:rPr>
                        <a:t>electricity +2.5 %, crop light +9.7 % (clear day)</a:t>
                      </a:r>
                    </a:p>
                  </a:txBody>
                  <a:tcPr marL="54864" marR="54864" marT="18288" marB="18288" anchor="ctr">
                    <a:solidFill>
                      <a:srgbClr val="E6EEE0"/>
                    </a:solidFill>
                  </a:tcPr>
                </a:tc>
                <a:tc>
                  <a:txBody>
                    <a:bodyPr wrap="square"/>
                    <a:lstStyle/>
                    <a:p>
                      <a:r>
                        <a:rPr sz="1200">
                          <a:solidFill>
                            <a:srgbClr val="1B2A22"/>
                          </a:solidFill>
                          <a:latin typeface="Calibri"/>
                        </a:rPr>
                        <a:t>results/day_comparison.csv</a:t>
                      </a:r>
                    </a:p>
                  </a:txBody>
                  <a:tcPr marL="54864" marR="54864" marT="18288" marB="18288" anchor="ctr">
                    <a:solidFill>
                      <a:srgbClr val="E6EEE0"/>
                    </a:solidFill>
                  </a:tcPr>
                </a:tc>
              </a:tr>
              <a:tr h="457200">
                <a:tc>
                  <a:txBody>
                    <a:bodyPr wrap="square"/>
                    <a:lstStyle/>
                    <a:p>
                      <a:r>
                        <a:rPr sz="1200" b="1">
                          <a:solidFill>
                            <a:srgbClr val="1B2A22"/>
                          </a:solidFill>
                          <a:latin typeface="Calibri"/>
                        </a:rPr>
                        <a:t>C</a:t>
                      </a:r>
                    </a:p>
                  </a:txBody>
                  <a:tcPr marL="54864" marR="54864" marT="18288" marB="18288" anchor="ctr">
                    <a:solidFill>
                      <a:srgbClr val="FFFFFF"/>
                    </a:solidFill>
                  </a:tcPr>
                </a:tc>
                <a:tc>
                  <a:txBody>
                    <a:bodyPr wrap="square"/>
                    <a:lstStyle/>
                    <a:p>
                      <a:r>
                        <a:rPr sz="1200">
                          <a:solidFill>
                            <a:srgbClr val="1B2A22"/>
                          </a:solidFill>
                          <a:latin typeface="Calibri"/>
                        </a:rPr>
                        <a:t>MPPT tracking efficiency</a:t>
                      </a:r>
                    </a:p>
                  </a:txBody>
                  <a:tcPr marL="54864" marR="54864" marT="18288" marB="18288" anchor="ctr">
                    <a:solidFill>
                      <a:srgbClr val="FFFFFF"/>
                    </a:solidFill>
                  </a:tcPr>
                </a:tc>
                <a:tc>
                  <a:txBody>
                    <a:bodyPr wrap="square"/>
                    <a:lstStyle/>
                    <a:p>
                      <a:r>
                        <a:rPr sz="1200">
                          <a:solidFill>
                            <a:srgbClr val="1B2A22"/>
                          </a:solidFill>
                          <a:latin typeface="Calibri"/>
                        </a:rPr>
                        <a:t>99.83 % (fixed voltage 96.95 %)</a:t>
                      </a:r>
                    </a:p>
                  </a:txBody>
                  <a:tcPr marL="54864" marR="54864" marT="18288" marB="18288" anchor="ctr">
                    <a:solidFill>
                      <a:srgbClr val="FFFFFF"/>
                    </a:solidFill>
                  </a:tcPr>
                </a:tc>
                <a:tc>
                  <a:txBody>
                    <a:bodyPr wrap="square"/>
                    <a:lstStyle/>
                    <a:p>
                      <a:r>
                        <a:rPr sz="1200">
                          <a:solidFill>
                            <a:srgbClr val="1B2A22"/>
                          </a:solidFill>
                          <a:latin typeface="Calibri"/>
                        </a:rPr>
                        <a:t>results/mppt_study.md</a:t>
                      </a:r>
                    </a:p>
                  </a:txBody>
                  <a:tcPr marL="54864" marR="54864" marT="18288" marB="18288" anchor="ctr">
                    <a:solidFill>
                      <a:srgbClr val="FFFFFF"/>
                    </a:solidFill>
                  </a:tcPr>
                </a:tc>
              </a:tr>
              <a:tr h="457200">
                <a:tc>
                  <a:txBody>
                    <a:bodyPr wrap="square"/>
                    <a:lstStyle/>
                    <a:p>
                      <a:r>
                        <a:rPr sz="1200" b="1">
                          <a:solidFill>
                            <a:srgbClr val="1B2A22"/>
                          </a:solidFill>
                          <a:latin typeface="Calibri"/>
                        </a:rPr>
                        <a:t>D</a:t>
                      </a:r>
                    </a:p>
                  </a:txBody>
                  <a:tcPr marL="54864" marR="54864" marT="18288" marB="18288" anchor="ctr">
                    <a:solidFill>
                      <a:srgbClr val="E6EEE0"/>
                    </a:solidFill>
                  </a:tcPr>
                </a:tc>
                <a:tc>
                  <a:txBody>
                    <a:bodyPr wrap="square"/>
                    <a:lstStyle/>
                    <a:p>
                      <a:r>
                        <a:rPr sz="1200">
                          <a:solidFill>
                            <a:srgbClr val="1B2A22"/>
                          </a:solidFill>
                          <a:latin typeface="Calibri"/>
                        </a:rPr>
                        <a:t>Real sensors</a:t>
                      </a:r>
                    </a:p>
                  </a:txBody>
                  <a:tcPr marL="54864" marR="54864" marT="18288" marB="18288" anchor="ctr">
                    <a:solidFill>
                      <a:srgbClr val="E6EEE0"/>
                    </a:solidFill>
                  </a:tcPr>
                </a:tc>
                <a:tc>
                  <a:txBody>
                    <a:bodyPr wrap="square"/>
                    <a:lstStyle/>
                    <a:p>
                      <a:r>
                        <a:rPr sz="1200">
                          <a:solidFill>
                            <a:srgbClr val="1B2A22"/>
                          </a:solidFill>
                          <a:latin typeface="Calibri"/>
                        </a:rPr>
                        <a:t>DHT11: 2 C, 5 % RH (datasheet). Bench: ______ C vs ______ C</a:t>
                      </a:r>
                    </a:p>
                  </a:txBody>
                  <a:tcPr marL="54864" marR="54864" marT="18288" marB="18288" anchor="ctr">
                    <a:solidFill>
                      <a:srgbClr val="E6EEE0"/>
                    </a:solidFill>
                  </a:tcPr>
                </a:tc>
                <a:tc>
                  <a:txBody>
                    <a:bodyPr wrap="square"/>
                    <a:lstStyle/>
                    <a:p>
                      <a:r>
                        <a:rPr sz="1200">
                          <a:solidFill>
                            <a:srgbClr val="1B2A22"/>
                          </a:solidFill>
                          <a:latin typeface="Calibri"/>
                        </a:rPr>
                        <a:t>datasheet; thermometer check on the day</a:t>
                      </a:r>
                    </a:p>
                  </a:txBody>
                  <a:tcPr marL="54864" marR="54864" marT="18288" marB="18288" anchor="ctr">
                    <a:solidFill>
                      <a:srgbClr val="E6EEE0"/>
                    </a:solidFill>
                  </a:tcPr>
                </a:tc>
              </a:tr>
              <a:tr h="457200">
                <a:tc>
                  <a:txBody>
                    <a:bodyPr wrap="square"/>
                    <a:lstStyle/>
                    <a:p>
                      <a:r>
                        <a:rPr sz="1200" b="1">
                          <a:solidFill>
                            <a:srgbClr val="1B2A22"/>
                          </a:solidFill>
                          <a:latin typeface="Calibri"/>
                        </a:rPr>
                        <a:t>E</a:t>
                      </a:r>
                    </a:p>
                  </a:txBody>
                  <a:tcPr marL="54864" marR="54864" marT="18288" marB="18288" anchor="ctr">
                    <a:solidFill>
                      <a:srgbClr val="FFFFFF"/>
                    </a:solidFill>
                  </a:tcPr>
                </a:tc>
                <a:tc>
                  <a:txBody>
                    <a:bodyPr wrap="square"/>
                    <a:lstStyle/>
                    <a:p>
                      <a:r>
                        <a:rPr sz="1200">
                          <a:solidFill>
                            <a:srgbClr val="1B2A22"/>
                          </a:solidFill>
                          <a:latin typeface="Calibri"/>
                        </a:rPr>
                        <a:t>Solar and shadow equations</a:t>
                      </a:r>
                    </a:p>
                  </a:txBody>
                  <a:tcPr marL="54864" marR="54864" marT="18288" marB="18288" anchor="ctr">
                    <a:solidFill>
                      <a:srgbClr val="FFFFFF"/>
                    </a:solidFill>
                  </a:tcPr>
                </a:tc>
                <a:tc>
                  <a:txBody>
                    <a:bodyPr wrap="square"/>
                    <a:lstStyle/>
                    <a:p>
                      <a:r>
                        <a:rPr sz="1200">
                          <a:solidFill>
                            <a:srgbClr val="1B2A22"/>
                          </a:solidFill>
                          <a:latin typeface="Calibri"/>
                        </a:rPr>
                        <a:t>+5.0 % per year vs PVGIS; shadow difference 0.010 vs Blender</a:t>
                      </a:r>
                    </a:p>
                  </a:txBody>
                  <a:tcPr marL="54864" marR="54864" marT="18288" marB="18288" anchor="ctr">
                    <a:solidFill>
                      <a:srgbClr val="FFFFFF"/>
                    </a:solidFill>
                  </a:tcPr>
                </a:tc>
                <a:tc>
                  <a:txBody>
                    <a:bodyPr wrap="square"/>
                    <a:lstStyle/>
                    <a:p>
                      <a:r>
                        <a:rPr sz="1200">
                          <a:solidFill>
                            <a:srgbClr val="1B2A22"/>
                          </a:solidFill>
                          <a:latin typeface="Calibri"/>
                        </a:rPr>
                        <a:t>PVGIS service; Blender Cycles ray tracing</a:t>
                      </a:r>
                    </a:p>
                  </a:txBody>
                  <a:tcPr marL="54864" marR="54864" marT="18288" marB="18288" anchor="ctr">
                    <a:solidFill>
                      <a:srgbClr val="FFFFFF"/>
                    </a:solidFill>
                  </a:tcPr>
                </a:tc>
              </a:tr>
              <a:tr h="457200">
                <a:tc>
                  <a:txBody>
                    <a:bodyPr wrap="square"/>
                    <a:lstStyle/>
                    <a:p>
                      <a:r>
                        <a:rPr sz="1200" b="1">
                          <a:solidFill>
                            <a:srgbClr val="1B2A22"/>
                          </a:solidFill>
                          <a:latin typeface="Calibri"/>
                        </a:rPr>
                        <a:t>F</a:t>
                      </a:r>
                    </a:p>
                  </a:txBody>
                  <a:tcPr marL="54864" marR="54864" marT="18288" marB="18288" anchor="ctr">
                    <a:solidFill>
                      <a:srgbClr val="E6EEE0"/>
                    </a:solidFill>
                  </a:tcPr>
                </a:tc>
                <a:tc>
                  <a:txBody>
                    <a:bodyPr wrap="square"/>
                    <a:lstStyle/>
                    <a:p>
                      <a:r>
                        <a:rPr sz="1200">
                          <a:solidFill>
                            <a:srgbClr val="1B2A22"/>
                          </a:solidFill>
                          <a:latin typeface="Calibri"/>
                        </a:rPr>
                        <a:t>Simulated-sensor error</a:t>
                      </a:r>
                    </a:p>
                  </a:txBody>
                  <a:tcPr marL="54864" marR="54864" marT="18288" marB="18288" anchor="ctr">
                    <a:solidFill>
                      <a:srgbClr val="E6EEE0"/>
                    </a:solidFill>
                  </a:tcPr>
                </a:tc>
                <a:tc>
                  <a:txBody>
                    <a:bodyPr wrap="square"/>
                    <a:lstStyle/>
                    <a:p>
                      <a:r>
                        <a:rPr sz="1200">
                          <a:solidFill>
                            <a:srgbClr val="1B2A22"/>
                          </a:solidFill>
                          <a:latin typeface="Calibri"/>
                        </a:rPr>
                        <a:t>wrong by 5 %: 2.5 % less electricity; by 10 %: 5.1 % (worst half-hour 35 %)</a:t>
                      </a:r>
                    </a:p>
                  </a:txBody>
                  <a:tcPr marL="54864" marR="54864" marT="18288" marB="18288" anchor="ctr">
                    <a:solidFill>
                      <a:srgbClr val="E6EEE0"/>
                    </a:solidFill>
                  </a:tcPr>
                </a:tc>
                <a:tc>
                  <a:txBody>
                    <a:bodyPr wrap="square"/>
                    <a:lstStyle/>
                    <a:p>
                      <a:r>
                        <a:rPr sz="1200">
                          <a:solidFill>
                            <a:srgbClr val="1B2A22"/>
                          </a:solidFill>
                          <a:latin typeface="Calibri"/>
                        </a:rPr>
                        <a:t>results/sensor_trust_study.csv</a:t>
                      </a:r>
                    </a:p>
                  </a:txBody>
                  <a:tcPr marL="54864" marR="54864" marT="18288" marB="18288" anchor="ctr">
                    <a:solidFill>
                      <a:srgbClr val="E6EEE0"/>
                    </a:solidFill>
                  </a:tcPr>
                </a:tc>
              </a:tr>
              <a:tr h="457200">
                <a:tc>
                  <a:txBody>
                    <a:bodyPr wrap="square"/>
                    <a:lstStyle/>
                    <a:p>
                      <a:r>
                        <a:rPr sz="1200" b="1">
                          <a:solidFill>
                            <a:srgbClr val="1B2A22"/>
                          </a:solidFill>
                          <a:latin typeface="Calibri"/>
                        </a:rPr>
                        <a:t>T</a:t>
                      </a:r>
                    </a:p>
                  </a:txBody>
                  <a:tcPr marL="54864" marR="54864" marT="18288" marB="18288" anchor="ctr">
                    <a:solidFill>
                      <a:srgbClr val="FFFFFF"/>
                    </a:solidFill>
                  </a:tcPr>
                </a:tc>
                <a:tc>
                  <a:txBody>
                    <a:bodyPr wrap="square"/>
                    <a:lstStyle/>
                    <a:p>
                      <a:r>
                        <a:rPr sz="1200">
                          <a:solidFill>
                            <a:srgbClr val="1B2A22"/>
                          </a:solidFill>
                          <a:latin typeface="Calibri"/>
                        </a:rPr>
                        <a:t>Software tests of every rule</a:t>
                      </a:r>
                    </a:p>
                  </a:txBody>
                  <a:tcPr marL="54864" marR="54864" marT="18288" marB="18288" anchor="ctr">
                    <a:solidFill>
                      <a:srgbClr val="FFFFFF"/>
                    </a:solidFill>
                  </a:tcPr>
                </a:tc>
                <a:tc>
                  <a:txBody>
                    <a:bodyPr wrap="square"/>
                    <a:lstStyle/>
                    <a:p>
                      <a:r>
                        <a:rPr sz="1200">
                          <a:solidFill>
                            <a:srgbClr val="1B2A22"/>
                          </a:solidFill>
                          <a:latin typeface="Calibri"/>
                        </a:rPr>
                        <a:t>29 of 29 pass</a:t>
                      </a:r>
                    </a:p>
                  </a:txBody>
                  <a:tcPr marL="54864" marR="54864" marT="18288" marB="18288" anchor="ctr">
                    <a:solidFill>
                      <a:srgbClr val="FFFFFF"/>
                    </a:solidFill>
                  </a:tcPr>
                </a:tc>
                <a:tc>
                  <a:txBody>
                    <a:bodyPr wrap="square"/>
                    <a:lstStyle/>
                    <a:p>
                      <a:r>
                        <a:rPr sz="1200">
                          <a:solidFill>
                            <a:srgbClr val="1B2A22"/>
                          </a:solidFill>
                          <a:latin typeface="Calibri"/>
                        </a:rPr>
                        <a:t>results/test_results.md, sensor_and_mppt_tests.md</a:t>
                      </a:r>
                    </a:p>
                  </a:txBody>
                  <a:tcPr marL="54864" marR="54864" marT="18288" marB="18288" anchor="ctr">
                    <a:solidFill>
                      <a:srgbClr val="FFFFFF"/>
                    </a:solidFill>
                  </a:tcPr>
                </a:tc>
              </a:tr>
            </a:tbl>
          </a:graphicData>
        </a:graphic>
      </p:graphicFrame>
      <p:sp>
        <p:nvSpPr>
          <p:cNvPr id="5" name="Rounded Rectangle 4"/>
          <p:cNvSpPr/>
          <p:nvPr/>
        </p:nvSpPr>
        <p:spPr>
          <a:xfrm>
            <a:off x="548640" y="5166360"/>
            <a:ext cx="5394960" cy="1463040"/>
          </a:xfrm>
          <a:prstGeom prst="roundRect">
            <a:avLst>
              <a:gd name="adj" fmla="val 6000"/>
            </a:avLst>
          </a:prstGeom>
          <a:solidFill>
            <a:srgbClr val="FFFFFF"/>
          </a:solidFill>
          <a:ln w="15875">
            <a:solidFill>
              <a:srgbClr val="B030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193792"/>
            <a:ext cx="5120640" cy="274320"/>
          </a:xfrm>
          <a:prstGeom prst="rect">
            <a:avLst/>
          </a:prstGeom>
          <a:noFill/>
        </p:spPr>
        <p:txBody>
          <a:bodyPr wrap="square" anchor="t" lIns="45720" rIns="45720" tIns="27432" bIns="27432">
            <a:spAutoFit/>
          </a:bodyPr>
          <a:lstStyle/>
          <a:p>
            <a:pPr algn="l">
              <a:spcAft>
                <a:spcPts val="400"/>
              </a:spcAft>
            </a:pPr>
            <a:r>
              <a:rPr sz="1400" b="1">
                <a:solidFill>
                  <a:srgbClr val="B03030"/>
                </a:solidFill>
                <a:latin typeface="Calibri"/>
              </a:rPr>
              <a:t>What we do NOT claim</a:t>
            </a:r>
          </a:p>
        </p:txBody>
      </p:sp>
      <p:sp>
        <p:nvSpPr>
          <p:cNvPr id="7" name="TextBox 6"/>
          <p:cNvSpPr txBox="1"/>
          <p:nvPr/>
        </p:nvSpPr>
        <p:spPr>
          <a:xfrm>
            <a:off x="685800" y="5486400"/>
            <a:ext cx="5166360" cy="1097280"/>
          </a:xfrm>
          <a:prstGeom prst="rect">
            <a:avLst/>
          </a:prstGeom>
          <a:noFill/>
        </p:spPr>
        <p:txBody>
          <a:bodyPr wrap="square">
            <a:spAutoFit/>
          </a:bodyPr>
          <a:lstStyle/>
          <a:p>
            <a:pPr>
              <a:spcAft>
                <a:spcPts val="200"/>
              </a:spcAft>
            </a:pPr>
            <a:r>
              <a:rPr sz="1200" b="0">
                <a:solidFill>
                  <a:srgbClr val="1B2A22"/>
                </a:solidFill>
                <a:latin typeface="Calibri"/>
              </a:rPr>
              <a:t>•  Sunlight and PAR are simulated, not measured</a:t>
            </a:r>
          </a:p>
          <a:p>
            <a:pPr>
              <a:spcAft>
                <a:spcPts val="200"/>
              </a:spcAft>
            </a:pPr>
            <a:r>
              <a:rPr sz="1200" b="0">
                <a:solidFill>
                  <a:srgbClr val="1B2A22"/>
                </a:solidFill>
                <a:latin typeface="Calibri"/>
              </a:rPr>
              <a:t>•  No field data yet; the tilt is shown on screen only</a:t>
            </a:r>
          </a:p>
          <a:p>
            <a:pPr>
              <a:spcAft>
                <a:spcPts val="200"/>
              </a:spcAft>
            </a:pPr>
            <a:r>
              <a:rPr sz="1200" b="0">
                <a:solidFill>
                  <a:srgbClr val="1B2A22"/>
                </a:solidFill>
                <a:latin typeface="Calibri"/>
              </a:rPr>
              <a:t>•  MPPT and module data are for a typical 400 W module</a:t>
            </a:r>
          </a:p>
        </p:txBody>
      </p:sp>
      <p:sp>
        <p:nvSpPr>
          <p:cNvPr id="8" name="Rounded Rectangle 7"/>
          <p:cNvSpPr/>
          <p:nvPr/>
        </p:nvSpPr>
        <p:spPr>
          <a:xfrm>
            <a:off x="6217920" y="5166360"/>
            <a:ext cx="5440680" cy="1463040"/>
          </a:xfrm>
          <a:prstGeom prst="roundRect">
            <a:avLst>
              <a:gd name="adj" fmla="val 6000"/>
            </a:avLst>
          </a:prstGeom>
          <a:solidFill>
            <a:srgbClr val="FFFFFF"/>
          </a:solidFill>
          <a:ln w="15875">
            <a:solidFill>
              <a:srgbClr val="4E9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5193792"/>
            <a:ext cx="5120640" cy="274320"/>
          </a:xfrm>
          <a:prstGeom prst="rect">
            <a:avLst/>
          </a:prstGeom>
          <a:noFill/>
        </p:spPr>
        <p:txBody>
          <a:bodyPr wrap="square" anchor="t" lIns="45720" rIns="45720" tIns="27432" bIns="27432">
            <a:spAutoFit/>
          </a:bodyPr>
          <a:lstStyle/>
          <a:p>
            <a:pPr algn="l">
              <a:spcAft>
                <a:spcPts val="400"/>
              </a:spcAft>
            </a:pPr>
            <a:r>
              <a:rPr sz="1400" b="1">
                <a:solidFill>
                  <a:srgbClr val="4E9A2E"/>
                </a:solidFill>
                <a:latin typeface="Calibri"/>
              </a:rPr>
              <a:t>Next steps</a:t>
            </a:r>
          </a:p>
        </p:txBody>
      </p:sp>
      <p:sp>
        <p:nvSpPr>
          <p:cNvPr id="10" name="TextBox 9"/>
          <p:cNvSpPr txBox="1"/>
          <p:nvPr/>
        </p:nvSpPr>
        <p:spPr>
          <a:xfrm>
            <a:off x="6355080" y="5486400"/>
            <a:ext cx="5166360" cy="1097280"/>
          </a:xfrm>
          <a:prstGeom prst="rect">
            <a:avLst/>
          </a:prstGeom>
          <a:noFill/>
        </p:spPr>
        <p:txBody>
          <a:bodyPr wrap="square">
            <a:spAutoFit/>
          </a:bodyPr>
          <a:lstStyle/>
          <a:p>
            <a:pPr>
              <a:spcAft>
                <a:spcPts val="200"/>
              </a:spcAft>
            </a:pPr>
            <a:r>
              <a:rPr sz="1200" b="0">
                <a:solidFill>
                  <a:srgbClr val="1B2A22"/>
                </a:solidFill>
                <a:latin typeface="Calibri"/>
              </a:rPr>
              <a:t>•  Connect a real pyranometer and PAR sensor</a:t>
            </a:r>
          </a:p>
          <a:p>
            <a:pPr>
              <a:spcAft>
                <a:spcPts val="200"/>
              </a:spcAft>
            </a:pPr>
            <a:r>
              <a:rPr sz="1200" b="0">
                <a:solidFill>
                  <a:srgbClr val="1B2A22"/>
                </a:solidFill>
                <a:latin typeface="Calibri"/>
              </a:rPr>
              <a:t>•  Add a motor and a hardware MPPT converter</a:t>
            </a:r>
          </a:p>
          <a:p>
            <a:pPr>
              <a:spcAft>
                <a:spcPts val="200"/>
              </a:spcAft>
            </a:pPr>
            <a:r>
              <a:rPr sz="1200" b="0">
                <a:solidFill>
                  <a:srgbClr val="1B2A22"/>
                </a:solidFill>
                <a:latin typeface="Calibri"/>
              </a:rPr>
              <a:t>•  Log a week of real sensor data and compare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