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183112" cy="658368"/>
          </a:xfrm>
          <a:prstGeom prst="rect">
            <a:avLst/>
          </a:prstGeom>
          <a:solidFill>
            <a:srgbClr val="00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sz="2500" b="1">
                <a:solidFill>
                  <a:srgbClr val="193D33"/>
                </a:solidFill>
                <a:latin typeface="Aptos Display"/>
              </a:defRPr>
            </a:pPr>
            <a:r>
              <a:t>Technical Feasibility and Practical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33271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63"/>
                </a:solidFill>
                <a:latin typeface="Aptos"/>
              </a:defRPr>
            </a:pPr>
            <a:r>
              <a:t>Low-cost sensing, MATLAB-based optimisation and safety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64592" bIns="109728"/>
          <a:lstStyle/>
          <a:p>
            <a:pPr algn="ctr">
              <a:spcAft>
                <a:spcPts val="1000"/>
              </a:spcAft>
              <a:defRPr sz="1900" b="1">
                <a:solidFill>
                  <a:srgbClr val="193D33"/>
                </a:solidFill>
                <a:latin typeface="Aptos Display"/>
              </a:defRPr>
            </a:pPr>
            <a:r>
              <a:t>TECHNICAL FEASIBILITY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Uses low-cost sensors, an ESP NodeMCU board and MATLAB-based control logic.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Panel tilt range: 15°–60° for energy and crop-light optimisation.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Rain and wind safety positions are included in the control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600200"/>
            <a:ext cx="539496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64592" bIns="109728"/>
          <a:lstStyle/>
          <a:p>
            <a:pPr algn="ctr">
              <a:spcAft>
                <a:spcPts val="1000"/>
              </a:spcAft>
              <a:defRPr sz="1900" b="1">
                <a:solidFill>
                  <a:srgbClr val="193D33"/>
                </a:solidFill>
                <a:latin typeface="Aptos Display"/>
              </a:defRPr>
            </a:pPr>
            <a:r>
              <a:t>PRACTICAL CONSTRAINTS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Structural strength and wind-load resistance must be verified before fabrication.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Pyranometer, PAR and wind inputs are currently simulated.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Real-sensor integration and physical tilt mechanism validation remain pending.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A63"/>
                </a:solidFill>
                <a:latin typeface="Aptos"/>
              </a:defRPr>
            </a:pPr>
            <a:r>
              <a:t>AGRIVOLTAIC CANOPY PROJECT  •  REVIEW PRESENTATION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183112" cy="658368"/>
          </a:xfrm>
          <a:prstGeom prst="rect">
            <a:avLst/>
          </a:prstGeom>
          <a:solidFill>
            <a:srgbClr val="00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sz="2500" b="1">
                <a:solidFill>
                  <a:srgbClr val="193D33"/>
                </a:solidFill>
                <a:latin typeface="Aptos Display"/>
              </a:defRPr>
            </a:pPr>
            <a:r>
              <a:t>Sustainability and SDG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33271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63"/>
                </a:solidFill>
                <a:latin typeface="Aptos"/>
              </a:defRPr>
            </a:pPr>
            <a:r>
              <a:t>How the proposed agrivoltaic canopy relates to selected Sustainable Development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106527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64592" bIns="109728"/>
          <a:lstStyle/>
          <a:p>
            <a:pPr algn="ctr">
              <a:spcAft>
                <a:spcPts val="1000"/>
              </a:spcAft>
              <a:defRPr sz="2100" b="1">
                <a:solidFill>
                  <a:srgbClr val="193D33"/>
                </a:solidFill>
                <a:latin typeface="Aptos Display"/>
              </a:defRPr>
            </a:pPr>
            <a:r>
              <a:t>SUSTAINABLE DEVELOPMENT GOALS</a:t>
            </a:r>
          </a:p>
          <a:p>
            <a:pPr>
              <a:spcAft>
                <a:spcPts val="800"/>
              </a:spcAft>
              <a:defRPr sz="2000">
                <a:solidFill>
                  <a:srgbClr val="2A3632"/>
                </a:solidFill>
                <a:latin typeface="Aptos"/>
              </a:defRPr>
            </a:pPr>
            <a:r>
              <a:t>SDG 7 – Clean Energy: Supports renewable electricity generation.</a:t>
            </a:r>
          </a:p>
          <a:p>
            <a:pPr>
              <a:spcAft>
                <a:spcPts val="800"/>
              </a:spcAft>
              <a:defRPr sz="2000">
                <a:solidFill>
                  <a:srgbClr val="2A3632"/>
                </a:solidFill>
                <a:latin typeface="Aptos"/>
              </a:defRPr>
            </a:pPr>
            <a:r>
              <a:t>SDG 2 – Zero Hunger: Combines solar energy generation with crop cultivation.</a:t>
            </a:r>
          </a:p>
          <a:p>
            <a:pPr>
              <a:spcAft>
                <a:spcPts val="800"/>
              </a:spcAft>
              <a:defRPr sz="2000">
                <a:solidFill>
                  <a:srgbClr val="2A3632"/>
                </a:solidFill>
                <a:latin typeface="Aptos"/>
              </a:defRPr>
            </a:pPr>
            <a:r>
              <a:t>SDG 6 – Clean Water: Collects rainwater for potential irrigation.</a:t>
            </a:r>
          </a:p>
          <a:p>
            <a:pPr>
              <a:spcAft>
                <a:spcPts val="800"/>
              </a:spcAft>
              <a:defRPr sz="2000">
                <a:solidFill>
                  <a:srgbClr val="2A3632"/>
                </a:solidFill>
                <a:latin typeface="Aptos"/>
              </a:defRPr>
            </a:pPr>
            <a:r>
              <a:t>SDG 13 – Climate Action: Promotes efficient use of energy and water.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A63"/>
                </a:solidFill>
                <a:latin typeface="Aptos"/>
              </a:defRPr>
            </a:pPr>
            <a:r>
              <a:t>AGRIVOLTAIC CANOPY PROJECT  •  REVIEW PRESENTATION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183112" cy="658368"/>
          </a:xfrm>
          <a:prstGeom prst="rect">
            <a:avLst/>
          </a:prstGeom>
          <a:solidFill>
            <a:srgbClr val="00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sz="2500" b="1">
                <a:solidFill>
                  <a:srgbClr val="193D33"/>
                </a:solidFill>
                <a:latin typeface="Aptos Display"/>
              </a:defRPr>
            </a:pPr>
            <a:r>
              <a:t>Prototype 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33271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63"/>
                </a:solidFill>
                <a:latin typeface="Aptos"/>
              </a:defRPr>
            </a:pPr>
            <a:r>
              <a:t>Preliminary estimate for the sensor-and-controller setup; confirm against actual bills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640080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64592" bIns="109728"/>
          <a:lstStyle/>
          <a:p>
            <a:pPr algn="ctr">
              <a:spcAft>
                <a:spcPts val="1000"/>
              </a:spcAft>
              <a:defRPr sz="2000" b="1">
                <a:solidFill>
                  <a:srgbClr val="193D33"/>
                </a:solidFill>
                <a:latin typeface="Aptos Display"/>
              </a:defRPr>
            </a:pPr>
            <a:r>
              <a:t>ESTIMATED HARDWARE COST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ESP NodeMCU – ₹400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ESP32 backup – ₹550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DHT11 sensor – ₹100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Soil moisture sensor – ₹80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Rain sensor – ₹80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Wires, breadboard and USB cable – ₹200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508760"/>
            <a:ext cx="4160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64592" bIns="109728"/>
          <a:lstStyle/>
          <a:p>
            <a:pPr algn="ctr">
              <a:spcAft>
                <a:spcPts val="1000"/>
              </a:spcAft>
              <a:defRPr sz="2000" b="1">
                <a:solidFill>
                  <a:srgbClr val="193D33"/>
                </a:solidFill>
                <a:latin typeface="Aptos Display"/>
              </a:defRPr>
            </a:pPr>
            <a:r>
              <a:t>SOFTWARE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MATLAB – college licence</a:t>
            </a:r>
          </a:p>
          <a:p>
            <a:pPr>
              <a:spcAft>
                <a:spcPts val="800"/>
              </a:spcAft>
              <a:defRPr sz="1800">
                <a:solidFill>
                  <a:srgbClr val="2A3632"/>
                </a:solidFill>
                <a:latin typeface="Aptos"/>
              </a:defRPr>
            </a:pPr>
            <a:r>
              <a:t>Arduino IDE – 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160520"/>
            <a:ext cx="4160520" cy="1005840"/>
          </a:xfrm>
          <a:prstGeom prst="roundRect">
            <a:avLst/>
          </a:prstGeom>
          <a:solidFill>
            <a:srgbClr val="E9F2E7"/>
          </a:solidFill>
          <a:ln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93D33"/>
                </a:solidFill>
                <a:latin typeface="Aptos Display"/>
              </a:defRPr>
            </a:pPr>
            <a:r>
              <a:t>ESTIMATED TOTAL: ₹1,410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5321808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C6A63"/>
                </a:solidFill>
                <a:latin typeface="Aptos"/>
              </a:defRPr>
            </a:pPr>
            <a:r>
              <a:t>Excludes frame, solar panels, actuator, gutters and rainwater 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A63"/>
                </a:solidFill>
                <a:latin typeface="Aptos"/>
              </a:defRPr>
            </a:pPr>
            <a:r>
              <a:t>AGRIVOLTAIC CANOPY PROJECT  •  REVIEW PRESENTATION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183112" cy="658368"/>
          </a:xfrm>
          <a:prstGeom prst="rect">
            <a:avLst/>
          </a:prstGeom>
          <a:solidFill>
            <a:srgbClr val="00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sz="2500" b="1">
                <a:solidFill>
                  <a:srgbClr val="193D33"/>
                </a:solidFill>
                <a:latin typeface="Aptos Display"/>
              </a:defRPr>
            </a:pPr>
            <a:r>
              <a:t>Project Progress and Review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33271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63"/>
                </a:solidFill>
                <a:latin typeface="Aptos"/>
              </a:defRPr>
            </a:pPr>
            <a:r>
              <a:t>Planned milestones from CAD design through prototype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828800"/>
            <a:ext cx="45720" cy="3931920"/>
          </a:xfrm>
          <a:prstGeom prst="rect">
            <a:avLst/>
          </a:prstGeom>
          <a:solidFill>
            <a:srgbClr val="75A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" y="1691639"/>
            <a:ext cx="438912" cy="438912"/>
          </a:xfrm>
          <a:prstGeom prst="ellipse">
            <a:avLst/>
          </a:prstGeom>
          <a:solidFill>
            <a:srgbClr val="00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709928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554480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600" b="1">
                <a:solidFill>
                  <a:srgbClr val="193D33"/>
                </a:solidFill>
                <a:latin typeface="Aptos Display"/>
              </a:defRPr>
            </a:pPr>
            <a:r>
              <a:t>REVIEW 1 · SEMESTER 8</a:t>
            </a:r>
          </a:p>
          <a:p>
            <a:pPr>
              <a:spcBef>
                <a:spcPts val="200"/>
              </a:spcBef>
              <a:defRPr sz="1400">
                <a:solidFill>
                  <a:srgbClr val="2A3632"/>
                </a:solidFill>
                <a:latin typeface="Aptos"/>
              </a:defRPr>
            </a:pPr>
            <a:r>
              <a:t>Initial project development and CAD design.</a:t>
            </a:r>
          </a:p>
        </p:txBody>
      </p:sp>
      <p:sp>
        <p:nvSpPr>
          <p:cNvPr id="8" name="Oval 7"/>
          <p:cNvSpPr/>
          <p:nvPr/>
        </p:nvSpPr>
        <p:spPr>
          <a:xfrm>
            <a:off x="758952" y="2743200"/>
            <a:ext cx="438912" cy="438912"/>
          </a:xfrm>
          <a:prstGeom prst="ellipse">
            <a:avLst/>
          </a:prstGeom>
          <a:solidFill>
            <a:srgbClr val="00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606040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600" b="1">
                <a:solidFill>
                  <a:srgbClr val="193D33"/>
                </a:solidFill>
                <a:latin typeface="Aptos Display"/>
              </a:defRPr>
            </a:pPr>
            <a:r>
              <a:t>REVIEW 2</a:t>
            </a:r>
          </a:p>
          <a:p>
            <a:pPr>
              <a:spcBef>
                <a:spcPts val="200"/>
              </a:spcBef>
              <a:defRPr sz="1400">
                <a:solidFill>
                  <a:srgbClr val="2A3632"/>
                </a:solidFill>
                <a:latin typeface="Aptos"/>
              </a:defRPr>
            </a:pPr>
            <a:r>
              <a:t>Integrated system development, simulation, control logic and validation.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3794760"/>
            <a:ext cx="438912" cy="438912"/>
          </a:xfrm>
          <a:prstGeom prst="ellipse">
            <a:avLst/>
          </a:prstGeom>
          <a:solidFill>
            <a:srgbClr val="00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813048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657600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75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600" b="1">
                <a:solidFill>
                  <a:srgbClr val="193D33"/>
                </a:solidFill>
                <a:latin typeface="Aptos Display"/>
              </a:defRPr>
            </a:pPr>
            <a:r>
              <a:t>REVIEW 3</a:t>
            </a:r>
          </a:p>
          <a:p>
            <a:pPr>
              <a:spcBef>
                <a:spcPts val="200"/>
              </a:spcBef>
              <a:defRPr sz="1400">
                <a:solidFill>
                  <a:srgbClr val="2A3632"/>
                </a:solidFill>
                <a:latin typeface="Aptos"/>
              </a:defRPr>
            </a:pPr>
            <a:r>
              <a:t>Prototype development and performance evaluation.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" y="4846320"/>
            <a:ext cx="438912" cy="438912"/>
          </a:xfrm>
          <a:prstGeom prst="ellipse">
            <a:avLst/>
          </a:prstGeom>
          <a:solidFill>
            <a:srgbClr val="DB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864608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709160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600" b="1">
                <a:solidFill>
                  <a:srgbClr val="193D33"/>
                </a:solidFill>
                <a:latin typeface="Aptos Display"/>
              </a:defRPr>
            </a:pPr>
            <a:r>
              <a:t>FINAL REVIEW</a:t>
            </a:r>
          </a:p>
          <a:p>
            <a:pPr>
              <a:spcBef>
                <a:spcPts val="200"/>
              </a:spcBef>
              <a:defRPr sz="1400">
                <a:solidFill>
                  <a:srgbClr val="2A3632"/>
                </a:solidFill>
                <a:latin typeface="Aptos"/>
              </a:defRPr>
            </a:pPr>
            <a:r>
              <a:t>Complete project results, validation, cost analysis and final documentation.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A63"/>
                </a:solidFill>
                <a:latin typeface="Aptos"/>
              </a:defRPr>
            </a:pPr>
            <a:r>
              <a:t>AGRIVOLTAIC CANOPY PROJECT  •  REVIEW PRESENTATION                                    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