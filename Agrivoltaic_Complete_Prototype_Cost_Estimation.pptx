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658368"/>
          </a:xfrm>
          <a:prstGeom prst="rect">
            <a:avLst/>
          </a:prstGeom>
          <a:solidFill>
            <a:srgbClr val="00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D33"/>
                </a:solidFill>
                <a:latin typeface="Aptos Display"/>
              </a:defRPr>
            </a:pPr>
            <a:r>
              <a:t>Prototype Cost Estimation – Complete Agrivoltaic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33271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63"/>
                </a:solidFill>
                <a:latin typeface="Aptos"/>
              </a:defRPr>
            </a:pPr>
            <a:r>
              <a:t>Preliminary budget for sensing, tilt mechanism, rainwater harvesting, CAD and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5486400" cy="43159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5A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500"/>
              </a:spcAft>
              <a:defRPr sz="1600" b="1">
                <a:solidFill>
                  <a:srgbClr val="193D33"/>
                </a:solidFill>
                <a:latin typeface="Aptos Display"/>
              </a:defRPr>
            </a:pPr>
            <a:r>
              <a:t>HARDWARE &amp; FABRICATION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PAR quantum sensor — ₹25,000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Pyranometer / irradiance sensor — ₹20,000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Wind-speed sensor / anemometer — ₹5,000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DHT11 + soil moisture + rain sensors — ₹700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ESP NodeMCU, ESP32 backup, drivers &amp; PCB — ₹6,000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Solar panels and electrical protection — ₹18,000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Linear actuator, linkage and limit switches — ₹18,000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Frame, bearings, fasteners and fabrication — ₹35,000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Gutters, pipes, filter and storage tank — ₹15,000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Wiring, power supply, enclosure and mounting — ₹8,000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481328"/>
            <a:ext cx="5394960" cy="23042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500"/>
              </a:spcAft>
              <a:defRPr sz="1600" b="1">
                <a:solidFill>
                  <a:srgbClr val="193D33"/>
                </a:solidFill>
                <a:latin typeface="Aptos Display"/>
              </a:defRPr>
            </a:pPr>
            <a:r>
              <a:t>SOFTWARE &amp; DIGITAL TWIN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MATLAB academic licence allowance — ₹35,500*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Fusion 360 — student/education access may be free; commercial allowance ₹60,500/year*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Blender — free/open-source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Digital-twin integration, dashboard and model setup — ₹25,000 (planning allowance)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3950208"/>
            <a:ext cx="539496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5A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500"/>
              </a:spcAft>
              <a:defRPr sz="1600" b="1">
                <a:solidFill>
                  <a:srgbClr val="193D33"/>
                </a:solidFill>
                <a:latin typeface="Aptos Display"/>
              </a:defRPr>
            </a:pPr>
            <a:r>
              <a:t>TESTING &amp; CONTINGENCY</a:t>
            </a:r>
          </a:p>
          <a:p>
            <a:pPr>
              <a:spcAft>
                <a:spcPts val="200"/>
              </a:spcAft>
              <a:defRPr sz="1200">
                <a:solidFill>
                  <a:srgbClr val="2A3632"/>
                </a:solidFill>
                <a:latin typeface="Aptos"/>
              </a:defRPr>
            </a:pPr>
            <a:r>
              <a:t>Calibration, transport, spare parts and unexpected fabrication — ₹20,000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5230368"/>
            <a:ext cx="5394960" cy="566928"/>
          </a:xfrm>
          <a:prstGeom prst="roundRect">
            <a:avLst/>
          </a:prstGeom>
          <a:solidFill>
            <a:srgbClr val="E9F2E7"/>
          </a:solidFill>
          <a:ln>
            <a:solidFill>
              <a:srgbClr val="75A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93D33"/>
                </a:solidFill>
                <a:latin typeface="Aptos Display"/>
              </a:defRPr>
            </a:pPr>
            <a:r>
              <a:t>PLANNING TOTAL: APPROX. ₹2,96,000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618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6A63"/>
                </a:solidFill>
                <a:latin typeface="Aptos"/>
              </a:defRPr>
            </a:pPr>
            <a:r>
              <a:t>Budgetary estimate only; not a vendor quotation. Prices vary by specification. *Software costs may be zero if valid college/student licences are available. Excludes land, large-scale civil works and commercial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A63"/>
                </a:solidFill>
                <a:latin typeface="Aptos"/>
              </a:defRPr>
            </a:pPr>
            <a:r>
              <a:t>AGRIVOLTAIC CANOPY PROJECT  •  COST ESTIMATION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