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MATLAB and the JavaScript engine implement the same equations independently and are cross-checked on 22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 wire follows the lever arms; panels move to the controller angle; sensor card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simulated signals. In a real installation each becomes a physical sensor; the controller logic does not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water balance: sealed flat canopy catches events &gt;= 5 mm, first flush 0.5 mm, runoff 0.85, drip efficiency 0.9.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Soil library (9 types: pH, drainage, water holding, salinity, organic carbon) and crop library (24 crops) are editable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T2_universal_climates.csv from matlab/srmc_master.m. The visual changes landscape per climate (illustrative).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log: evidence/logs/crosscheck_js_vs_matlab.txt (22 quantities).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for this review are listed on the last slide and in reviews/REFERENCES.md. Evidence files are indexed in reviews/PROOF_INDEX.md.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order: 3D tab, play day, then drag cloud cover up, then temperature 40 C and humidity 25 %, then soil 15 %, then press Rain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R5: Digital twin of the canopy</a:t>
            </a:r>
          </a:p>
          <a:p>
            <a:r>
              <a:rPr sz="2200">
                <a:solidFill>
                  <a:srgbClr val="D8F0B8"/>
                </a:solidFill>
              </a:rPr>
              <a:t>Live twin: structure, sensors, controller, water and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One file drives the twin, MATLAB, CAD and Blender</a:t>
            </a:r>
          </a:p>
          <a:p>
            <a:r>
              <a:rPr sz="1600">
                <a:solidFill>
                  <a:srgbClr val="FFFFFF"/>
                </a:solidFill>
              </a:rPr>
              <a:t>Browser app: SRMC_Digital_Twin.html (three.js, MIT) - runs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Architecture: one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R5 Digital twin  |  Agrovoltaic Canopy for Protection and Sustainable Farming, TCE Madurai  | 2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12" y="1005840"/>
            <a:ext cx="10209495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910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design/design.json + data/*.json -&gt; twin, MATLAB, CAD, Blender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twin runs the six-sensor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R5 Digital twin  |  Agrovoltaic Canopy for Protection and Sustainable Farming, TCE Madurai  |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Open the twin: the six-sensor controller is ON by default. The panels follow the rule: rain = flat roof, night = park, otherwise the best mix of electricity and crop light.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Sensor card on the 3D tab: pyranometer, PAR under the canopy, DHT11 temperature and humidity (VPD), soil moisture, rain sensor, anemometer.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Controller panel: sliders for cloud cover, DHT11 temperature and humidity, soil moisture; the rain button is the rain sensor. A decision trace explains each tilt.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Year-long test: 99.6 % of the best combined score with noisy sensors (82 % of the best electricity, 98 % of the best crop light value, tilt error 4.8 deg).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The sensor values here are simulated; Review 0 shows the real ESP board feeding DHT11, soil and rain readings to MATLAB.</a:t>
            </a:r>
          </a:p>
        </p:txBody>
      </p:sp>
      <p:pic>
        <p:nvPicPr>
          <p:cNvPr id="6" name="Picture 5" descr="fig_accuracy_both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twin in operation (3D, sensors, controller)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R5 Digital twin  |  Agrovoltaic Canopy for Protection and Sustainable Farming, TCE Madurai  | 4</a:t>
            </a:r>
          </a:p>
        </p:txBody>
      </p:sp>
      <p:pic>
        <p:nvPicPr>
          <p:cNvPr id="5" name="Picture 4" descr="twin_3d_senso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50" y="1005840"/>
            <a:ext cx="6846738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453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Screenshot of the running twin, 16 April 09:30 solar time (TCE ground)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Panels at 27.0 deg chosen for this hour.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Sensor stack: pyranometer P1, zone light P2-P5, panel IR, T/RH/VPD, soil moisture, rain gauge.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Lowest edge 5.01 m at this angle.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Real TCE building footprints (OpenStreetMap).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Simulated sensors and the decision they feed (six sensors + modelled panel temperature)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R5 Digital twin  |  Agrovoltaic Canopy for Protection and Sustainable Farming, TCE Madurai  |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572000"/>
                <a:gridCol w="33832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Signal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Used for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P1 pyranometer (GHI)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kt x extraterrestrial; Erbs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reference light, night park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P2-P5 zone light (LSR)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2-D ray cast per zone strip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crop-light value in the objective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Panel IR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Huld/Faiman cell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PV efficiency; heat flag &gt; 45 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Air T, RH, VPD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monthly means + daily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ET0 and stress flag &gt; 2.5 kPa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Soil moisture (4 zones)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daily root-zone water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irrigation trigger, yield stress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Rain gauge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deterministic daily schedule from NASA monthly 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flat (rain) mode, harvest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monthly mean; gust test in Simulink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wind stow at 15 m/s (anemometer)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52544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B66"/>
                </a:solidFill>
              </a:rPr>
              <a:t>!Simulated, not measured. Say this explicitly in the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Rain harvest, cistern and irrigation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R5 Digital twin  |  Agrovoltaic Canopy for Protection and Sustainable Farming, TCE Madurai  | 6</a:t>
            </a:r>
          </a:p>
        </p:txBody>
      </p:sp>
      <p:pic>
        <p:nvPicPr>
          <p:cNvPr id="5" name="Picture 4" descr="twin_water_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005840"/>
            <a:ext cx="694944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453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Twin: monthly rain vs harvest, cistern level, cistern sizing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Harvest ~4,640 m3/yr per hectare against irrigation demand ~4,930-5,000 m3 (twin vs MATLAB rounding).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About 94 % of irrigation is met from rain; the rest from a borewell.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Cistern sizing curve in the app; model uses 100 m3.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Weather-year runs: drier year (rain -30 %) still meets 90 %.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Any crop in any soil (universal matrix)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R5 Digital twin  |  Agrovoltaic Canopy for Protection and Sustainable Farming, TCE Madurai  | 7</a:t>
            </a:r>
          </a:p>
        </p:txBody>
      </p:sp>
      <p:pic>
        <p:nvPicPr>
          <p:cNvPr id="5" name="Picture 4" descr="twin_crops_so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005840"/>
            <a:ext cx="694944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453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Net profit by crop and soil at the light of the selected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Crop yield = potential x light x temperature x soil x FAO water-stress factor.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Soil regeneration: organic carbon rises toward a soil-specific ceiling (tau 2 yr).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Same canopy, other soils: crop net income on saline soil is ~8x lower than on loam.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Universal: same design in seven climates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R5 Digital twin  |  Agrovoltaic Canopy for Protection and Sustainable Farming, TCE Madurai  |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645920"/>
                <a:gridCol w="1645920"/>
                <a:gridCol w="155448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Climate (typical soil)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PV kWh/m2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Crop light %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Rain-fed %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Farmer INR/month/ha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TCE Ground, Madurai / red_sandy_loam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198,943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Coastal tropical / sandy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190,442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Mountain / hill / hill_forest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194,847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Humid tropical / laterite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192,322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Arid desert / sandy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179,419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Northern plains / alluvial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174,447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Deccan plateau / black_cotton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179,844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52544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B66"/>
                </a:solidFill>
              </a:rPr>
              <a:t>Illustrative landscapes except TCE (real footprints). Farmer income uses the assumed 30 % share at INR 3/kWh (R7).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Implementation check: JavaScript twin vs MATLAB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R5 Digital twin  |  Agrovoltaic Canopy for Protection and Sustainable Farming, TCE Madurai  | 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274320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Quantity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Twin (JS)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MATLAB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Difference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PV energy (kWh/m2/yr)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237.55*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237.55*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0.0000 %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Rain harvested (m3)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0.0000 %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Irrigation demand (m3)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0.0000 %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Zone yields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0.0000 %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Farmer income, investor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0.0000 %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Selected crops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ginger, turmeric, coriander, amaranth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identical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68496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B66"/>
                </a:solidFill>
              </a:rPr>
              <a:t>*value format depends on angle step. Agreement proves the two codes are the same model; it does not by itself prove the physics (see R4 validation against PVGIS and Blender). The twin rounds pivot height to 0.01 m, so its on-screen numbers differ from MATLAB by up to 0.2 %.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Visual twin: TCE campus context and under-canopy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R5 Digital twin  |  Agrovoltaic Canopy for Protection and Sustainable Farming, TCE Madurai  | 10</a:t>
            </a:r>
          </a:p>
        </p:txBody>
      </p:sp>
      <p:pic>
        <p:nvPicPr>
          <p:cNvPr id="5" name="Picture 4" descr="a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669280" cy="3188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26796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Real TCE footprints, tree-lined roads (street-view photos used as look reference only)</a:t>
            </a:r>
          </a:p>
        </p:txBody>
      </p:sp>
      <p:pic>
        <p:nvPicPr>
          <p:cNvPr id="7" name="Picture 6" descr="u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669280" cy="31889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426796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Under the canopy at 1.7 m eye height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Limits of R5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R5 Digital twin  |  Agrovoltaic Canopy for Protection and Sustainable Farming, TCE Madurai  |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B03020"/>
                </a:solidFill>
              </a:rPr>
              <a:t>⚠ The twin simulates sensors; no on-site data. A physical pilot would calibrate it.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Landscapes for other climates are illustrative, not surveyed.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Building facades are stylised from OpenStreetMap footprints and reference photos, not surveyed models.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Crop parameters (light need, Ky, yield, price) are typical literature-style values rounded for a screening model.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Proof: PROOF_INDEX rows 13-17; twin file SRMC_Digital_Twin.html; screens in evidence/screens.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