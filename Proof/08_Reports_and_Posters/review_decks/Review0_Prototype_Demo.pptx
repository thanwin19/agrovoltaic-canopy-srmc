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PV energy (% of best)</c:v>
                </c:pt>
              </c:strCache>
            </c:strRef>
          </c:tx>
          <c:spPr>
            <a:solidFill>
              <a:srgbClr val="E8A317"/>
            </a:solidFill>
          </c:spPr>
          <c:cat>
            <c:strRef>
              <c:f>Sheet1!$A$2:$A$7</c:f>
              <c:strCache>
                <c:ptCount val="6"/>
                <c:pt idx="0">
                  <c:v>Fixed 15 deg (PV-max)</c:v>
                </c:pt>
                <c:pt idx="1">
                  <c:v>Fixed 45 deg</c:v>
                </c:pt>
                <c:pt idx="2">
                  <c:v>East-west sun tracking</c:v>
                </c:pt>
                <c:pt idx="3">
                  <c:v>SRMC controller (50/50)</c:v>
                </c:pt>
                <c:pt idx="4">
                  <c:v>Energy-only controller (w=1)</c:v>
                </c:pt>
                <c:pt idx="5">
                  <c:v>Crop-only controller (w=0)</c:v>
                </c:pt>
              </c:strCache>
            </c:strRef>
          </c:cat>
          <c:val>
            <c:numRef>
              <c:f>Sheet1!$B$2:$B$7</c:f>
              <c:numCache>
                <c:formatCode>General</c:formatCode>
                <c:ptCount val="6"/>
                <c:pt idx="0">
                  <c:v>94.8</c:v>
                </c:pt>
                <c:pt idx="1">
                  <c:v>73.6</c:v>
                </c:pt>
                <c:pt idx="2">
                  <c:v>100.0</c:v>
                </c:pt>
                <c:pt idx="3">
                  <c:v>75.5</c:v>
                </c:pt>
                <c:pt idx="4">
                  <c:v>96.5</c:v>
                </c:pt>
                <c:pt idx="5">
                  <c:v>64.2</c:v>
                </c:pt>
              </c:numCache>
            </c:numRef>
          </c:val>
        </c:ser>
        <c:ser>
          <c:idx val="1"/>
          <c:order val="1"/>
          <c:tx>
            <c:strRef>
              <c:f>Sheet1!$C$1</c:f>
              <c:strCache>
                <c:ptCount val="1"/>
                <c:pt idx="0">
                  <c:v>Crop light (% of best)</c:v>
                </c:pt>
              </c:strCache>
            </c:strRef>
          </c:tx>
          <c:spPr>
            <a:solidFill>
              <a:srgbClr val="4E9A2E"/>
            </a:solidFill>
          </c:spPr>
          <c:cat>
            <c:strRef>
              <c:f>Sheet1!$A$2:$A$7</c:f>
              <c:strCache>
                <c:ptCount val="6"/>
                <c:pt idx="0">
                  <c:v>Fixed 15 deg (PV-max)</c:v>
                </c:pt>
                <c:pt idx="1">
                  <c:v>Fixed 45 deg</c:v>
                </c:pt>
                <c:pt idx="2">
                  <c:v>East-west sun tracking</c:v>
                </c:pt>
                <c:pt idx="3">
                  <c:v>SRMC controller (50/50)</c:v>
                </c:pt>
                <c:pt idx="4">
                  <c:v>Energy-only controller (w=1)</c:v>
                </c:pt>
                <c:pt idx="5">
                  <c:v>Crop-only controller (w=0)</c:v>
                </c:pt>
              </c:strCache>
            </c:strRef>
          </c:cat>
          <c:val>
            <c:numRef>
              <c:f>Sheet1!$C$2:$C$7</c:f>
              <c:numCache>
                <c:formatCode>General</c:formatCode>
                <c:ptCount val="6"/>
                <c:pt idx="0">
                  <c:v>36.0</c:v>
                </c:pt>
                <c:pt idx="1">
                  <c:v>81.0</c:v>
                </c:pt>
                <c:pt idx="2">
                  <c:v>26.7</c:v>
                </c:pt>
                <c:pt idx="3">
                  <c:v>88.9</c:v>
                </c:pt>
                <c:pt idx="4">
                  <c:v>39.6</c:v>
                </c:pt>
                <c:pt idx="5">
                  <c:v>100.0</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15.0"/>
        </c:scaling>
        <c:delete val="0"/>
        <c:axPos val="l"/>
        <c:majorGridlines>
          <c:spPr>
            <a:ln>
              <a:solidFill>
                <a:srgbClr val="E6EEE0"/>
              </a:solidFill>
            </a:ln>
          </c:spPr>
        </c:majorGridlines>
        <c:majorTickMark val="out"/>
        <c:minorTickMark val="none"/>
        <c:tickLblPos val="nextTo"/>
        <c:txPr>
          <a:bodyPr/>
          <a:lstStyle/>
          <a:p>
            <a:pPr>
              <a:defRPr sz="1100"/>
            </a:pPr>
          </a:p>
        </c:txPr>
        <c:crossAx val="-2068027336"/>
        <c:crosses val="autoZero"/>
      </c:valAx>
    </c:plotArea>
    <c:legend>
      <c:legendPos val="b"/>
      <c:overlay val="0"/>
      <c:txPr>
        <a:bodyPr/>
        <a:lstStyle/>
        <a:p>
          <a:pPr>
            <a:defRPr sz="13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0 shows the live chain: real sensors on the ESP board -&gt; MATLAB -&gt; tilt decision. Say at the start: pyranometer, PAR and wind are SIMULATED sensors; DHT11, soil and rain are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inputs, one output (the angle). The controller is a rule stack plus an optimiser. Real vs simulated is labelled on every 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will ask about the pyranometer. Answer: it is a software sensor for Review 0, labelled SIM on the screen. The control code does not change when a real one is connected.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USB serial is used because it needs no WiFi and is the most reliable in a lab. The same MATLAB code runs in Simulate mode, so the demo works even if a wire comes loose.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pin map is in firmware/PIN_MAP.md. The photo of the board shows the CP2102 USB chip, so install that driver if no COM port appears.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firmware was written without access to the board, so the bench checklist in the documents folder is the first thing to run on the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one breath: safety first (wind), then water (rain), then the optimiser. The optimiser is a plain search over 91 angles with a transparent score, not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controls. Centre: canopy drawing with sun icon, sky icon and panel angle. Right: live plots. Real and simulated values are tagged in the text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T16 is the strongest proof: the MATLAB functions give the same zone light and PV as the JavaScript engine used in the twin. T10 checks the optimiser against brute force.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reading: the controller does not beat tracking on energy; it gives up about a quarter of the energy to give the crops most of their light. The average favours the controller by construction (equal weights), so the weight slider matters. Pure tracking is outside the wire-drive specification (two positions), shown only as a reference. Numbers come from day_comparison.csv.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jumps between half-hour steps are caused by a flat objective; in the real motor a 2 degree dead-band would stop needless movement (listed as next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meaning of co-optimisation: the weight is a policy knob, the optimiser finds the best angle for that policy at every moment.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in the earlier review folders (Review 2 and Review 1). Say clearly what they are not: they are not field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three frames with photos and screenshots on the morning of the review; fill the table with the real numbers. Do not leave blanks on screen.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Feasibility is about being honest on constraints and showing a path. Every constraint has a cheap mitigation.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are indicative and must be replaced by the real bill before presenting a cost figure. The economic case of the full system (farmer income, payback) is in Review 5 and depends on assumed prices.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earlier review has its own folder with deck, results and README; use them to answer questions about any stage.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is claimed and what is not. Invite questions on any slide; the proof index in Review 5 maps every claim to a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42B"/>
        </a:solidFill>
        <a:effectLst/>
      </p:bgPr>
    </p:bg>
    <p:spTree>
      <p:nvGrpSpPr>
        <p:cNvPr id="1" name=""/>
        <p:cNvGrpSpPr/>
        <p:nvPr/>
      </p:nvGrpSpPr>
      <p:grpSpPr/>
      <p:pic>
        <p:nvPicPr>
          <p:cNvPr id="2" name="Picture 1" descr="hero.png"/>
          <p:cNvPicPr>
            <a:picLocks noChangeAspect="1"/>
          </p:cNvPicPr>
          <p:nvPr/>
        </p:nvPicPr>
        <p:blipFill>
          <a:blip r:embed="rId2"/>
          <a:stretch>
            <a:fillRect/>
          </a:stretch>
        </p:blipFill>
        <p:spPr>
          <a:xfrm>
            <a:off x="6309360" y="1860232"/>
            <a:ext cx="5577840" cy="3137535"/>
          </a:xfrm>
          <a:prstGeom prst="rect">
            <a:avLst/>
          </a:prstGeom>
        </p:spPr>
      </p:pic>
      <p:sp>
        <p:nvSpPr>
          <p:cNvPr id="3" name="TextBox 2"/>
          <p:cNvSpPr txBox="1"/>
          <p:nvPr/>
        </p:nvSpPr>
        <p:spPr>
          <a:xfrm>
            <a:off x="548640" y="1097280"/>
            <a:ext cx="5669280" cy="457200"/>
          </a:xfrm>
          <a:prstGeom prst="rect">
            <a:avLst/>
          </a:prstGeom>
          <a:noFill/>
        </p:spPr>
        <p:txBody>
          <a:bodyPr wrap="square" anchor="t" lIns="45720" rIns="45720" tIns="27432" bIns="27432">
            <a:spAutoFit/>
          </a:bodyPr>
          <a:lstStyle/>
          <a:p>
            <a:pPr algn="l">
              <a:spcAft>
                <a:spcPts val="400"/>
              </a:spcAft>
            </a:pPr>
            <a:r>
              <a:rPr sz="1800" b="1" i="0">
                <a:solidFill>
                  <a:srgbClr val="E8A317"/>
                </a:solidFill>
                <a:latin typeface="Calibri"/>
              </a:rPr>
              <a:t>REVIEW 0</a:t>
            </a:r>
          </a:p>
        </p:txBody>
      </p:sp>
      <p:sp>
        <p:nvSpPr>
          <p:cNvPr id="4" name="TextBox 3"/>
          <p:cNvSpPr txBox="1"/>
          <p:nvPr/>
        </p:nvSpPr>
        <p:spPr>
          <a:xfrm>
            <a:off x="548640" y="1554480"/>
            <a:ext cx="5669280" cy="2377440"/>
          </a:xfrm>
          <a:prstGeom prst="rect">
            <a:avLst/>
          </a:prstGeom>
          <a:noFill/>
        </p:spPr>
        <p:txBody>
          <a:bodyPr wrap="square" anchor="t" lIns="45720" rIns="45720" tIns="27432" bIns="27432">
            <a:spAutoFit/>
          </a:bodyPr>
          <a:lstStyle/>
          <a:p>
            <a:pPr algn="l">
              <a:spcAft>
                <a:spcPts val="400"/>
              </a:spcAft>
            </a:pPr>
            <a:r>
              <a:rPr sz="3400" b="1" i="0">
                <a:solidFill>
                  <a:srgbClr val="FFFFFF"/>
                </a:solidFill>
                <a:latin typeface="Cambria"/>
              </a:rPr>
              <a:t>Sensor-driven tilt control that co-optimises solar energy and crop light</a:t>
            </a:r>
          </a:p>
        </p:txBody>
      </p:sp>
      <p:sp>
        <p:nvSpPr>
          <p:cNvPr id="5" name="TextBox 4"/>
          <p:cNvSpPr txBox="1"/>
          <p:nvPr/>
        </p:nvSpPr>
        <p:spPr>
          <a:xfrm>
            <a:off x="548640" y="4160520"/>
            <a:ext cx="5577840" cy="1097280"/>
          </a:xfrm>
          <a:prstGeom prst="rect">
            <a:avLst/>
          </a:prstGeom>
          <a:noFill/>
        </p:spPr>
        <p:txBody>
          <a:bodyPr wrap="square" anchor="t" lIns="45720" rIns="45720" tIns="27432" bIns="27432">
            <a:spAutoFit/>
          </a:bodyPr>
          <a:lstStyle/>
          <a:p>
            <a:pPr algn="l">
              <a:spcAft>
                <a:spcPts val="400"/>
              </a:spcAft>
            </a:pPr>
            <a:r>
              <a:rPr sz="1700" b="0" i="0">
                <a:solidFill>
                  <a:srgbClr val="E6EEE0"/>
                </a:solidFill>
                <a:latin typeface="Calibri"/>
              </a:rPr>
              <a:t>Agrovoltaic Canopy for Protection and Sustainable Farming</a:t>
            </a:r>
          </a:p>
          <a:p>
            <a:pPr algn="l">
              <a:spcAft>
                <a:spcPts val="400"/>
              </a:spcAft>
            </a:pPr>
            <a:r>
              <a:rPr sz="1700" b="0" i="0">
                <a:solidFill>
                  <a:srgbClr val="E6EEE0"/>
                </a:solidFill>
                <a:latin typeface="Calibri"/>
              </a:rPr>
              <a:t>Prototype sensors + MATLAB digital twin  |  TCE ground, Madurai</a:t>
            </a:r>
          </a:p>
        </p:txBody>
      </p:sp>
      <p:sp>
        <p:nvSpPr>
          <p:cNvPr id="6" name="TextBox 5"/>
          <p:cNvSpPr txBox="1"/>
          <p:nvPr/>
        </p:nvSpPr>
        <p:spPr>
          <a:xfrm>
            <a:off x="548640" y="5486400"/>
            <a:ext cx="5669280" cy="914400"/>
          </a:xfrm>
          <a:prstGeom prst="rect">
            <a:avLst/>
          </a:prstGeom>
          <a:noFill/>
        </p:spPr>
        <p:txBody>
          <a:bodyPr wrap="square" anchor="t" lIns="45720" rIns="45720" tIns="27432" bIns="27432">
            <a:spAutoFit/>
          </a:bodyPr>
          <a:lstStyle/>
          <a:p>
            <a:pPr algn="l">
              <a:spcAft>
                <a:spcPts val="400"/>
              </a:spcAft>
            </a:pPr>
            <a:r>
              <a:rPr sz="1500" b="0" i="0">
                <a:solidFill>
                  <a:srgbClr val="E6EEE0"/>
                </a:solidFill>
                <a:latin typeface="Calibri"/>
              </a:rPr>
              <a:t>Student: ______________________</a:t>
            </a:r>
          </a:p>
          <a:p>
            <a:pPr algn="l">
              <a:spcAft>
                <a:spcPts val="400"/>
              </a:spcAft>
            </a:pPr>
            <a:r>
              <a:rPr sz="1500" b="0" i="0">
                <a:solidFill>
                  <a:srgbClr val="E6EEE0"/>
                </a:solidFill>
                <a:latin typeface="Calibri"/>
              </a:rPr>
              <a:t>Guide: ______________________     Date: 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What the system decides</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One decision every few seconds: the panel angle that gives energy AND the light the crop needs</a:t>
            </a:r>
          </a:p>
        </p:txBody>
      </p:sp>
      <p:sp>
        <p:nvSpPr>
          <p:cNvPr id="4" name="Rounded Rectangle 3"/>
          <p:cNvSpPr/>
          <p:nvPr/>
        </p:nvSpPr>
        <p:spPr>
          <a:xfrm>
            <a:off x="548640" y="169164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874520"/>
            <a:ext cx="502920" cy="502920"/>
          </a:xfrm>
          <a:prstGeom prst="ellipse">
            <a:avLst/>
          </a:prstGeom>
          <a:solidFill>
            <a:srgbClr val="2D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4708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Pyranometer</a:t>
            </a:r>
          </a:p>
        </p:txBody>
      </p:sp>
      <p:sp>
        <p:nvSpPr>
          <p:cNvPr id="7" name="Rounded Rectangle 6"/>
          <p:cNvSpPr/>
          <p:nvPr/>
        </p:nvSpPr>
        <p:spPr>
          <a:xfrm>
            <a:off x="3291840" y="1920240"/>
            <a:ext cx="685800" cy="274320"/>
          </a:xfrm>
          <a:prstGeom prst="roundRect">
            <a:avLst>
              <a:gd name="adj" fmla="val 50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SIM</a:t>
            </a:r>
          </a:p>
        </p:txBody>
      </p:sp>
      <p:sp>
        <p:nvSpPr>
          <p:cNvPr id="8" name="TextBox 7"/>
          <p:cNvSpPr txBox="1"/>
          <p:nvPr/>
        </p:nvSpPr>
        <p:spPr>
          <a:xfrm>
            <a:off x="777240" y="251460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how much sunlight, so how much energy to harvest</a:t>
            </a:r>
          </a:p>
        </p:txBody>
      </p:sp>
      <p:sp>
        <p:nvSpPr>
          <p:cNvPr id="9" name="Rounded Rectangle 8"/>
          <p:cNvSpPr/>
          <p:nvPr/>
        </p:nvSpPr>
        <p:spPr>
          <a:xfrm>
            <a:off x="4343400" y="169164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80" y="1874520"/>
            <a:ext cx="502920" cy="502920"/>
          </a:xfrm>
          <a:prstGeom prst="ellipse">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84708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PAR sensor</a:t>
            </a:r>
          </a:p>
        </p:txBody>
      </p:sp>
      <p:sp>
        <p:nvSpPr>
          <p:cNvPr id="12" name="Rounded Rectangle 11"/>
          <p:cNvSpPr/>
          <p:nvPr/>
        </p:nvSpPr>
        <p:spPr>
          <a:xfrm>
            <a:off x="7086600" y="1920240"/>
            <a:ext cx="685800" cy="274320"/>
          </a:xfrm>
          <a:prstGeom prst="roundRect">
            <a:avLst>
              <a:gd name="adj" fmla="val 50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SIM</a:t>
            </a:r>
          </a:p>
        </p:txBody>
      </p:sp>
      <p:sp>
        <p:nvSpPr>
          <p:cNvPr id="13" name="TextBox 12"/>
          <p:cNvSpPr txBox="1"/>
          <p:nvPr/>
        </p:nvSpPr>
        <p:spPr>
          <a:xfrm>
            <a:off x="4572000" y="251460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light actually reaching each crop zone</a:t>
            </a:r>
          </a:p>
        </p:txBody>
      </p:sp>
      <p:sp>
        <p:nvSpPr>
          <p:cNvPr id="14" name="Rounded Rectangle 13"/>
          <p:cNvSpPr/>
          <p:nvPr/>
        </p:nvSpPr>
        <p:spPr>
          <a:xfrm>
            <a:off x="8138160" y="169164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874520"/>
            <a:ext cx="502920" cy="502920"/>
          </a:xfrm>
          <a:prstGeom prst="ellipse">
            <a:avLst/>
          </a:prstGeom>
          <a:solidFill>
            <a:srgbClr val="8B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84708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Soil moisture</a:t>
            </a:r>
          </a:p>
        </p:txBody>
      </p:sp>
      <p:sp>
        <p:nvSpPr>
          <p:cNvPr id="17" name="Rounded Rectangle 16"/>
          <p:cNvSpPr/>
          <p:nvPr/>
        </p:nvSpPr>
        <p:spPr>
          <a:xfrm>
            <a:off x="10881360" y="1920240"/>
            <a:ext cx="685800" cy="274320"/>
          </a:xfrm>
          <a:prstGeom prst="roundRect">
            <a:avLst>
              <a:gd name="adj" fmla="val 50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REAL</a:t>
            </a:r>
          </a:p>
        </p:txBody>
      </p:sp>
      <p:sp>
        <p:nvSpPr>
          <p:cNvPr id="18" name="TextBox 17"/>
          <p:cNvSpPr txBox="1"/>
          <p:nvPr/>
        </p:nvSpPr>
        <p:spPr>
          <a:xfrm>
            <a:off x="8366760" y="251460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root-zone water: irrigation and stress</a:t>
            </a:r>
          </a:p>
        </p:txBody>
      </p:sp>
      <p:sp>
        <p:nvSpPr>
          <p:cNvPr id="19" name="Rounded Rectangle 18"/>
          <p:cNvSpPr/>
          <p:nvPr/>
        </p:nvSpPr>
        <p:spPr>
          <a:xfrm>
            <a:off x="548640" y="365760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3840480"/>
            <a:ext cx="502920" cy="502920"/>
          </a:xfrm>
          <a:prstGeom prst="ellipse">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81304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DHT11</a:t>
            </a:r>
          </a:p>
        </p:txBody>
      </p:sp>
      <p:sp>
        <p:nvSpPr>
          <p:cNvPr id="22" name="Rounded Rectangle 21"/>
          <p:cNvSpPr/>
          <p:nvPr/>
        </p:nvSpPr>
        <p:spPr>
          <a:xfrm>
            <a:off x="3291840" y="3886200"/>
            <a:ext cx="685800" cy="274320"/>
          </a:xfrm>
          <a:prstGeom prst="roundRect">
            <a:avLst>
              <a:gd name="adj" fmla="val 50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REAL</a:t>
            </a:r>
          </a:p>
        </p:txBody>
      </p:sp>
      <p:sp>
        <p:nvSpPr>
          <p:cNvPr id="23" name="TextBox 22"/>
          <p:cNvSpPr txBox="1"/>
          <p:nvPr/>
        </p:nvSpPr>
        <p:spPr>
          <a:xfrm>
            <a:off x="777240" y="448056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temperature and humidity: VPD (plant water stress)</a:t>
            </a:r>
          </a:p>
        </p:txBody>
      </p:sp>
      <p:sp>
        <p:nvSpPr>
          <p:cNvPr id="24" name="Rounded Rectangle 23"/>
          <p:cNvSpPr/>
          <p:nvPr/>
        </p:nvSpPr>
        <p:spPr>
          <a:xfrm>
            <a:off x="4343400" y="365760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26280" y="3840480"/>
            <a:ext cx="502920" cy="502920"/>
          </a:xfrm>
          <a:prstGeom prst="ellipse">
            <a:avLst/>
          </a:prstGeom>
          <a:solidFill>
            <a:srgbClr val="2D5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66360" y="381304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Rain sensor</a:t>
            </a:r>
          </a:p>
        </p:txBody>
      </p:sp>
      <p:sp>
        <p:nvSpPr>
          <p:cNvPr id="27" name="Rounded Rectangle 26"/>
          <p:cNvSpPr/>
          <p:nvPr/>
        </p:nvSpPr>
        <p:spPr>
          <a:xfrm>
            <a:off x="7086600" y="3886200"/>
            <a:ext cx="685800" cy="274320"/>
          </a:xfrm>
          <a:prstGeom prst="roundRect">
            <a:avLst>
              <a:gd name="adj" fmla="val 50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REAL</a:t>
            </a:r>
          </a:p>
        </p:txBody>
      </p:sp>
      <p:sp>
        <p:nvSpPr>
          <p:cNvPr id="28" name="TextBox 27"/>
          <p:cNvSpPr txBox="1"/>
          <p:nvPr/>
        </p:nvSpPr>
        <p:spPr>
          <a:xfrm>
            <a:off x="4572000" y="448056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rain: panels to a 3 degree slope, water to the cistern</a:t>
            </a:r>
          </a:p>
        </p:txBody>
      </p:sp>
      <p:sp>
        <p:nvSpPr>
          <p:cNvPr id="29" name="Rounded Rectangle 28"/>
          <p:cNvSpPr/>
          <p:nvPr/>
        </p:nvSpPr>
        <p:spPr>
          <a:xfrm>
            <a:off x="8138160" y="3657600"/>
            <a:ext cx="3566160" cy="1783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40" y="3840480"/>
            <a:ext cx="502920" cy="502920"/>
          </a:xfrm>
          <a:prstGeom prst="ellipse">
            <a:avLst/>
          </a:prstGeom>
          <a:solidFill>
            <a:srgbClr val="5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0" y="3813048"/>
            <a:ext cx="2103120" cy="457200"/>
          </a:xfrm>
          <a:prstGeom prst="rect">
            <a:avLst/>
          </a:prstGeom>
          <a:noFill/>
        </p:spPr>
        <p:txBody>
          <a:bodyPr wrap="square" anchor="t" lIns="45720" rIns="45720" tIns="27432" bIns="27432">
            <a:spAutoFit/>
          </a:bodyPr>
          <a:lstStyle/>
          <a:p>
            <a:pPr algn="l">
              <a:spcAft>
                <a:spcPts val="400"/>
              </a:spcAft>
            </a:pPr>
            <a:r>
              <a:rPr sz="2000" b="1" i="0">
                <a:solidFill>
                  <a:srgbClr val="14342B"/>
                </a:solidFill>
                <a:latin typeface="Calibri"/>
              </a:rPr>
              <a:t>Wind</a:t>
            </a:r>
          </a:p>
        </p:txBody>
      </p:sp>
      <p:sp>
        <p:nvSpPr>
          <p:cNvPr id="32" name="Rounded Rectangle 31"/>
          <p:cNvSpPr/>
          <p:nvPr/>
        </p:nvSpPr>
        <p:spPr>
          <a:xfrm>
            <a:off x="10881360" y="3886200"/>
            <a:ext cx="685800" cy="274320"/>
          </a:xfrm>
          <a:prstGeom prst="roundRect">
            <a:avLst>
              <a:gd name="adj" fmla="val 50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SIM</a:t>
            </a:r>
          </a:p>
        </p:txBody>
      </p:sp>
      <p:sp>
        <p:nvSpPr>
          <p:cNvPr id="33" name="TextBox 32"/>
          <p:cNvSpPr txBox="1"/>
          <p:nvPr/>
        </p:nvSpPr>
        <p:spPr>
          <a:xfrm>
            <a:off x="8366760" y="4480560"/>
            <a:ext cx="3154680" cy="868680"/>
          </a:xfrm>
          <a:prstGeom prst="rect">
            <a:avLst/>
          </a:prstGeom>
          <a:noFill/>
        </p:spPr>
        <p:txBody>
          <a:bodyPr wrap="square" anchor="t" lIns="45720" rIns="45720" tIns="27432" bIns="27432">
            <a:spAutoFit/>
          </a:bodyPr>
          <a:lstStyle/>
          <a:p>
            <a:pPr algn="l">
              <a:spcAft>
                <a:spcPts val="400"/>
              </a:spcAft>
            </a:pPr>
            <a:r>
              <a:rPr sz="1500" b="0" i="0">
                <a:solidFill>
                  <a:srgbClr val="1B2A22"/>
                </a:solidFill>
                <a:latin typeface="Calibri"/>
              </a:rPr>
              <a:t>gust above 15 m/s: panels stowed edge-on (90 degrees)</a:t>
            </a:r>
          </a:p>
        </p:txBody>
      </p:sp>
      <p:sp>
        <p:nvSpPr>
          <p:cNvPr id="34" name="TextBox 33"/>
          <p:cNvSpPr txBox="1"/>
          <p:nvPr/>
        </p:nvSpPr>
        <p:spPr>
          <a:xfrm>
            <a:off x="548640" y="5715000"/>
            <a:ext cx="11064240" cy="731520"/>
          </a:xfrm>
          <a:prstGeom prst="rect">
            <a:avLst/>
          </a:prstGeom>
          <a:noFill/>
        </p:spPr>
        <p:txBody>
          <a:bodyPr wrap="square" anchor="t" lIns="45720" rIns="45720" tIns="27432" bIns="27432">
            <a:spAutoFit/>
          </a:bodyPr>
          <a:lstStyle/>
          <a:p>
            <a:pPr algn="l">
              <a:spcAft>
                <a:spcPts val="400"/>
              </a:spcAft>
            </a:pPr>
            <a:r>
              <a:rPr sz="1700" b="1" i="0">
                <a:solidFill>
                  <a:srgbClr val="14342B"/>
                </a:solidFill>
                <a:latin typeface="Calibri"/>
              </a:rPr>
              <a:t>Goal: </a:t>
            </a:r>
            <a:r>
              <a:rPr sz="1700" b="0" i="0">
                <a:solidFill>
                  <a:srgbClr val="1B2A22"/>
                </a:solidFill>
                <a:latin typeface="Calibri"/>
              </a:rPr>
              <a:t>a tilt rule that is better for energy AND crops than pure sun tracking or a fixed angle, shown with numbers.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What is real and what is simulated</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Stated openly, so every number on the next slides can be trusted for what it is</a:t>
            </a:r>
          </a:p>
        </p:txBody>
      </p:sp>
      <p:graphicFrame>
        <p:nvGraphicFramePr>
          <p:cNvPr id="4" name="Table 3"/>
          <p:cNvGraphicFramePr>
            <a:graphicFrameLocks noGrp="1"/>
          </p:cNvGraphicFramePr>
          <p:nvPr/>
        </p:nvGraphicFramePr>
        <p:xfrm>
          <a:off x="548640" y="1600200"/>
          <a:ext cx="11064240" cy="3803904"/>
        </p:xfrm>
        <a:graphic>
          <a:graphicData uri="http://schemas.openxmlformats.org/drawingml/2006/table">
            <a:tbl>
              <a:tblPr firstRow="1" bandRow="1">
                <a:tableStyleId>{5C22544A-7EE6-4342-B048-85BDC9FD1C3A}</a:tableStyleId>
              </a:tblPr>
              <a:tblGrid>
                <a:gridCol w="2468880"/>
                <a:gridCol w="4846320"/>
                <a:gridCol w="1005840"/>
                <a:gridCol w="2743200"/>
              </a:tblGrid>
              <a:tr h="475488">
                <a:tc>
                  <a:txBody>
                    <a:bodyPr wrap="square"/>
                    <a:lstStyle/>
                    <a:p>
                      <a:r>
                        <a:rPr sz="1400" b="1">
                          <a:solidFill>
                            <a:srgbClr val="FFFFFF"/>
                          </a:solidFill>
                          <a:latin typeface="Calibri"/>
                        </a:rPr>
                        <a:t>Quantity</a:t>
                      </a:r>
                    </a:p>
                  </a:txBody>
                  <a:tcPr marL="54864" marR="54864" marT="18288" marB="18288" anchor="ctr">
                    <a:solidFill>
                      <a:srgbClr val="14342B"/>
                    </a:solidFill>
                  </a:tcPr>
                </a:tc>
                <a:tc>
                  <a:txBody>
                    <a:bodyPr wrap="square"/>
                    <a:lstStyle/>
                    <a:p>
                      <a:r>
                        <a:rPr sz="1400" b="1">
                          <a:solidFill>
                            <a:srgbClr val="FFFFFF"/>
                          </a:solidFill>
                          <a:latin typeface="Calibri"/>
                        </a:rPr>
                        <a:t>Source on the day</a:t>
                      </a:r>
                    </a:p>
                  </a:txBody>
                  <a:tcPr marL="54864" marR="54864" marT="18288" marB="18288" anchor="ctr">
                    <a:solidFill>
                      <a:srgbClr val="14342B"/>
                    </a:solidFill>
                  </a:tcPr>
                </a:tc>
                <a:tc>
                  <a:txBody>
                    <a:bodyPr wrap="square"/>
                    <a:lstStyle/>
                    <a:p>
                      <a:r>
                        <a:rPr sz="1400" b="1">
                          <a:solidFill>
                            <a:srgbClr val="FFFFFF"/>
                          </a:solidFill>
                          <a:latin typeface="Calibri"/>
                        </a:rPr>
                        <a:t>Status</a:t>
                      </a:r>
                    </a:p>
                  </a:txBody>
                  <a:tcPr marL="54864" marR="54864" marT="18288" marB="18288" anchor="ctr">
                    <a:solidFill>
                      <a:srgbClr val="14342B"/>
                    </a:solidFill>
                  </a:tcPr>
                </a:tc>
                <a:tc>
                  <a:txBody>
                    <a:bodyPr wrap="square"/>
                    <a:lstStyle/>
                    <a:p>
                      <a:r>
                        <a:rPr sz="1400" b="1">
                          <a:solidFill>
                            <a:srgbClr val="FFFFFF"/>
                          </a:solidFill>
                          <a:latin typeface="Calibri"/>
                        </a:rPr>
                        <a:t>Why</a:t>
                      </a:r>
                    </a:p>
                  </a:txBody>
                  <a:tcPr marL="54864" marR="54864" marT="18288" marB="18288" anchor="ctr">
                    <a:solidFill>
                      <a:srgbClr val="14342B"/>
                    </a:solidFill>
                  </a:tcPr>
                </a:tc>
              </a:tr>
              <a:tr h="475488">
                <a:tc>
                  <a:txBody>
                    <a:bodyPr wrap="square"/>
                    <a:lstStyle/>
                    <a:p>
                      <a:r>
                        <a:rPr sz="1400" b="0">
                          <a:solidFill>
                            <a:srgbClr val="1B2A22"/>
                          </a:solidFill>
                          <a:latin typeface="Calibri"/>
                        </a:rPr>
                        <a:t>Air temperature, humidity</a:t>
                      </a:r>
                    </a:p>
                  </a:txBody>
                  <a:tcPr marL="54864" marR="54864" marT="18288" marB="18288" anchor="ctr">
                    <a:solidFill>
                      <a:srgbClr val="FFFFFF"/>
                    </a:solidFill>
                  </a:tcPr>
                </a:tc>
                <a:tc>
                  <a:txBody>
                    <a:bodyPr wrap="square"/>
                    <a:lstStyle/>
                    <a:p>
                      <a:r>
                        <a:rPr sz="1400" b="0">
                          <a:solidFill>
                            <a:srgbClr val="1B2A22"/>
                          </a:solidFill>
                          <a:latin typeface="Calibri"/>
                        </a:rPr>
                        <a:t>DHT11 on the prototype</a:t>
                      </a:r>
                    </a:p>
                  </a:txBody>
                  <a:tcPr marL="54864" marR="54864" marT="18288" marB="18288" anchor="ctr">
                    <a:solidFill>
                      <a:srgbClr val="FFFFFF"/>
                    </a:solidFill>
                  </a:tcPr>
                </a:tc>
                <a:tc>
                  <a:txBody>
                    <a:bodyPr wrap="square"/>
                    <a:lstStyle/>
                    <a:p>
                      <a:r>
                        <a:rPr sz="1400" b="1">
                          <a:solidFill>
                            <a:srgbClr val="4E9A2E"/>
                          </a:solidFill>
                          <a:latin typeface="Calibri"/>
                        </a:rPr>
                        <a:t>REAL</a:t>
                      </a:r>
                    </a:p>
                  </a:txBody>
                  <a:tcPr marL="54864" marR="54864" marT="18288" marB="18288" anchor="ctr">
                    <a:solidFill>
                      <a:srgbClr val="FFFFFF"/>
                    </a:solidFill>
                  </a:tcPr>
                </a:tc>
                <a:tc>
                  <a:txBody>
                    <a:bodyPr wrap="square"/>
                    <a:lstStyle/>
                    <a:p>
                      <a:r>
                        <a:rPr sz="1400" b="0">
                          <a:solidFill>
                            <a:srgbClr val="1B2A22"/>
                          </a:solidFill>
                          <a:latin typeface="Calibri"/>
                        </a:rPr>
                        <a:t>sensor installed</a:t>
                      </a:r>
                    </a:p>
                  </a:txBody>
                  <a:tcPr marL="54864" marR="54864" marT="18288" marB="18288" anchor="ctr">
                    <a:solidFill>
                      <a:srgbClr val="FFFFFF"/>
                    </a:solidFill>
                  </a:tcPr>
                </a:tc>
              </a:tr>
              <a:tr h="475488">
                <a:tc>
                  <a:txBody>
                    <a:bodyPr wrap="square"/>
                    <a:lstStyle/>
                    <a:p>
                      <a:r>
                        <a:rPr sz="1400" b="0">
                          <a:solidFill>
                            <a:srgbClr val="1B2A22"/>
                          </a:solidFill>
                          <a:latin typeface="Calibri"/>
                        </a:rPr>
                        <a:t>Soil moisture</a:t>
                      </a:r>
                    </a:p>
                  </a:txBody>
                  <a:tcPr marL="54864" marR="54864" marT="18288" marB="18288" anchor="ctr">
                    <a:solidFill>
                      <a:srgbClr val="E6EEE0"/>
                    </a:solidFill>
                  </a:tcPr>
                </a:tc>
                <a:tc>
                  <a:txBody>
                    <a:bodyPr wrap="square"/>
                    <a:lstStyle/>
                    <a:p>
                      <a:r>
                        <a:rPr sz="1400" b="0">
                          <a:solidFill>
                            <a:srgbClr val="1B2A22"/>
                          </a:solidFill>
                          <a:latin typeface="Calibri"/>
                        </a:rPr>
                        <a:t>soil moisture module -&gt; A0</a:t>
                      </a:r>
                    </a:p>
                  </a:txBody>
                  <a:tcPr marL="54864" marR="54864" marT="18288" marB="18288" anchor="ctr">
                    <a:solidFill>
                      <a:srgbClr val="E6EEE0"/>
                    </a:solidFill>
                  </a:tcPr>
                </a:tc>
                <a:tc>
                  <a:txBody>
                    <a:bodyPr wrap="square"/>
                    <a:lstStyle/>
                    <a:p>
                      <a:r>
                        <a:rPr sz="1400" b="1">
                          <a:solidFill>
                            <a:srgbClr val="4E9A2E"/>
                          </a:solidFill>
                          <a:latin typeface="Calibri"/>
                        </a:rPr>
                        <a:t>REAL</a:t>
                      </a:r>
                    </a:p>
                  </a:txBody>
                  <a:tcPr marL="54864" marR="54864" marT="18288" marB="18288" anchor="ctr">
                    <a:solidFill>
                      <a:srgbClr val="E6EEE0"/>
                    </a:solidFill>
                  </a:tcPr>
                </a:tc>
                <a:tc>
                  <a:txBody>
                    <a:bodyPr wrap="square"/>
                    <a:lstStyle/>
                    <a:p>
                      <a:r>
                        <a:rPr sz="1400" b="0">
                          <a:solidFill>
                            <a:srgbClr val="1B2A22"/>
                          </a:solidFill>
                          <a:latin typeface="Calibri"/>
                        </a:rPr>
                        <a:t>sensor installed, calibrated dry/wet</a:t>
                      </a:r>
                    </a:p>
                  </a:txBody>
                  <a:tcPr marL="54864" marR="54864" marT="18288" marB="18288" anchor="ctr">
                    <a:solidFill>
                      <a:srgbClr val="E6EEE0"/>
                    </a:solidFill>
                  </a:tcPr>
                </a:tc>
              </a:tr>
              <a:tr h="475488">
                <a:tc>
                  <a:txBody>
                    <a:bodyPr wrap="square"/>
                    <a:lstStyle/>
                    <a:p>
                      <a:r>
                        <a:rPr sz="1400" b="0">
                          <a:solidFill>
                            <a:srgbClr val="1B2A22"/>
                          </a:solidFill>
                          <a:latin typeface="Calibri"/>
                        </a:rPr>
                        <a:t>Rain</a:t>
                      </a:r>
                    </a:p>
                  </a:txBody>
                  <a:tcPr marL="54864" marR="54864" marT="18288" marB="18288" anchor="ctr">
                    <a:solidFill>
                      <a:srgbClr val="FFFFFF"/>
                    </a:solidFill>
                  </a:tcPr>
                </a:tc>
                <a:tc>
                  <a:txBody>
                    <a:bodyPr wrap="square"/>
                    <a:lstStyle/>
                    <a:p>
                      <a:r>
                        <a:rPr sz="1400" b="0">
                          <a:solidFill>
                            <a:srgbClr val="1B2A22"/>
                          </a:solidFill>
                          <a:latin typeface="Calibri"/>
                        </a:rPr>
                        <a:t>rain sensor module -&gt; D5</a:t>
                      </a:r>
                    </a:p>
                  </a:txBody>
                  <a:tcPr marL="54864" marR="54864" marT="18288" marB="18288" anchor="ctr">
                    <a:solidFill>
                      <a:srgbClr val="FFFFFF"/>
                    </a:solidFill>
                  </a:tcPr>
                </a:tc>
                <a:tc>
                  <a:txBody>
                    <a:bodyPr wrap="square"/>
                    <a:lstStyle/>
                    <a:p>
                      <a:r>
                        <a:rPr sz="1400" b="1">
                          <a:solidFill>
                            <a:srgbClr val="4E9A2E"/>
                          </a:solidFill>
                          <a:latin typeface="Calibri"/>
                        </a:rPr>
                        <a:t>REAL</a:t>
                      </a:r>
                    </a:p>
                  </a:txBody>
                  <a:tcPr marL="54864" marR="54864" marT="18288" marB="18288" anchor="ctr">
                    <a:solidFill>
                      <a:srgbClr val="FFFFFF"/>
                    </a:solidFill>
                  </a:tcPr>
                </a:tc>
                <a:tc>
                  <a:txBody>
                    <a:bodyPr wrap="square"/>
                    <a:lstStyle/>
                    <a:p>
                      <a:r>
                        <a:rPr sz="1400" b="0">
                          <a:solidFill>
                            <a:srgbClr val="1B2A22"/>
                          </a:solidFill>
                          <a:latin typeface="Calibri"/>
                        </a:rPr>
                        <a:t>sensor installed</a:t>
                      </a:r>
                    </a:p>
                  </a:txBody>
                  <a:tcPr marL="54864" marR="54864" marT="18288" marB="18288" anchor="ctr">
                    <a:solidFill>
                      <a:srgbClr val="FFFFFF"/>
                    </a:solidFill>
                  </a:tcPr>
                </a:tc>
              </a:tr>
              <a:tr h="475488">
                <a:tc>
                  <a:txBody>
                    <a:bodyPr wrap="square"/>
                    <a:lstStyle/>
                    <a:p>
                      <a:r>
                        <a:rPr sz="1400" b="0">
                          <a:solidFill>
                            <a:srgbClr val="1B2A22"/>
                          </a:solidFill>
                          <a:latin typeface="Calibri"/>
                        </a:rPr>
                        <a:t>Pyranometer (W/m2)</a:t>
                      </a:r>
                    </a:p>
                  </a:txBody>
                  <a:tcPr marL="54864" marR="54864" marT="18288" marB="18288" anchor="ctr">
                    <a:solidFill>
                      <a:srgbClr val="E6EEE0"/>
                    </a:solidFill>
                  </a:tcPr>
                </a:tc>
                <a:tc>
                  <a:txBody>
                    <a:bodyPr wrap="square"/>
                    <a:lstStyle/>
                    <a:p>
                      <a:r>
                        <a:rPr sz="1400" b="0">
                          <a:solidFill>
                            <a:srgbClr val="1B2A22"/>
                          </a:solidFill>
                          <a:latin typeface="Calibri"/>
                        </a:rPr>
                        <a:t>MATLAB sun model for TCE + sky icon (clear, hazy, partly cloudy, overcast)</a:t>
                      </a:r>
                    </a:p>
                  </a:txBody>
                  <a:tcPr marL="54864" marR="54864" marT="18288" marB="18288" anchor="ctr">
                    <a:solidFill>
                      <a:srgbClr val="E6EEE0"/>
                    </a:solidFill>
                  </a:tcPr>
                </a:tc>
                <a:tc>
                  <a:txBody>
                    <a:bodyPr wrap="square"/>
                    <a:lstStyle/>
                    <a:p>
                      <a:r>
                        <a:rPr sz="1400" b="1">
                          <a:solidFill>
                            <a:srgbClr val="E8A317"/>
                          </a:solidFill>
                          <a:latin typeface="Calibri"/>
                        </a:rPr>
                        <a:t>SIM</a:t>
                      </a:r>
                    </a:p>
                  </a:txBody>
                  <a:tcPr marL="54864" marR="54864" marT="18288" marB="18288" anchor="ctr">
                    <a:solidFill>
                      <a:srgbClr val="E6EEE0"/>
                    </a:solidFill>
                  </a:tcPr>
                </a:tc>
                <a:tc>
                  <a:txBody>
                    <a:bodyPr wrap="square"/>
                    <a:lstStyle/>
                    <a:p>
                      <a:r>
                        <a:rPr sz="1400" b="0">
                          <a:solidFill>
                            <a:srgbClr val="1B2A22"/>
                          </a:solidFill>
                          <a:latin typeface="Calibri"/>
                        </a:rPr>
                        <a:t>no pyranometer available yet</a:t>
                      </a:r>
                    </a:p>
                  </a:txBody>
                  <a:tcPr marL="54864" marR="54864" marT="18288" marB="18288" anchor="ctr">
                    <a:solidFill>
                      <a:srgbClr val="E6EEE0"/>
                    </a:solidFill>
                  </a:tcPr>
                </a:tc>
              </a:tr>
              <a:tr h="475488">
                <a:tc>
                  <a:txBody>
                    <a:bodyPr wrap="square"/>
                    <a:lstStyle/>
                    <a:p>
                      <a:r>
                        <a:rPr sz="1400" b="0">
                          <a:solidFill>
                            <a:srgbClr val="1B2A22"/>
                          </a:solidFill>
                          <a:latin typeface="Calibri"/>
                        </a:rPr>
                        <a:t>PAR above / under canopy</a:t>
                      </a:r>
                    </a:p>
                  </a:txBody>
                  <a:tcPr marL="54864" marR="54864" marT="18288" marB="18288" anchor="ctr">
                    <a:solidFill>
                      <a:srgbClr val="FFFFFF"/>
                    </a:solidFill>
                  </a:tcPr>
                </a:tc>
                <a:tc>
                  <a:txBody>
                    <a:bodyPr wrap="square"/>
                    <a:lstStyle/>
                    <a:p>
                      <a:r>
                        <a:rPr sz="1400" b="0">
                          <a:solidFill>
                            <a:srgbClr val="1B2A22"/>
                          </a:solidFill>
                          <a:latin typeface="Calibri"/>
                        </a:rPr>
                        <a:t>computed from the pyranometer value and the canopy shadow model</a:t>
                      </a:r>
                    </a:p>
                  </a:txBody>
                  <a:tcPr marL="54864" marR="54864" marT="18288" marB="18288" anchor="ctr">
                    <a:solidFill>
                      <a:srgbClr val="FFFFFF"/>
                    </a:solidFill>
                  </a:tcPr>
                </a:tc>
                <a:tc>
                  <a:txBody>
                    <a:bodyPr wrap="square"/>
                    <a:lstStyle/>
                    <a:p>
                      <a:r>
                        <a:rPr sz="1400" b="1">
                          <a:solidFill>
                            <a:srgbClr val="E8A317"/>
                          </a:solidFill>
                          <a:latin typeface="Calibri"/>
                        </a:rPr>
                        <a:t>SIM</a:t>
                      </a:r>
                    </a:p>
                  </a:txBody>
                  <a:tcPr marL="54864" marR="54864" marT="18288" marB="18288" anchor="ctr">
                    <a:solidFill>
                      <a:srgbClr val="FFFFFF"/>
                    </a:solidFill>
                  </a:tcPr>
                </a:tc>
                <a:tc>
                  <a:txBody>
                    <a:bodyPr wrap="square"/>
                    <a:lstStyle/>
                    <a:p>
                      <a:r>
                        <a:rPr sz="1400" b="0">
                          <a:solidFill>
                            <a:srgbClr val="1B2A22"/>
                          </a:solidFill>
                          <a:latin typeface="Calibri"/>
                        </a:rPr>
                        <a:t>no PAR sensor available yet</a:t>
                      </a:r>
                    </a:p>
                  </a:txBody>
                  <a:tcPr marL="54864" marR="54864" marT="18288" marB="18288" anchor="ctr">
                    <a:solidFill>
                      <a:srgbClr val="FFFFFF"/>
                    </a:solidFill>
                  </a:tcPr>
                </a:tc>
              </a:tr>
              <a:tr h="475488">
                <a:tc>
                  <a:txBody>
                    <a:bodyPr wrap="square"/>
                    <a:lstStyle/>
                    <a:p>
                      <a:r>
                        <a:rPr sz="1400" b="0">
                          <a:solidFill>
                            <a:srgbClr val="1B2A22"/>
                          </a:solidFill>
                          <a:latin typeface="Calibri"/>
                        </a:rPr>
                        <a:t>Wind speed</a:t>
                      </a:r>
                    </a:p>
                  </a:txBody>
                  <a:tcPr marL="54864" marR="54864" marT="18288" marB="18288" anchor="ctr">
                    <a:solidFill>
                      <a:srgbClr val="E6EEE0"/>
                    </a:solidFill>
                  </a:tcPr>
                </a:tc>
                <a:tc>
                  <a:txBody>
                    <a:bodyPr wrap="square"/>
                    <a:lstStyle/>
                    <a:p>
                      <a:r>
                        <a:rPr sz="1400" b="0">
                          <a:solidFill>
                            <a:srgbClr val="1B2A22"/>
                          </a:solidFill>
                          <a:latin typeface="Calibri"/>
                        </a:rPr>
                        <a:t>slider on the dashboard</a:t>
                      </a:r>
                    </a:p>
                  </a:txBody>
                  <a:tcPr marL="54864" marR="54864" marT="18288" marB="18288" anchor="ctr">
                    <a:solidFill>
                      <a:srgbClr val="E6EEE0"/>
                    </a:solidFill>
                  </a:tcPr>
                </a:tc>
                <a:tc>
                  <a:txBody>
                    <a:bodyPr wrap="square"/>
                    <a:lstStyle/>
                    <a:p>
                      <a:r>
                        <a:rPr sz="1400" b="1">
                          <a:solidFill>
                            <a:srgbClr val="E8A317"/>
                          </a:solidFill>
                          <a:latin typeface="Calibri"/>
                        </a:rPr>
                        <a:t>SIM</a:t>
                      </a:r>
                    </a:p>
                  </a:txBody>
                  <a:tcPr marL="54864" marR="54864" marT="18288" marB="18288" anchor="ctr">
                    <a:solidFill>
                      <a:srgbClr val="E6EEE0"/>
                    </a:solidFill>
                  </a:tcPr>
                </a:tc>
                <a:tc>
                  <a:txBody>
                    <a:bodyPr wrap="square"/>
                    <a:lstStyle/>
                    <a:p>
                      <a:r>
                        <a:rPr sz="1400" b="0">
                          <a:solidFill>
                            <a:srgbClr val="1B2A22"/>
                          </a:solidFill>
                          <a:latin typeface="Calibri"/>
                        </a:rPr>
                        <a:t>no anemometer yet</a:t>
                      </a:r>
                    </a:p>
                  </a:txBody>
                  <a:tcPr marL="54864" marR="54864" marT="18288" marB="18288" anchor="ctr">
                    <a:solidFill>
                      <a:srgbClr val="E6EEE0"/>
                    </a:solidFill>
                  </a:tcPr>
                </a:tc>
              </a:tr>
              <a:tr h="475488">
                <a:tc>
                  <a:txBody>
                    <a:bodyPr wrap="square"/>
                    <a:lstStyle/>
                    <a:p>
                      <a:r>
                        <a:rPr sz="1400" b="0">
                          <a:solidFill>
                            <a:srgbClr val="1B2A22"/>
                          </a:solidFill>
                          <a:latin typeface="Calibri"/>
                        </a:rPr>
                        <a:t>Panel tilt</a:t>
                      </a:r>
                    </a:p>
                  </a:txBody>
                  <a:tcPr marL="54864" marR="54864" marT="18288" marB="18288" anchor="ctr">
                    <a:solidFill>
                      <a:srgbClr val="FFFFFF"/>
                    </a:solidFill>
                  </a:tcPr>
                </a:tc>
                <a:tc>
                  <a:txBody>
                    <a:bodyPr wrap="square"/>
                    <a:lstStyle/>
                    <a:p>
                      <a:r>
                        <a:rPr sz="1400" b="0">
                          <a:solidFill>
                            <a:srgbClr val="1B2A22"/>
                          </a:solidFill>
                          <a:latin typeface="Calibri"/>
                        </a:rPr>
                        <a:t>shown on the MATLAB drawing only</a:t>
                      </a:r>
                    </a:p>
                  </a:txBody>
                  <a:tcPr marL="54864" marR="54864" marT="18288" marB="18288" anchor="ctr">
                    <a:solidFill>
                      <a:srgbClr val="FFFFFF"/>
                    </a:solidFill>
                  </a:tcPr>
                </a:tc>
                <a:tc>
                  <a:txBody>
                    <a:bodyPr wrap="square"/>
                    <a:lstStyle/>
                    <a:p>
                      <a:r>
                        <a:rPr sz="1400" b="1">
                          <a:solidFill>
                            <a:srgbClr val="E8A317"/>
                          </a:solidFill>
                          <a:latin typeface="Calibri"/>
                        </a:rPr>
                        <a:t>SIM</a:t>
                      </a:r>
                    </a:p>
                  </a:txBody>
                  <a:tcPr marL="54864" marR="54864" marT="18288" marB="18288" anchor="ctr">
                    <a:solidFill>
                      <a:srgbClr val="FFFFFF"/>
                    </a:solidFill>
                  </a:tcPr>
                </a:tc>
                <a:tc>
                  <a:txBody>
                    <a:bodyPr wrap="square"/>
                    <a:lstStyle/>
                    <a:p>
                      <a:r>
                        <a:rPr sz="1400" b="0">
                          <a:solidFill>
                            <a:srgbClr val="1B2A22"/>
                          </a:solidFill>
                          <a:latin typeface="Calibri"/>
                        </a:rPr>
                        <a:t>no actuator on the prototype</a:t>
                      </a:r>
                    </a:p>
                  </a:txBody>
                  <a:tcPr marL="54864" marR="54864" marT="18288" marB="18288" anchor="ctr">
                    <a:solidFill>
                      <a:srgbClr val="FFFFFF"/>
                    </a:solidFill>
                  </a:tcPr>
                </a:tc>
              </a:tr>
            </a:tbl>
          </a:graphicData>
        </a:graphic>
      </p:graphicFrame>
      <p:sp>
        <p:nvSpPr>
          <p:cNvPr id="5" name="Rounded Rectangle 4"/>
          <p:cNvSpPr/>
          <p:nvPr/>
        </p:nvSpPr>
        <p:spPr>
          <a:xfrm>
            <a:off x="548640" y="5532120"/>
            <a:ext cx="11064240" cy="868680"/>
          </a:xfrm>
          <a:prstGeom prst="roundRect">
            <a:avLst>
              <a:gd name="adj" fmla="val 8000"/>
            </a:avLst>
          </a:prstGeom>
          <a:solidFill>
            <a:srgbClr val="FFFFFF"/>
          </a:solidFill>
          <a:ln w="127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577840"/>
            <a:ext cx="10698480" cy="777240"/>
          </a:xfrm>
          <a:prstGeom prst="rect">
            <a:avLst/>
          </a:prstGeom>
          <a:noFill/>
        </p:spPr>
        <p:txBody>
          <a:bodyPr wrap="square" anchor="ctr" lIns="45720" rIns="45720" tIns="27432" bIns="27432">
            <a:spAutoFit/>
          </a:bodyPr>
          <a:lstStyle/>
          <a:p>
            <a:pPr algn="l">
              <a:spcAft>
                <a:spcPts val="400"/>
              </a:spcAft>
            </a:pPr>
            <a:r>
              <a:rPr sz="1500" b="0" i="0">
                <a:solidFill>
                  <a:srgbClr val="1B2A22"/>
                </a:solidFill>
                <a:latin typeface="Calibri"/>
              </a:rPr>
              <a:t>The simulated sensors use the same equations as the validated model (PVGIS comparison +5.0 %, Blender ray tracing 0.010). They are placeholders for a real pyranometer and PAR sensor, which would only replace two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System architecture</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Sensors -&gt; ESP board -&gt; USB -&gt; MATLAB -&gt; decision -&gt; tilt on screen and irrigation</a:t>
            </a:r>
          </a:p>
        </p:txBody>
      </p:sp>
      <p:sp>
        <p:nvSpPr>
          <p:cNvPr id="4" name="Rounded Rectangle 3"/>
          <p:cNvSpPr/>
          <p:nvPr/>
        </p:nvSpPr>
        <p:spPr>
          <a:xfrm>
            <a:off x="457200" y="1828800"/>
            <a:ext cx="2377440" cy="2377440"/>
          </a:xfrm>
          <a:prstGeom prst="roundRect">
            <a:avLst>
              <a:gd name="adj" fmla="val 8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920240"/>
            <a:ext cx="2286000" cy="457200"/>
          </a:xfrm>
          <a:prstGeom prst="rect">
            <a:avLst/>
          </a:prstGeom>
          <a:noFill/>
        </p:spPr>
        <p:txBody>
          <a:bodyPr wrap="square" anchor="t" lIns="45720" rIns="45720" tIns="27432" bIns="27432">
            <a:spAutoFit/>
          </a:bodyPr>
          <a:lstStyle/>
          <a:p>
            <a:pPr algn="ctr">
              <a:spcAft>
                <a:spcPts val="400"/>
              </a:spcAft>
            </a:pPr>
            <a:r>
              <a:rPr sz="1700" b="1" i="0">
                <a:solidFill>
                  <a:srgbClr val="FFFFFF"/>
                </a:solidFill>
                <a:latin typeface="Calibri"/>
              </a:rPr>
              <a:t>REAL sensors</a:t>
            </a:r>
          </a:p>
        </p:txBody>
      </p:sp>
      <p:sp>
        <p:nvSpPr>
          <p:cNvPr id="6" name="TextBox 5"/>
          <p:cNvSpPr txBox="1"/>
          <p:nvPr/>
        </p:nvSpPr>
        <p:spPr>
          <a:xfrm>
            <a:off x="530352" y="2377440"/>
            <a:ext cx="2231136" cy="1783080"/>
          </a:xfrm>
          <a:prstGeom prst="rect">
            <a:avLst/>
          </a:prstGeom>
          <a:noFill/>
        </p:spPr>
        <p:txBody>
          <a:bodyPr wrap="square" anchor="t" lIns="45720" rIns="45720" tIns="27432" bIns="27432">
            <a:spAutoFit/>
          </a:bodyPr>
          <a:lstStyle/>
          <a:p>
            <a:pPr algn="ctr">
              <a:spcAft>
                <a:spcPts val="400"/>
              </a:spcAft>
            </a:pPr>
            <a:r>
              <a:rPr sz="1300" b="0" i="0">
                <a:solidFill>
                  <a:srgbClr val="FFFFFF"/>
                </a:solidFill>
                <a:latin typeface="Calibri"/>
              </a:rPr>
              <a:t>DHT11 (temperature, humidity)
soil moisture
rain sensor</a:t>
            </a:r>
          </a:p>
        </p:txBody>
      </p:sp>
      <p:sp>
        <p:nvSpPr>
          <p:cNvPr id="7" name="Rounded Rectangle 6"/>
          <p:cNvSpPr/>
          <p:nvPr/>
        </p:nvSpPr>
        <p:spPr>
          <a:xfrm>
            <a:off x="3383280" y="1828800"/>
            <a:ext cx="2103120" cy="2377440"/>
          </a:xfrm>
          <a:prstGeom prst="roundRect">
            <a:avLst>
              <a:gd name="adj" fmla="val 8000"/>
            </a:avLst>
          </a:prstGeom>
          <a:solidFill>
            <a:srgbClr val="2D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920240"/>
            <a:ext cx="2011679" cy="457200"/>
          </a:xfrm>
          <a:prstGeom prst="rect">
            <a:avLst/>
          </a:prstGeom>
          <a:noFill/>
        </p:spPr>
        <p:txBody>
          <a:bodyPr wrap="square" anchor="t" lIns="45720" rIns="45720" tIns="27432" bIns="27432">
            <a:spAutoFit/>
          </a:bodyPr>
          <a:lstStyle/>
          <a:p>
            <a:pPr algn="ctr">
              <a:spcAft>
                <a:spcPts val="400"/>
              </a:spcAft>
            </a:pPr>
            <a:r>
              <a:rPr sz="1700" b="1" i="0">
                <a:solidFill>
                  <a:srgbClr val="FFFFFF"/>
                </a:solidFill>
                <a:latin typeface="Calibri"/>
              </a:rPr>
              <a:t>ESP8266 / ESP32</a:t>
            </a:r>
          </a:p>
        </p:txBody>
      </p:sp>
      <p:sp>
        <p:nvSpPr>
          <p:cNvPr id="9" name="TextBox 8"/>
          <p:cNvSpPr txBox="1"/>
          <p:nvPr/>
        </p:nvSpPr>
        <p:spPr>
          <a:xfrm>
            <a:off x="3456432" y="2377440"/>
            <a:ext cx="1956815" cy="1783080"/>
          </a:xfrm>
          <a:prstGeom prst="rect">
            <a:avLst/>
          </a:prstGeom>
          <a:noFill/>
        </p:spPr>
        <p:txBody>
          <a:bodyPr wrap="square" anchor="t" lIns="45720" rIns="45720" tIns="27432" bIns="27432">
            <a:spAutoFit/>
          </a:bodyPr>
          <a:lstStyle/>
          <a:p>
            <a:pPr algn="ctr">
              <a:spcAft>
                <a:spcPts val="400"/>
              </a:spcAft>
            </a:pPr>
            <a:r>
              <a:rPr sz="1300" b="0" i="0">
                <a:solidFill>
                  <a:srgbClr val="FFFFFF"/>
                </a:solidFill>
                <a:latin typeface="Calibri"/>
              </a:rPr>
              <a:t>reads sensors every second
sends one text line over USB (115200 baud)</a:t>
            </a:r>
          </a:p>
        </p:txBody>
      </p:sp>
      <p:sp>
        <p:nvSpPr>
          <p:cNvPr id="10" name="Rounded Rectangle 9"/>
          <p:cNvSpPr/>
          <p:nvPr/>
        </p:nvSpPr>
        <p:spPr>
          <a:xfrm>
            <a:off x="6035040" y="1828800"/>
            <a:ext cx="2560320" cy="2377440"/>
          </a:xfrm>
          <a:prstGeom prst="roundRect">
            <a:avLst>
              <a:gd name="adj" fmla="val 8000"/>
            </a:avLst>
          </a:prstGeom>
          <a:solidFill>
            <a:srgbClr val="143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59" y="1920240"/>
            <a:ext cx="2468879" cy="457200"/>
          </a:xfrm>
          <a:prstGeom prst="rect">
            <a:avLst/>
          </a:prstGeom>
          <a:noFill/>
        </p:spPr>
        <p:txBody>
          <a:bodyPr wrap="square" anchor="t" lIns="45720" rIns="45720" tIns="27432" bIns="27432">
            <a:spAutoFit/>
          </a:bodyPr>
          <a:lstStyle/>
          <a:p>
            <a:pPr algn="ctr">
              <a:spcAft>
                <a:spcPts val="400"/>
              </a:spcAft>
            </a:pPr>
            <a:r>
              <a:rPr sz="1700" b="1" i="0">
                <a:solidFill>
                  <a:srgbClr val="FFFFFF"/>
                </a:solidFill>
                <a:latin typeface="Calibri"/>
              </a:rPr>
              <a:t>MATLAB dashboard</a:t>
            </a:r>
          </a:p>
        </p:txBody>
      </p:sp>
      <p:sp>
        <p:nvSpPr>
          <p:cNvPr id="12" name="TextBox 11"/>
          <p:cNvSpPr txBox="1"/>
          <p:nvPr/>
        </p:nvSpPr>
        <p:spPr>
          <a:xfrm>
            <a:off x="6108192" y="2377440"/>
            <a:ext cx="2414015" cy="1783080"/>
          </a:xfrm>
          <a:prstGeom prst="rect">
            <a:avLst/>
          </a:prstGeom>
          <a:noFill/>
        </p:spPr>
        <p:txBody>
          <a:bodyPr wrap="square" anchor="t" lIns="45720" rIns="45720" tIns="27432" bIns="27432">
            <a:spAutoFit/>
          </a:bodyPr>
          <a:lstStyle/>
          <a:p>
            <a:pPr algn="ctr">
              <a:spcAft>
                <a:spcPts val="400"/>
              </a:spcAft>
            </a:pPr>
            <a:r>
              <a:rPr sz="1300" b="0" i="0">
                <a:solidFill>
                  <a:srgbClr val="FFFFFF"/>
                </a:solidFill>
                <a:latin typeface="Calibri"/>
              </a:rPr>
              <a:t>parses the line, calibrates soil
logs CSV, draws live plots</a:t>
            </a:r>
          </a:p>
        </p:txBody>
      </p:sp>
      <p:sp>
        <p:nvSpPr>
          <p:cNvPr id="13" name="Rounded Rectangle 12"/>
          <p:cNvSpPr/>
          <p:nvPr/>
        </p:nvSpPr>
        <p:spPr>
          <a:xfrm>
            <a:off x="9144000" y="1828800"/>
            <a:ext cx="2560320" cy="2377440"/>
          </a:xfrm>
          <a:prstGeom prst="roundRect">
            <a:avLst>
              <a:gd name="adj" fmla="val 8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920240"/>
            <a:ext cx="2468879" cy="457200"/>
          </a:xfrm>
          <a:prstGeom prst="rect">
            <a:avLst/>
          </a:prstGeom>
          <a:noFill/>
        </p:spPr>
        <p:txBody>
          <a:bodyPr wrap="square" anchor="t" lIns="45720" rIns="45720" tIns="27432" bIns="27432">
            <a:spAutoFit/>
          </a:bodyPr>
          <a:lstStyle/>
          <a:p>
            <a:pPr algn="ctr">
              <a:spcAft>
                <a:spcPts val="400"/>
              </a:spcAft>
            </a:pPr>
            <a:r>
              <a:rPr sz="1700" b="1" i="0">
                <a:solidFill>
                  <a:srgbClr val="1B2A22"/>
                </a:solidFill>
                <a:latin typeface="Calibri"/>
              </a:rPr>
              <a:t>Controller</a:t>
            </a:r>
          </a:p>
        </p:txBody>
      </p:sp>
      <p:sp>
        <p:nvSpPr>
          <p:cNvPr id="15" name="TextBox 14"/>
          <p:cNvSpPr txBox="1"/>
          <p:nvPr/>
        </p:nvSpPr>
        <p:spPr>
          <a:xfrm>
            <a:off x="9217152" y="2377440"/>
            <a:ext cx="2414015" cy="1783080"/>
          </a:xfrm>
          <a:prstGeom prst="rect">
            <a:avLst/>
          </a:prstGeom>
          <a:noFill/>
        </p:spPr>
        <p:txBody>
          <a:bodyPr wrap="square" anchor="t" lIns="45720" rIns="45720" tIns="27432" bIns="27432">
            <a:spAutoFit/>
          </a:bodyPr>
          <a:lstStyle/>
          <a:p>
            <a:pPr algn="ctr">
              <a:spcAft>
                <a:spcPts val="400"/>
              </a:spcAft>
            </a:pPr>
            <a:r>
              <a:rPr sz="1300" b="0" i="0">
                <a:solidFill>
                  <a:srgbClr val="1B2A22"/>
                </a:solidFill>
                <a:latin typeface="Calibri"/>
              </a:rPr>
              <a:t>wind stow &gt; rain 3 deg &gt; night park &gt; optimise energy + crop light</a:t>
            </a:r>
          </a:p>
        </p:txBody>
      </p:sp>
      <p:sp>
        <p:nvSpPr>
          <p:cNvPr id="16" name="Rounded Rectangle 15"/>
          <p:cNvSpPr/>
          <p:nvPr/>
        </p:nvSpPr>
        <p:spPr>
          <a:xfrm>
            <a:off x="3383280" y="4754880"/>
            <a:ext cx="2103120" cy="1371600"/>
          </a:xfrm>
          <a:prstGeom prst="roundRect">
            <a:avLst>
              <a:gd name="adj" fmla="val 8000"/>
            </a:avLst>
          </a:prstGeom>
          <a:solidFill>
            <a:srgbClr val="8A6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4846320"/>
            <a:ext cx="2011679" cy="457200"/>
          </a:xfrm>
          <a:prstGeom prst="rect">
            <a:avLst/>
          </a:prstGeom>
          <a:noFill/>
        </p:spPr>
        <p:txBody>
          <a:bodyPr wrap="square" anchor="t" lIns="45720" rIns="45720" tIns="27432" bIns="27432">
            <a:spAutoFit/>
          </a:bodyPr>
          <a:lstStyle/>
          <a:p>
            <a:pPr algn="ctr">
              <a:spcAft>
                <a:spcPts val="400"/>
              </a:spcAft>
            </a:pPr>
            <a:r>
              <a:rPr sz="1700" b="1" i="0">
                <a:solidFill>
                  <a:srgbClr val="FFFFFF"/>
                </a:solidFill>
                <a:latin typeface="Calibri"/>
              </a:rPr>
              <a:t>SIM sensors</a:t>
            </a:r>
          </a:p>
        </p:txBody>
      </p:sp>
      <p:sp>
        <p:nvSpPr>
          <p:cNvPr id="18" name="TextBox 17"/>
          <p:cNvSpPr txBox="1"/>
          <p:nvPr/>
        </p:nvSpPr>
        <p:spPr>
          <a:xfrm>
            <a:off x="3456432" y="5303520"/>
            <a:ext cx="1956815" cy="777240"/>
          </a:xfrm>
          <a:prstGeom prst="rect">
            <a:avLst/>
          </a:prstGeom>
          <a:noFill/>
        </p:spPr>
        <p:txBody>
          <a:bodyPr wrap="square" anchor="t" lIns="45720" rIns="45720" tIns="27432" bIns="27432">
            <a:spAutoFit/>
          </a:bodyPr>
          <a:lstStyle/>
          <a:p>
            <a:pPr algn="ctr">
              <a:spcAft>
                <a:spcPts val="400"/>
              </a:spcAft>
            </a:pPr>
            <a:r>
              <a:rPr sz="1300" b="0" i="0">
                <a:solidFill>
                  <a:srgbClr val="FFFFFF"/>
                </a:solidFill>
                <a:latin typeface="Calibri"/>
              </a:rPr>
              <a:t>pyranometer, PAR, wind (sliders + sky icon)</a:t>
            </a:r>
          </a:p>
        </p:txBody>
      </p:sp>
      <p:sp>
        <p:nvSpPr>
          <p:cNvPr id="19" name="Rounded Rectangle 18"/>
          <p:cNvSpPr/>
          <p:nvPr/>
        </p:nvSpPr>
        <p:spPr>
          <a:xfrm>
            <a:off x="9144000" y="4754880"/>
            <a:ext cx="2560320" cy="1371600"/>
          </a:xfrm>
          <a:prstGeom prst="roundRect">
            <a:avLst>
              <a:gd name="adj" fmla="val 8000"/>
            </a:avLst>
          </a:prstGeom>
          <a:solidFill>
            <a:srgbClr val="5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4846320"/>
            <a:ext cx="2468879" cy="457200"/>
          </a:xfrm>
          <a:prstGeom prst="rect">
            <a:avLst/>
          </a:prstGeom>
          <a:noFill/>
        </p:spPr>
        <p:txBody>
          <a:bodyPr wrap="square" anchor="t" lIns="45720" rIns="45720" tIns="27432" bIns="27432">
            <a:spAutoFit/>
          </a:bodyPr>
          <a:lstStyle/>
          <a:p>
            <a:pPr algn="ctr">
              <a:spcAft>
                <a:spcPts val="400"/>
              </a:spcAft>
            </a:pPr>
            <a:r>
              <a:rPr sz="1700" b="1" i="0">
                <a:solidFill>
                  <a:srgbClr val="FFFFFF"/>
                </a:solidFill>
                <a:latin typeface="Calibri"/>
              </a:rPr>
              <a:t>Outputs</a:t>
            </a:r>
          </a:p>
        </p:txBody>
      </p:sp>
      <p:sp>
        <p:nvSpPr>
          <p:cNvPr id="21" name="TextBox 20"/>
          <p:cNvSpPr txBox="1"/>
          <p:nvPr/>
        </p:nvSpPr>
        <p:spPr>
          <a:xfrm>
            <a:off x="9217152" y="5303520"/>
            <a:ext cx="2414015" cy="777240"/>
          </a:xfrm>
          <a:prstGeom prst="rect">
            <a:avLst/>
          </a:prstGeom>
          <a:noFill/>
        </p:spPr>
        <p:txBody>
          <a:bodyPr wrap="square" anchor="t" lIns="45720" rIns="45720" tIns="27432" bIns="27432">
            <a:spAutoFit/>
          </a:bodyPr>
          <a:lstStyle/>
          <a:p>
            <a:pPr algn="ctr">
              <a:spcAft>
                <a:spcPts val="400"/>
              </a:spcAft>
            </a:pPr>
            <a:r>
              <a:rPr sz="1300" b="0" i="0">
                <a:solidFill>
                  <a:srgbClr val="FFFFFF"/>
                </a:solidFill>
                <a:latin typeface="Calibri"/>
              </a:rPr>
              <a:t>panel angle on screen, pump ON/OFF, cistern level, evidence files</a:t>
            </a:r>
          </a:p>
        </p:txBody>
      </p:sp>
      <p:cxnSp>
        <p:nvCxnSpPr>
          <p:cNvPr id="22" name="Connector 21"/>
          <p:cNvCxnSpPr/>
          <p:nvPr/>
        </p:nvCxnSpPr>
        <p:spPr>
          <a:xfrm>
            <a:off x="2834640" y="3017520"/>
            <a:ext cx="548640" cy="0"/>
          </a:xfrm>
          <a:prstGeom prst="line">
            <a:avLst/>
          </a:prstGeom>
          <a:ln w="31750">
            <a:solidFill>
              <a:srgbClr val="5B6B6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486400" y="3017520"/>
            <a:ext cx="548640" cy="0"/>
          </a:xfrm>
          <a:prstGeom prst="line">
            <a:avLst/>
          </a:prstGeom>
          <a:ln w="31750">
            <a:solidFill>
              <a:srgbClr val="5B6B6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95360" y="3017520"/>
            <a:ext cx="548640" cy="0"/>
          </a:xfrm>
          <a:prstGeom prst="line">
            <a:avLst/>
          </a:prstGeom>
          <a:ln w="31750">
            <a:solidFill>
              <a:srgbClr val="5B6B6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434840" y="4206240"/>
            <a:ext cx="2331720" cy="548640"/>
          </a:xfrm>
          <a:prstGeom prst="line">
            <a:avLst/>
          </a:prstGeom>
          <a:ln w="31750">
            <a:solidFill>
              <a:srgbClr val="5B6B6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424160" y="4206240"/>
            <a:ext cx="0" cy="548640"/>
          </a:xfrm>
          <a:prstGeom prst="line">
            <a:avLst/>
          </a:prstGeom>
          <a:ln w="31750">
            <a:solidFill>
              <a:srgbClr val="5B6B62"/>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4800600"/>
            <a:ext cx="2743200" cy="1280160"/>
          </a:xfrm>
          <a:prstGeom prst="rect">
            <a:avLst/>
          </a:prstGeom>
          <a:noFill/>
        </p:spPr>
        <p:txBody>
          <a:bodyPr wrap="square" anchor="t" lIns="45720" rIns="45720" tIns="27432" bIns="27432">
            <a:spAutoFit/>
          </a:bodyPr>
          <a:lstStyle/>
          <a:p>
            <a:pPr algn="l">
              <a:spcAft>
                <a:spcPts val="400"/>
              </a:spcAft>
            </a:pPr>
            <a:r>
              <a:rPr sz="1400" b="0" i="0">
                <a:solidFill>
                  <a:srgbClr val="5B6B62"/>
                </a:solidFill>
                <a:latin typeface="Calibri"/>
              </a:rPr>
              <a:t>Backup: ESP32 with the same serial protocol</a:t>
            </a:r>
          </a:p>
          <a:p>
            <a:pPr algn="l">
              <a:spcAft>
                <a:spcPts val="400"/>
              </a:spcAft>
            </a:pPr>
            <a:r>
              <a:rPr sz="1400" b="0" i="0">
                <a:solidFill>
                  <a:srgbClr val="5B6B62"/>
                </a:solidFill>
                <a:latin typeface="Calibri"/>
              </a:rPr>
              <a:t>MATLAB also runs without hardware (Simulate mode)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Hardware wiring</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NodeMCU ESP8266 (CP2102) main board, ESP32 as backup; everything on 3.3 V and one common ground</a:t>
            </a:r>
          </a:p>
        </p:txBody>
      </p:sp>
      <p:graphicFrame>
        <p:nvGraphicFramePr>
          <p:cNvPr id="4" name="Table 3"/>
          <p:cNvGraphicFramePr>
            <a:graphicFrameLocks noGrp="1"/>
          </p:cNvGraphicFramePr>
          <p:nvPr/>
        </p:nvGraphicFramePr>
        <p:xfrm>
          <a:off x="548640" y="1600200"/>
          <a:ext cx="11064240" cy="2011680"/>
        </p:xfrm>
        <a:graphic>
          <a:graphicData uri="http://schemas.openxmlformats.org/drawingml/2006/table">
            <a:tbl>
              <a:tblPr firstRow="1" bandRow="1">
                <a:tableStyleId>{5C22544A-7EE6-4342-B048-85BDC9FD1C3A}</a:tableStyleId>
              </a:tblPr>
              <a:tblGrid>
                <a:gridCol w="2103120"/>
                <a:gridCol w="2651760"/>
                <a:gridCol w="2834640"/>
                <a:gridCol w="3474720"/>
              </a:tblGrid>
              <a:tr h="502920">
                <a:tc>
                  <a:txBody>
                    <a:bodyPr wrap="square"/>
                    <a:lstStyle/>
                    <a:p>
                      <a:r>
                        <a:rPr sz="1500" b="1">
                          <a:solidFill>
                            <a:srgbClr val="FFFFFF"/>
                          </a:solidFill>
                          <a:latin typeface="Calibri"/>
                        </a:rPr>
                        <a:t>Sensor</a:t>
                      </a:r>
                    </a:p>
                  </a:txBody>
                  <a:tcPr marL="54864" marR="54864" marT="18288" marB="18288" anchor="ctr">
                    <a:solidFill>
                      <a:srgbClr val="14342B"/>
                    </a:solidFill>
                  </a:tcPr>
                </a:tc>
                <a:tc>
                  <a:txBody>
                    <a:bodyPr wrap="square"/>
                    <a:lstStyle/>
                    <a:p>
                      <a:r>
                        <a:rPr sz="1500" b="1">
                          <a:solidFill>
                            <a:srgbClr val="FFFFFF"/>
                          </a:solidFill>
                          <a:latin typeface="Calibri"/>
                        </a:rPr>
                        <a:t>Sensor pin</a:t>
                      </a:r>
                    </a:p>
                  </a:txBody>
                  <a:tcPr marL="54864" marR="54864" marT="18288" marB="18288" anchor="ctr">
                    <a:solidFill>
                      <a:srgbClr val="14342B"/>
                    </a:solidFill>
                  </a:tcPr>
                </a:tc>
                <a:tc>
                  <a:txBody>
                    <a:bodyPr wrap="square"/>
                    <a:lstStyle/>
                    <a:p>
                      <a:r>
                        <a:rPr sz="1500" b="1">
                          <a:solidFill>
                            <a:srgbClr val="FFFFFF"/>
                          </a:solidFill>
                          <a:latin typeface="Calibri"/>
                        </a:rPr>
                        <a:t>ESP8266 NodeMCU</a:t>
                      </a:r>
                    </a:p>
                  </a:txBody>
                  <a:tcPr marL="54864" marR="54864" marT="18288" marB="18288" anchor="ctr">
                    <a:solidFill>
                      <a:srgbClr val="14342B"/>
                    </a:solidFill>
                  </a:tcPr>
                </a:tc>
                <a:tc>
                  <a:txBody>
                    <a:bodyPr wrap="square"/>
                    <a:lstStyle/>
                    <a:p>
                      <a:r>
                        <a:rPr sz="1500" b="1">
                          <a:solidFill>
                            <a:srgbClr val="FFFFFF"/>
                          </a:solidFill>
                          <a:latin typeface="Calibri"/>
                        </a:rPr>
                        <a:t>ESP32</a:t>
                      </a:r>
                    </a:p>
                  </a:txBody>
                  <a:tcPr marL="54864" marR="54864" marT="18288" marB="18288" anchor="ctr">
                    <a:solidFill>
                      <a:srgbClr val="14342B"/>
                    </a:solidFill>
                  </a:tcPr>
                </a:tc>
              </a:tr>
              <a:tr h="502920">
                <a:tc>
                  <a:txBody>
                    <a:bodyPr wrap="square"/>
                    <a:lstStyle/>
                    <a:p>
                      <a:r>
                        <a:rPr sz="1500" b="1">
                          <a:solidFill>
                            <a:srgbClr val="1B2A22"/>
                          </a:solidFill>
                          <a:latin typeface="Calibri"/>
                        </a:rPr>
                        <a:t>DHT11</a:t>
                      </a:r>
                    </a:p>
                  </a:txBody>
                  <a:tcPr marL="54864" marR="54864" marT="18288" marB="18288" anchor="ctr">
                    <a:solidFill>
                      <a:srgbClr val="FFFFFF"/>
                    </a:solidFill>
                  </a:tcPr>
                </a:tc>
                <a:tc>
                  <a:txBody>
                    <a:bodyPr wrap="square"/>
                    <a:lstStyle/>
                    <a:p>
                      <a:r>
                        <a:rPr sz="1500" b="0">
                          <a:solidFill>
                            <a:srgbClr val="1B2A22"/>
                          </a:solidFill>
                          <a:latin typeface="Calibri"/>
                        </a:rPr>
                        <a:t>VCC / DATA / GND</a:t>
                      </a:r>
                    </a:p>
                  </a:txBody>
                  <a:tcPr marL="54864" marR="54864" marT="18288" marB="18288" anchor="ctr">
                    <a:solidFill>
                      <a:srgbClr val="FFFFFF"/>
                    </a:solidFill>
                  </a:tcPr>
                </a:tc>
                <a:tc>
                  <a:txBody>
                    <a:bodyPr wrap="square"/>
                    <a:lstStyle/>
                    <a:p>
                      <a:r>
                        <a:rPr sz="1500" b="0">
                          <a:solidFill>
                            <a:srgbClr val="1B2A22"/>
                          </a:solidFill>
                          <a:latin typeface="Calibri"/>
                        </a:rPr>
                        <a:t>3V3 / D2 / GND</a:t>
                      </a:r>
                    </a:p>
                  </a:txBody>
                  <a:tcPr marL="54864" marR="54864" marT="18288" marB="18288" anchor="ctr">
                    <a:solidFill>
                      <a:srgbClr val="FFFFFF"/>
                    </a:solidFill>
                  </a:tcPr>
                </a:tc>
                <a:tc>
                  <a:txBody>
                    <a:bodyPr wrap="square"/>
                    <a:lstStyle/>
                    <a:p>
                      <a:r>
                        <a:rPr sz="1500" b="0">
                          <a:solidFill>
                            <a:srgbClr val="1B2A22"/>
                          </a:solidFill>
                          <a:latin typeface="Calibri"/>
                        </a:rPr>
                        <a:t>3V3 / GPIO4 / GND</a:t>
                      </a:r>
                    </a:p>
                  </a:txBody>
                  <a:tcPr marL="54864" marR="54864" marT="18288" marB="18288" anchor="ctr">
                    <a:solidFill>
                      <a:srgbClr val="FFFFFF"/>
                    </a:solidFill>
                  </a:tcPr>
                </a:tc>
              </a:tr>
              <a:tr h="502920">
                <a:tc>
                  <a:txBody>
                    <a:bodyPr wrap="square"/>
                    <a:lstStyle/>
                    <a:p>
                      <a:r>
                        <a:rPr sz="1500" b="1">
                          <a:solidFill>
                            <a:srgbClr val="1B2A22"/>
                          </a:solidFill>
                          <a:latin typeface="Calibri"/>
                        </a:rPr>
                        <a:t>Soil moisture</a:t>
                      </a:r>
                    </a:p>
                  </a:txBody>
                  <a:tcPr marL="54864" marR="54864" marT="18288" marB="18288" anchor="ctr">
                    <a:solidFill>
                      <a:srgbClr val="E6EEE0"/>
                    </a:solidFill>
                  </a:tcPr>
                </a:tc>
                <a:tc>
                  <a:txBody>
                    <a:bodyPr wrap="square"/>
                    <a:lstStyle/>
                    <a:p>
                      <a:r>
                        <a:rPr sz="1500" b="0">
                          <a:solidFill>
                            <a:srgbClr val="1B2A22"/>
                          </a:solidFill>
                          <a:latin typeface="Calibri"/>
                        </a:rPr>
                        <a:t>VCC / AO / GND</a:t>
                      </a:r>
                    </a:p>
                  </a:txBody>
                  <a:tcPr marL="54864" marR="54864" marT="18288" marB="18288" anchor="ctr">
                    <a:solidFill>
                      <a:srgbClr val="E6EEE0"/>
                    </a:solidFill>
                  </a:tcPr>
                </a:tc>
                <a:tc>
                  <a:txBody>
                    <a:bodyPr wrap="square"/>
                    <a:lstStyle/>
                    <a:p>
                      <a:r>
                        <a:rPr sz="1500" b="0">
                          <a:solidFill>
                            <a:srgbClr val="1B2A22"/>
                          </a:solidFill>
                          <a:latin typeface="Calibri"/>
                        </a:rPr>
                        <a:t>3V3 / A0 / GND</a:t>
                      </a:r>
                    </a:p>
                  </a:txBody>
                  <a:tcPr marL="54864" marR="54864" marT="18288" marB="18288" anchor="ctr">
                    <a:solidFill>
                      <a:srgbClr val="E6EEE0"/>
                    </a:solidFill>
                  </a:tcPr>
                </a:tc>
                <a:tc>
                  <a:txBody>
                    <a:bodyPr wrap="square"/>
                    <a:lstStyle/>
                    <a:p>
                      <a:r>
                        <a:rPr sz="1500" b="0">
                          <a:solidFill>
                            <a:srgbClr val="1B2A22"/>
                          </a:solidFill>
                          <a:latin typeface="Calibri"/>
                        </a:rPr>
                        <a:t>3V3 / GPIO34 / GND</a:t>
                      </a:r>
                    </a:p>
                  </a:txBody>
                  <a:tcPr marL="54864" marR="54864" marT="18288" marB="18288" anchor="ctr">
                    <a:solidFill>
                      <a:srgbClr val="E6EEE0"/>
                    </a:solidFill>
                  </a:tcPr>
                </a:tc>
              </a:tr>
              <a:tr h="502920">
                <a:tc>
                  <a:txBody>
                    <a:bodyPr wrap="square"/>
                    <a:lstStyle/>
                    <a:p>
                      <a:r>
                        <a:rPr sz="1500" b="1">
                          <a:solidFill>
                            <a:srgbClr val="1B2A22"/>
                          </a:solidFill>
                          <a:latin typeface="Calibri"/>
                        </a:rPr>
                        <a:t>Rain sensor</a:t>
                      </a:r>
                    </a:p>
                  </a:txBody>
                  <a:tcPr marL="54864" marR="54864" marT="18288" marB="18288" anchor="ctr">
                    <a:solidFill>
                      <a:srgbClr val="FFFFFF"/>
                    </a:solidFill>
                  </a:tcPr>
                </a:tc>
                <a:tc>
                  <a:txBody>
                    <a:bodyPr wrap="square"/>
                    <a:lstStyle/>
                    <a:p>
                      <a:r>
                        <a:rPr sz="1500" b="0">
                          <a:solidFill>
                            <a:srgbClr val="1B2A22"/>
                          </a:solidFill>
                          <a:latin typeface="Calibri"/>
                        </a:rPr>
                        <a:t>VCC / DO / GND</a:t>
                      </a:r>
                    </a:p>
                  </a:txBody>
                  <a:tcPr marL="54864" marR="54864" marT="18288" marB="18288" anchor="ctr">
                    <a:solidFill>
                      <a:srgbClr val="FFFFFF"/>
                    </a:solidFill>
                  </a:tcPr>
                </a:tc>
                <a:tc>
                  <a:txBody>
                    <a:bodyPr wrap="square"/>
                    <a:lstStyle/>
                    <a:p>
                      <a:r>
                        <a:rPr sz="1500" b="0">
                          <a:solidFill>
                            <a:srgbClr val="1B2A22"/>
                          </a:solidFill>
                          <a:latin typeface="Calibri"/>
                        </a:rPr>
                        <a:t>3V3 / D5 / GND</a:t>
                      </a:r>
                    </a:p>
                  </a:txBody>
                  <a:tcPr marL="54864" marR="54864" marT="18288" marB="18288" anchor="ctr">
                    <a:solidFill>
                      <a:srgbClr val="FFFFFF"/>
                    </a:solidFill>
                  </a:tcPr>
                </a:tc>
                <a:tc>
                  <a:txBody>
                    <a:bodyPr wrap="square"/>
                    <a:lstStyle/>
                    <a:p>
                      <a:r>
                        <a:rPr sz="1500" b="0">
                          <a:solidFill>
                            <a:srgbClr val="1B2A22"/>
                          </a:solidFill>
                          <a:latin typeface="Calibri"/>
                        </a:rPr>
                        <a:t>3V3 / GPIO27 / GND (AO to GPIO35 optional)</a:t>
                      </a:r>
                    </a:p>
                  </a:txBody>
                  <a:tcPr marL="54864" marR="54864" marT="18288" marB="18288" anchor="ctr">
                    <a:solidFill>
                      <a:srgbClr val="FFFFFF"/>
                    </a:solidFill>
                  </a:tcPr>
                </a:tc>
              </a:tr>
            </a:tbl>
          </a:graphicData>
        </a:graphic>
      </p:graphicFrame>
      <p:sp>
        <p:nvSpPr>
          <p:cNvPr id="5" name="TextBox 4"/>
          <p:cNvSpPr txBox="1"/>
          <p:nvPr/>
        </p:nvSpPr>
        <p:spPr>
          <a:xfrm>
            <a:off x="548640" y="3840480"/>
            <a:ext cx="5577840" cy="2651760"/>
          </a:xfrm>
          <a:prstGeom prst="rect">
            <a:avLst/>
          </a:prstGeom>
          <a:noFill/>
        </p:spPr>
        <p:txBody>
          <a:bodyPr wrap="square">
            <a:spAutoFit/>
          </a:bodyPr>
          <a:lstStyle/>
          <a:p>
            <a:pPr>
              <a:spcAft>
                <a:spcPts val="600"/>
              </a:spcAft>
            </a:pPr>
            <a:r>
              <a:rPr sz="1600" b="0">
                <a:solidFill>
                  <a:srgbClr val="1B2A22"/>
                </a:solidFill>
                <a:latin typeface="Calibri"/>
              </a:rPr>
              <a:t>•  ESP8266 has only one analog pin: soil on A0, rain on the digital output D5</a:t>
            </a:r>
          </a:p>
          <a:p>
            <a:pPr>
              <a:spcAft>
                <a:spcPts val="600"/>
              </a:spcAft>
            </a:pPr>
            <a:r>
              <a:rPr sz="1600" b="0">
                <a:solidFill>
                  <a:srgbClr val="1B2A22"/>
                </a:solidFill>
                <a:latin typeface="Calibri"/>
              </a:rPr>
              <a:t>•  D4 on-board LED lights while rain is detected</a:t>
            </a:r>
          </a:p>
          <a:p>
            <a:pPr>
              <a:spcAft>
                <a:spcPts val="600"/>
              </a:spcAft>
            </a:pPr>
            <a:r>
              <a:rPr sz="1600" b="0">
                <a:solidFill>
                  <a:srgbClr val="1B2A22"/>
                </a:solidFill>
                <a:latin typeface="Calibri"/>
              </a:rPr>
              <a:t>•  Avoid D3, D4 and D8 for sensors (they set the boot mode)</a:t>
            </a:r>
          </a:p>
          <a:p>
            <a:pPr>
              <a:spcAft>
                <a:spcPts val="600"/>
              </a:spcAft>
            </a:pPr>
            <a:r>
              <a:rPr sz="1600" b="0">
                <a:solidFill>
                  <a:srgbClr val="1B2A22"/>
                </a:solidFill>
                <a:latin typeface="Calibri"/>
              </a:rPr>
              <a:t>•  Never put 5 V on A0 or a D pin</a:t>
            </a:r>
          </a:p>
        </p:txBody>
      </p:sp>
      <p:sp>
        <p:nvSpPr>
          <p:cNvPr id="6" name="Rounded Rectangle 5"/>
          <p:cNvSpPr/>
          <p:nvPr/>
        </p:nvSpPr>
        <p:spPr>
          <a:xfrm>
            <a:off x="6400800" y="3840480"/>
            <a:ext cx="5212080" cy="214884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3931920"/>
            <a:ext cx="4846320" cy="365760"/>
          </a:xfrm>
          <a:prstGeom prst="rect">
            <a:avLst/>
          </a:prstGeom>
          <a:noFill/>
        </p:spPr>
        <p:txBody>
          <a:bodyPr wrap="square" anchor="t" lIns="45720" rIns="45720" tIns="27432" bIns="27432">
            <a:spAutoFit/>
          </a:bodyPr>
          <a:lstStyle/>
          <a:p>
            <a:pPr algn="l">
              <a:spcAft>
                <a:spcPts val="400"/>
              </a:spcAft>
            </a:pPr>
            <a:r>
              <a:rPr sz="1700" b="1" i="0">
                <a:solidFill>
                  <a:srgbClr val="14342B"/>
                </a:solidFill>
                <a:latin typeface="Calibri"/>
              </a:rPr>
              <a:t>Bring-up check (5 minutes)</a:t>
            </a:r>
          </a:p>
        </p:txBody>
      </p:sp>
      <p:sp>
        <p:nvSpPr>
          <p:cNvPr id="8" name="TextBox 7"/>
          <p:cNvSpPr txBox="1"/>
          <p:nvPr/>
        </p:nvSpPr>
        <p:spPr>
          <a:xfrm>
            <a:off x="6583680" y="4343400"/>
            <a:ext cx="4937760" cy="2011680"/>
          </a:xfrm>
          <a:prstGeom prst="rect">
            <a:avLst/>
          </a:prstGeom>
          <a:noFill/>
        </p:spPr>
        <p:txBody>
          <a:bodyPr wrap="square">
            <a:spAutoFit/>
          </a:bodyPr>
          <a:lstStyle/>
          <a:p>
            <a:pPr>
              <a:spcAft>
                <a:spcPts val="400"/>
              </a:spcAft>
            </a:pPr>
            <a:r>
              <a:rPr sz="1400" b="0">
                <a:solidFill>
                  <a:srgbClr val="1B2A22"/>
                </a:solidFill>
                <a:latin typeface="Calibri"/>
              </a:rPr>
              <a:t>•  Upload the sketch, open the Serial Monitor at 115200</a:t>
            </a:r>
          </a:p>
          <a:p>
            <a:pPr>
              <a:spcAft>
                <a:spcPts val="400"/>
              </a:spcAft>
            </a:pPr>
            <a:r>
              <a:rPr sz="1400" b="0">
                <a:solidFill>
                  <a:srgbClr val="1B2A22"/>
                </a:solidFill>
                <a:latin typeface="Calibri"/>
              </a:rPr>
              <a:t>•  See SRMC,5231,31.0,54.0,712,0,-1 every second</a:t>
            </a:r>
          </a:p>
          <a:p>
            <a:pPr>
              <a:spcAft>
                <a:spcPts val="400"/>
              </a:spcAft>
            </a:pPr>
            <a:r>
              <a:rPr sz="1400" b="0">
                <a:solidFill>
                  <a:srgbClr val="1B2A22"/>
                </a:solidFill>
                <a:latin typeface="Calibri"/>
              </a:rPr>
              <a:t>•  Wet the rain plate: rainWet turns 1</a:t>
            </a:r>
          </a:p>
          <a:p>
            <a:pPr>
              <a:spcAft>
                <a:spcPts val="400"/>
              </a:spcAft>
            </a:pPr>
            <a:r>
              <a:rPr sz="1400" b="0">
                <a:solidFill>
                  <a:srgbClr val="1B2A22"/>
                </a:solidFill>
                <a:latin typeface="Calibri"/>
              </a:rPr>
              <a:t>•  Push the soil probe into wet soil: soilRaw drops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Firmware and data protocol</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One text line per second; the same MATLAB code reads either board</a:t>
            </a:r>
          </a:p>
        </p:txBody>
      </p:sp>
      <p:sp>
        <p:nvSpPr>
          <p:cNvPr id="4" name="Rounded Rectangle 3"/>
          <p:cNvSpPr/>
          <p:nvPr/>
        </p:nvSpPr>
        <p:spPr>
          <a:xfrm>
            <a:off x="548640" y="1645920"/>
            <a:ext cx="11064240" cy="1188720"/>
          </a:xfrm>
          <a:prstGeom prst="roundRect">
            <a:avLst>
              <a:gd name="adj" fmla="val 8000"/>
            </a:avLst>
          </a:prstGeom>
          <a:solidFill>
            <a:srgbClr val="143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914400"/>
          </a:xfrm>
          <a:prstGeom prst="rect">
            <a:avLst/>
          </a:prstGeom>
          <a:noFill/>
        </p:spPr>
        <p:txBody>
          <a:bodyPr wrap="square" anchor="t" lIns="45720" rIns="45720" tIns="27432" bIns="27432">
            <a:spAutoFit/>
          </a:bodyPr>
          <a:lstStyle/>
          <a:p>
            <a:pPr algn="l">
              <a:spcAft>
                <a:spcPts val="400"/>
              </a:spcAft>
            </a:pPr>
            <a:r>
              <a:rPr sz="2200" b="0" i="0">
                <a:solidFill>
                  <a:srgbClr val="FFFFFF"/>
                </a:solidFill>
                <a:latin typeface="Consolas"/>
              </a:rPr>
              <a:t>SRMC,&lt;millis&gt;,&lt;tempC&gt;,&lt;rh&gt;,&lt;soilRaw&gt;,&lt;rainWet&gt;,&lt;rainRaw&gt;</a:t>
            </a:r>
          </a:p>
          <a:p>
            <a:pPr algn="l">
              <a:spcAft>
                <a:spcPts val="400"/>
              </a:spcAft>
            </a:pPr>
            <a:r>
              <a:rPr sz="2200" b="0" i="0">
                <a:solidFill>
                  <a:srgbClr val="FFFFFF"/>
                </a:solidFill>
                <a:latin typeface="Consolas"/>
              </a:rPr>
              <a:t>SRMC,5231,31.0,54.0,712,0,-1</a:t>
            </a:r>
          </a:p>
        </p:txBody>
      </p:sp>
      <p:sp>
        <p:nvSpPr>
          <p:cNvPr id="6" name="TextBox 5"/>
          <p:cNvSpPr txBox="1"/>
          <p:nvPr/>
        </p:nvSpPr>
        <p:spPr>
          <a:xfrm>
            <a:off x="548640" y="3108960"/>
            <a:ext cx="5486400" cy="3291840"/>
          </a:xfrm>
          <a:prstGeom prst="rect">
            <a:avLst/>
          </a:prstGeom>
          <a:noFill/>
        </p:spPr>
        <p:txBody>
          <a:bodyPr wrap="square">
            <a:spAutoFit/>
          </a:bodyPr>
          <a:lstStyle/>
          <a:p>
            <a:pPr>
              <a:spcAft>
                <a:spcPts val="600"/>
              </a:spcAft>
            </a:pPr>
            <a:r>
              <a:rPr sz="1600" b="0">
                <a:solidFill>
                  <a:srgbClr val="1B2A22"/>
                </a:solidFill>
                <a:latin typeface="Calibri"/>
              </a:rPr>
              <a:t>•  DHT11 decoded in the sketch itself (no library to install); a failed read sends -999 and MATLAB keeps the last good value</a:t>
            </a:r>
          </a:p>
          <a:p>
            <a:pPr>
              <a:spcAft>
                <a:spcPts val="600"/>
              </a:spcAft>
            </a:pPr>
            <a:r>
              <a:rPr sz="1600" b="0">
                <a:solidFill>
                  <a:srgbClr val="1B2A22"/>
                </a:solidFill>
                <a:latin typeface="Calibri"/>
              </a:rPr>
              <a:t>•  Soil: 8 reads averaged, then calibrated to % with two captured points (dry in air, wet in water)</a:t>
            </a:r>
          </a:p>
          <a:p>
            <a:pPr>
              <a:spcAft>
                <a:spcPts val="600"/>
              </a:spcAft>
            </a:pPr>
            <a:r>
              <a:rPr sz="1600" b="0">
                <a:solidFill>
                  <a:srgbClr val="1B2A22"/>
                </a:solidFill>
                <a:latin typeface="Calibri"/>
              </a:rPr>
              <a:t>•  Rain: digital output, sensitivity set by the module potentiometer</a:t>
            </a:r>
          </a:p>
        </p:txBody>
      </p:sp>
      <p:sp>
        <p:nvSpPr>
          <p:cNvPr id="7" name="TextBox 6"/>
          <p:cNvSpPr txBox="1"/>
          <p:nvPr/>
        </p:nvSpPr>
        <p:spPr>
          <a:xfrm>
            <a:off x="6309360" y="3108960"/>
            <a:ext cx="5303520" cy="3291840"/>
          </a:xfrm>
          <a:prstGeom prst="rect">
            <a:avLst/>
          </a:prstGeom>
          <a:noFill/>
        </p:spPr>
        <p:txBody>
          <a:bodyPr wrap="square">
            <a:spAutoFit/>
          </a:bodyPr>
          <a:lstStyle/>
          <a:p>
            <a:pPr>
              <a:spcAft>
                <a:spcPts val="600"/>
              </a:spcAft>
            </a:pPr>
            <a:r>
              <a:rPr sz="1600" b="0">
                <a:solidFill>
                  <a:srgbClr val="1B2A22"/>
                </a:solidFill>
                <a:latin typeface="Calibri"/>
              </a:rPr>
              <a:t>•  Parser rejects boot messages and noise (tested: T01 to T03)</a:t>
            </a:r>
          </a:p>
          <a:p>
            <a:pPr>
              <a:spcAft>
                <a:spcPts val="600"/>
              </a:spcAft>
            </a:pPr>
            <a:r>
              <a:rPr sz="1600" b="0">
                <a:solidFill>
                  <a:srgbClr val="1B2A22"/>
                </a:solidFill>
                <a:latin typeface="Calibri"/>
              </a:rPr>
              <a:t>•  Source = Serial uses the real board; Source = Simulate generates realistic data for rehearsal</a:t>
            </a:r>
          </a:p>
          <a:p>
            <a:pPr>
              <a:spcAft>
                <a:spcPts val="600"/>
              </a:spcAft>
            </a:pPr>
            <a:r>
              <a:rPr sz="1600" b="0">
                <a:solidFill>
                  <a:srgbClr val="1B2A22"/>
                </a:solidFill>
                <a:latin typeface="Calibri"/>
              </a:rPr>
              <a:t>•  Every run can be saved: dashboard image + CSV 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300" b="1" i="0">
                <a:solidFill>
                  <a:srgbClr val="14342B"/>
                </a:solidFill>
                <a:latin typeface="Cambria"/>
              </a:rPr>
              <a:t>Control algorithm (simple enough to explain, precise enough to test)</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Rules in priority order, then an optimiser over every angle from 15 to 60 degrees in 0.5 degree steps</a:t>
            </a:r>
          </a:p>
        </p:txBody>
      </p:sp>
      <p:sp>
        <p:nvSpPr>
          <p:cNvPr id="4" name="Rounded Rectangle 3"/>
          <p:cNvSpPr/>
          <p:nvPr/>
        </p:nvSpPr>
        <p:spPr>
          <a:xfrm>
            <a:off x="548640" y="1691640"/>
            <a:ext cx="2651760" cy="1417320"/>
          </a:xfrm>
          <a:prstGeom prst="roundRect">
            <a:avLst>
              <a:gd name="adj" fmla="val 8000"/>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2468880" cy="457200"/>
          </a:xfrm>
          <a:prstGeom prst="rect">
            <a:avLst/>
          </a:prstGeom>
          <a:noFill/>
        </p:spPr>
        <p:txBody>
          <a:bodyPr wrap="square" anchor="t" lIns="45720" rIns="45720" tIns="27432" bIns="27432">
            <a:spAutoFit/>
          </a:bodyPr>
          <a:lstStyle/>
          <a:p>
            <a:pPr algn="l">
              <a:spcAft>
                <a:spcPts val="400"/>
              </a:spcAft>
            </a:pPr>
            <a:r>
              <a:rPr sz="1800" b="1" i="0">
                <a:solidFill>
                  <a:srgbClr val="FFFFFF"/>
                </a:solidFill>
                <a:latin typeface="Calibri"/>
              </a:rPr>
              <a:t>1  Wind &gt;= 15 m/s</a:t>
            </a:r>
          </a:p>
        </p:txBody>
      </p:sp>
      <p:sp>
        <p:nvSpPr>
          <p:cNvPr id="6" name="TextBox 5"/>
          <p:cNvSpPr txBox="1"/>
          <p:nvPr/>
        </p:nvSpPr>
        <p:spPr>
          <a:xfrm>
            <a:off x="640080" y="2286000"/>
            <a:ext cx="2468880" cy="777240"/>
          </a:xfrm>
          <a:prstGeom prst="rect">
            <a:avLst/>
          </a:prstGeom>
          <a:noFill/>
        </p:spPr>
        <p:txBody>
          <a:bodyPr wrap="square" anchor="t" lIns="45720" rIns="45720" tIns="27432" bIns="27432">
            <a:spAutoFit/>
          </a:bodyPr>
          <a:lstStyle/>
          <a:p>
            <a:pPr algn="l">
              <a:spcAft>
                <a:spcPts val="400"/>
              </a:spcAft>
            </a:pPr>
            <a:r>
              <a:rPr sz="1500" b="0" i="0">
                <a:solidFill>
                  <a:srgbClr val="FFFFFF"/>
                </a:solidFill>
                <a:latin typeface="Calibri"/>
              </a:rPr>
              <a:t>stow at 90 degrees</a:t>
            </a:r>
          </a:p>
        </p:txBody>
      </p:sp>
      <p:sp>
        <p:nvSpPr>
          <p:cNvPr id="7" name="Rounded Rectangle 6"/>
          <p:cNvSpPr/>
          <p:nvPr/>
        </p:nvSpPr>
        <p:spPr>
          <a:xfrm>
            <a:off x="3364992" y="1691640"/>
            <a:ext cx="2651760" cy="1417320"/>
          </a:xfrm>
          <a:prstGeom prst="roundRect">
            <a:avLst>
              <a:gd name="adj" fmla="val 8000"/>
            </a:avLst>
          </a:prstGeom>
          <a:solidFill>
            <a:srgbClr val="2D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56432" y="1783080"/>
            <a:ext cx="2468880" cy="457200"/>
          </a:xfrm>
          <a:prstGeom prst="rect">
            <a:avLst/>
          </a:prstGeom>
          <a:noFill/>
        </p:spPr>
        <p:txBody>
          <a:bodyPr wrap="square" anchor="t" lIns="45720" rIns="45720" tIns="27432" bIns="27432">
            <a:spAutoFit/>
          </a:bodyPr>
          <a:lstStyle/>
          <a:p>
            <a:pPr algn="l">
              <a:spcAft>
                <a:spcPts val="400"/>
              </a:spcAft>
            </a:pPr>
            <a:r>
              <a:rPr sz="1800" b="1" i="0">
                <a:solidFill>
                  <a:srgbClr val="FFFFFF"/>
                </a:solidFill>
                <a:latin typeface="Calibri"/>
              </a:rPr>
              <a:t>2  Rain sensor wet</a:t>
            </a:r>
          </a:p>
        </p:txBody>
      </p:sp>
      <p:sp>
        <p:nvSpPr>
          <p:cNvPr id="9" name="TextBox 8"/>
          <p:cNvSpPr txBox="1"/>
          <p:nvPr/>
        </p:nvSpPr>
        <p:spPr>
          <a:xfrm>
            <a:off x="3456432" y="2286000"/>
            <a:ext cx="2468880" cy="777240"/>
          </a:xfrm>
          <a:prstGeom prst="rect">
            <a:avLst/>
          </a:prstGeom>
          <a:noFill/>
        </p:spPr>
        <p:txBody>
          <a:bodyPr wrap="square" anchor="t" lIns="45720" rIns="45720" tIns="27432" bIns="27432">
            <a:spAutoFit/>
          </a:bodyPr>
          <a:lstStyle/>
          <a:p>
            <a:pPr algn="l">
              <a:spcAft>
                <a:spcPts val="400"/>
              </a:spcAft>
            </a:pPr>
            <a:r>
              <a:rPr sz="1500" b="0" i="0">
                <a:solidFill>
                  <a:srgbClr val="FFFFFF"/>
                </a:solidFill>
                <a:latin typeface="Calibri"/>
              </a:rPr>
              <a:t>slope 3 degrees to the gutter, fill the cistern</a:t>
            </a:r>
          </a:p>
        </p:txBody>
      </p:sp>
      <p:sp>
        <p:nvSpPr>
          <p:cNvPr id="10" name="Rounded Rectangle 9"/>
          <p:cNvSpPr/>
          <p:nvPr/>
        </p:nvSpPr>
        <p:spPr>
          <a:xfrm>
            <a:off x="6181344" y="1691640"/>
            <a:ext cx="2651760" cy="1417320"/>
          </a:xfrm>
          <a:prstGeom prst="roundRect">
            <a:avLst>
              <a:gd name="adj" fmla="val 8000"/>
            </a:avLst>
          </a:prstGeom>
          <a:solidFill>
            <a:srgbClr val="5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3" y="1783080"/>
            <a:ext cx="2468880" cy="457200"/>
          </a:xfrm>
          <a:prstGeom prst="rect">
            <a:avLst/>
          </a:prstGeom>
          <a:noFill/>
        </p:spPr>
        <p:txBody>
          <a:bodyPr wrap="square" anchor="t" lIns="45720" rIns="45720" tIns="27432" bIns="27432">
            <a:spAutoFit/>
          </a:bodyPr>
          <a:lstStyle/>
          <a:p>
            <a:pPr algn="l">
              <a:spcAft>
                <a:spcPts val="400"/>
              </a:spcAft>
            </a:pPr>
            <a:r>
              <a:rPr sz="1800" b="1" i="0">
                <a:solidFill>
                  <a:srgbClr val="FFFFFF"/>
                </a:solidFill>
                <a:latin typeface="Calibri"/>
              </a:rPr>
              <a:t>3  Night</a:t>
            </a:r>
          </a:p>
        </p:txBody>
      </p:sp>
      <p:sp>
        <p:nvSpPr>
          <p:cNvPr id="12" name="TextBox 11"/>
          <p:cNvSpPr txBox="1"/>
          <p:nvPr/>
        </p:nvSpPr>
        <p:spPr>
          <a:xfrm>
            <a:off x="6272783" y="2286000"/>
            <a:ext cx="2468880" cy="777240"/>
          </a:xfrm>
          <a:prstGeom prst="rect">
            <a:avLst/>
          </a:prstGeom>
          <a:noFill/>
        </p:spPr>
        <p:txBody>
          <a:bodyPr wrap="square" anchor="t" lIns="45720" rIns="45720" tIns="27432" bIns="27432">
            <a:spAutoFit/>
          </a:bodyPr>
          <a:lstStyle/>
          <a:p>
            <a:pPr algn="l">
              <a:spcAft>
                <a:spcPts val="400"/>
              </a:spcAft>
            </a:pPr>
            <a:r>
              <a:rPr sz="1500" b="0" i="0">
                <a:solidFill>
                  <a:srgbClr val="FFFFFF"/>
                </a:solidFill>
                <a:latin typeface="Calibri"/>
              </a:rPr>
              <a:t>park at 15 degrees</a:t>
            </a:r>
          </a:p>
        </p:txBody>
      </p:sp>
      <p:sp>
        <p:nvSpPr>
          <p:cNvPr id="13" name="Rounded Rectangle 12"/>
          <p:cNvSpPr/>
          <p:nvPr/>
        </p:nvSpPr>
        <p:spPr>
          <a:xfrm>
            <a:off x="8997696" y="1691640"/>
            <a:ext cx="2651760" cy="1417320"/>
          </a:xfrm>
          <a:prstGeom prst="roundRect">
            <a:avLst>
              <a:gd name="adj" fmla="val 8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9136" y="1783080"/>
            <a:ext cx="2468880" cy="457200"/>
          </a:xfrm>
          <a:prstGeom prst="rect">
            <a:avLst/>
          </a:prstGeom>
          <a:noFill/>
        </p:spPr>
        <p:txBody>
          <a:bodyPr wrap="square" anchor="t" lIns="45720" rIns="45720" tIns="27432" bIns="27432">
            <a:spAutoFit/>
          </a:bodyPr>
          <a:lstStyle/>
          <a:p>
            <a:pPr algn="l">
              <a:spcAft>
                <a:spcPts val="400"/>
              </a:spcAft>
            </a:pPr>
            <a:r>
              <a:rPr sz="1800" b="1" i="0">
                <a:solidFill>
                  <a:srgbClr val="FFFFFF"/>
                </a:solidFill>
                <a:latin typeface="Calibri"/>
              </a:rPr>
              <a:t>4  Otherwise</a:t>
            </a:r>
          </a:p>
        </p:txBody>
      </p:sp>
      <p:sp>
        <p:nvSpPr>
          <p:cNvPr id="15" name="TextBox 14"/>
          <p:cNvSpPr txBox="1"/>
          <p:nvPr/>
        </p:nvSpPr>
        <p:spPr>
          <a:xfrm>
            <a:off x="9089136" y="2286000"/>
            <a:ext cx="2468880" cy="777240"/>
          </a:xfrm>
          <a:prstGeom prst="rect">
            <a:avLst/>
          </a:prstGeom>
          <a:noFill/>
        </p:spPr>
        <p:txBody>
          <a:bodyPr wrap="square" anchor="t" lIns="45720" rIns="45720" tIns="27432" bIns="27432">
            <a:spAutoFit/>
          </a:bodyPr>
          <a:lstStyle/>
          <a:p>
            <a:pPr algn="l">
              <a:spcAft>
                <a:spcPts val="400"/>
              </a:spcAft>
            </a:pPr>
            <a:r>
              <a:rPr sz="1500" b="0" i="0">
                <a:solidFill>
                  <a:srgbClr val="FFFFFF"/>
                </a:solidFill>
                <a:latin typeface="Calibri"/>
              </a:rPr>
              <a:t>optimise energy + crop light</a:t>
            </a:r>
          </a:p>
        </p:txBody>
      </p:sp>
      <p:sp>
        <p:nvSpPr>
          <p:cNvPr id="16" name="Rounded Rectangle 15"/>
          <p:cNvSpPr/>
          <p:nvPr/>
        </p:nvSpPr>
        <p:spPr>
          <a:xfrm>
            <a:off x="548640" y="3429000"/>
            <a:ext cx="6400800" cy="2926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20440"/>
            <a:ext cx="6035040" cy="411480"/>
          </a:xfrm>
          <a:prstGeom prst="rect">
            <a:avLst/>
          </a:prstGeom>
          <a:noFill/>
        </p:spPr>
        <p:txBody>
          <a:bodyPr wrap="square" anchor="t" lIns="45720" rIns="45720" tIns="27432" bIns="27432">
            <a:spAutoFit/>
          </a:bodyPr>
          <a:lstStyle/>
          <a:p>
            <a:pPr algn="l">
              <a:spcAft>
                <a:spcPts val="400"/>
              </a:spcAft>
            </a:pPr>
            <a:r>
              <a:rPr sz="1800" b="1" i="0">
                <a:solidFill>
                  <a:srgbClr val="14342B"/>
                </a:solidFill>
                <a:latin typeface="Calibri"/>
              </a:rPr>
              <a:t>Optimiser (rule 4)</a:t>
            </a:r>
          </a:p>
        </p:txBody>
      </p:sp>
      <p:sp>
        <p:nvSpPr>
          <p:cNvPr id="18" name="TextBox 17"/>
          <p:cNvSpPr txBox="1"/>
          <p:nvPr/>
        </p:nvSpPr>
        <p:spPr>
          <a:xfrm>
            <a:off x="731520" y="3977639"/>
            <a:ext cx="6035040" cy="502920"/>
          </a:xfrm>
          <a:prstGeom prst="rect">
            <a:avLst/>
          </a:prstGeom>
          <a:noFill/>
        </p:spPr>
        <p:txBody>
          <a:bodyPr wrap="square" anchor="t" lIns="45720" rIns="45720" tIns="27432" bIns="27432">
            <a:spAutoFit/>
          </a:bodyPr>
          <a:lstStyle/>
          <a:p>
            <a:pPr algn="l">
              <a:spcAft>
                <a:spcPts val="400"/>
              </a:spcAft>
            </a:pPr>
            <a:r>
              <a:rPr sz="1900" b="1" i="0">
                <a:solidFill>
                  <a:srgbClr val="1B2A22"/>
                </a:solidFill>
                <a:latin typeface="Consolas"/>
              </a:rPr>
              <a:t>J(a) = w * PV(a) / PVmax + (1 - w) * Crop(a) / Cropmax</a:t>
            </a:r>
          </a:p>
        </p:txBody>
      </p:sp>
      <p:sp>
        <p:nvSpPr>
          <p:cNvPr id="19" name="TextBox 18"/>
          <p:cNvSpPr txBox="1"/>
          <p:nvPr/>
        </p:nvSpPr>
        <p:spPr>
          <a:xfrm>
            <a:off x="731520" y="4572000"/>
            <a:ext cx="6035040" cy="1783080"/>
          </a:xfrm>
          <a:prstGeom prst="rect">
            <a:avLst/>
          </a:prstGeom>
          <a:noFill/>
        </p:spPr>
        <p:txBody>
          <a:bodyPr wrap="square">
            <a:spAutoFit/>
          </a:bodyPr>
          <a:lstStyle/>
          <a:p>
            <a:pPr>
              <a:spcAft>
                <a:spcPts val="300"/>
              </a:spcAft>
            </a:pPr>
            <a:r>
              <a:rPr sz="1400" b="0">
                <a:solidFill>
                  <a:srgbClr val="1B2A22"/>
                </a:solidFill>
                <a:latin typeface="Calibri"/>
              </a:rPr>
              <a:t>•  PV(a): module power for angle a (row shading, incidence angle, cell temperature from the DHT11)</a:t>
            </a:r>
          </a:p>
          <a:p>
            <a:pPr>
              <a:spcAft>
                <a:spcPts val="300"/>
              </a:spcAft>
            </a:pPr>
            <a:r>
              <a:rPr sz="1400" b="0">
                <a:solidFill>
                  <a:srgbClr val="1B2A22"/>
                </a:solidFill>
                <a:latin typeface="Calibri"/>
              </a:rPr>
              <a:t>•  Crop(a): mean light factor of the 4 crop zones, from PAR under / above the canopy</a:t>
            </a:r>
          </a:p>
          <a:p>
            <a:pPr>
              <a:spcAft>
                <a:spcPts val="300"/>
              </a:spcAft>
            </a:pPr>
            <a:r>
              <a:rPr sz="1400" b="0">
                <a:solidFill>
                  <a:srgbClr val="1B2A22"/>
                </a:solidFill>
                <a:latin typeface="Calibri"/>
              </a:rPr>
              <a:t>•  w = 0.5 by default; the slider moves it from crop-only to energy-only</a:t>
            </a:r>
          </a:p>
        </p:txBody>
      </p:sp>
      <p:sp>
        <p:nvSpPr>
          <p:cNvPr id="20" name="Rounded Rectangle 19"/>
          <p:cNvSpPr/>
          <p:nvPr/>
        </p:nvSpPr>
        <p:spPr>
          <a:xfrm>
            <a:off x="7223760" y="3429000"/>
            <a:ext cx="4389120" cy="292608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3520440"/>
            <a:ext cx="4023360" cy="411480"/>
          </a:xfrm>
          <a:prstGeom prst="rect">
            <a:avLst/>
          </a:prstGeom>
          <a:noFill/>
        </p:spPr>
        <p:txBody>
          <a:bodyPr wrap="square" anchor="t" lIns="45720" rIns="45720" tIns="27432" bIns="27432">
            <a:spAutoFit/>
          </a:bodyPr>
          <a:lstStyle/>
          <a:p>
            <a:pPr algn="l">
              <a:spcAft>
                <a:spcPts val="400"/>
              </a:spcAft>
            </a:pPr>
            <a:r>
              <a:rPr sz="1800" b="1" i="0">
                <a:solidFill>
                  <a:srgbClr val="14342B"/>
                </a:solidFill>
                <a:latin typeface="Calibri"/>
              </a:rPr>
              <a:t>Stress makes the controller smarter</a:t>
            </a:r>
          </a:p>
        </p:txBody>
      </p:sp>
      <p:sp>
        <p:nvSpPr>
          <p:cNvPr id="22" name="TextBox 21"/>
          <p:cNvSpPr txBox="1"/>
          <p:nvPr/>
        </p:nvSpPr>
        <p:spPr>
          <a:xfrm>
            <a:off x="7406640" y="4023360"/>
            <a:ext cx="4069080" cy="2286000"/>
          </a:xfrm>
          <a:prstGeom prst="rect">
            <a:avLst/>
          </a:prstGeom>
          <a:noFill/>
        </p:spPr>
        <p:txBody>
          <a:bodyPr wrap="square">
            <a:spAutoFit/>
          </a:bodyPr>
          <a:lstStyle/>
          <a:p>
            <a:pPr>
              <a:spcAft>
                <a:spcPts val="300"/>
              </a:spcAft>
            </a:pPr>
            <a:r>
              <a:rPr sz="1400" b="0">
                <a:solidFill>
                  <a:srgbClr val="1B2A22"/>
                </a:solidFill>
                <a:latin typeface="Calibri"/>
              </a:rPr>
              <a:t>•  VPD from DHT11 &gt; 2.5 kPa or dry soil raises the stress index</a:t>
            </a:r>
          </a:p>
          <a:p>
            <a:pPr>
              <a:spcAft>
                <a:spcPts val="300"/>
              </a:spcAft>
            </a:pPr>
            <a:r>
              <a:rPr sz="1400" b="0">
                <a:solidFill>
                  <a:srgbClr val="1B2A22"/>
                </a:solidFill>
                <a:latin typeface="Calibri"/>
              </a:rPr>
              <a:t>•  Stress lowers the light the crops need (by up to 30 %), so the controller can accept more shade and more energy</a:t>
            </a:r>
          </a:p>
          <a:p>
            <a:pPr>
              <a:spcAft>
                <a:spcPts val="300"/>
              </a:spcAft>
            </a:pPr>
            <a:r>
              <a:rPr sz="1400" b="0">
                <a:solidFill>
                  <a:srgbClr val="1B2A22"/>
                </a:solidFill>
                <a:latin typeface="Calibri"/>
              </a:rPr>
              <a:t>•  Pump: ON below 35 % soil moisture, OFF above 55 % (hysteresis), water from the rain cistern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Live MATLAB dashboard</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Same code and screen for Simulate and Serial mode; two situations shown large</a:t>
            </a:r>
          </a:p>
        </p:txBody>
      </p:sp>
      <p:sp>
        <p:nvSpPr>
          <p:cNvPr id="4" name="Rounded Rectangle 3"/>
          <p:cNvSpPr/>
          <p:nvPr/>
        </p:nvSpPr>
        <p:spPr>
          <a:xfrm>
            <a:off x="548640" y="1554480"/>
            <a:ext cx="5440680" cy="324612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heat_stress.png"/>
          <p:cNvPicPr>
            <a:picLocks noChangeAspect="1"/>
          </p:cNvPicPr>
          <p:nvPr/>
        </p:nvPicPr>
        <p:blipFill>
          <a:blip r:embed="rId2"/>
          <a:stretch>
            <a:fillRect/>
          </a:stretch>
        </p:blipFill>
        <p:spPr>
          <a:xfrm>
            <a:off x="594360" y="1600984"/>
            <a:ext cx="5349240" cy="2924511"/>
          </a:xfrm>
          <a:prstGeom prst="rect">
            <a:avLst/>
          </a:prstGeom>
        </p:spPr>
      </p:pic>
      <p:sp>
        <p:nvSpPr>
          <p:cNvPr id="6" name="TextBox 5"/>
          <p:cNvSpPr txBox="1"/>
          <p:nvPr/>
        </p:nvSpPr>
        <p:spPr>
          <a:xfrm>
            <a:off x="640080" y="4507992"/>
            <a:ext cx="5257800" cy="274320"/>
          </a:xfrm>
          <a:prstGeom prst="rect">
            <a:avLst/>
          </a:prstGeom>
          <a:noFill/>
        </p:spPr>
        <p:txBody>
          <a:bodyPr wrap="square" anchor="t" lIns="45720" rIns="45720" tIns="27432" bIns="27432">
            <a:spAutoFit/>
          </a:bodyPr>
          <a:lstStyle/>
          <a:p>
            <a:pPr algn="ctr">
              <a:spcAft>
                <a:spcPts val="400"/>
              </a:spcAft>
            </a:pPr>
            <a:r>
              <a:rPr sz="1200" b="0" i="0">
                <a:solidFill>
                  <a:srgbClr val="5B6B62"/>
                </a:solidFill>
                <a:latin typeface="Calibri"/>
              </a:rPr>
              <a:t>Hot, dry air (VPD 4.6 kPa): stress index 1.0, controller chooses 43 degrees at 13 h</a:t>
            </a:r>
          </a:p>
        </p:txBody>
      </p:sp>
      <p:sp>
        <p:nvSpPr>
          <p:cNvPr id="7" name="Rounded Rectangle 6"/>
          <p:cNvSpPr/>
          <p:nvPr/>
        </p:nvSpPr>
        <p:spPr>
          <a:xfrm>
            <a:off x="6172200" y="1554480"/>
            <a:ext cx="5440680" cy="324612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shboard_rain_harvest.png"/>
          <p:cNvPicPr>
            <a:picLocks noChangeAspect="1"/>
          </p:cNvPicPr>
          <p:nvPr/>
        </p:nvPicPr>
        <p:blipFill>
          <a:blip r:embed="rId3"/>
          <a:stretch>
            <a:fillRect/>
          </a:stretch>
        </p:blipFill>
        <p:spPr>
          <a:xfrm>
            <a:off x="6217920" y="1600984"/>
            <a:ext cx="5349240" cy="2924511"/>
          </a:xfrm>
          <a:prstGeom prst="rect">
            <a:avLst/>
          </a:prstGeom>
        </p:spPr>
      </p:pic>
      <p:sp>
        <p:nvSpPr>
          <p:cNvPr id="9" name="TextBox 8"/>
          <p:cNvSpPr txBox="1"/>
          <p:nvPr/>
        </p:nvSpPr>
        <p:spPr>
          <a:xfrm>
            <a:off x="6263640" y="4507992"/>
            <a:ext cx="5257800" cy="274320"/>
          </a:xfrm>
          <a:prstGeom prst="rect">
            <a:avLst/>
          </a:prstGeom>
          <a:noFill/>
        </p:spPr>
        <p:txBody>
          <a:bodyPr wrap="square" anchor="t" lIns="45720" rIns="45720" tIns="27432" bIns="27432">
            <a:spAutoFit/>
          </a:bodyPr>
          <a:lstStyle/>
          <a:p>
            <a:pPr algn="ctr">
              <a:spcAft>
                <a:spcPts val="400"/>
              </a:spcAft>
            </a:pPr>
            <a:r>
              <a:rPr sz="1200" b="0" i="0">
                <a:solidFill>
                  <a:srgbClr val="5B6B62"/>
                </a:solidFill>
                <a:latin typeface="Calibri"/>
              </a:rPr>
              <a:t>Rain sensor wet: panels to the 3 degree slope, cistern fills</a:t>
            </a:r>
          </a:p>
        </p:txBody>
      </p:sp>
      <p:sp>
        <p:nvSpPr>
          <p:cNvPr id="10" name="TextBox 9"/>
          <p:cNvSpPr txBox="1"/>
          <p:nvPr/>
        </p:nvSpPr>
        <p:spPr>
          <a:xfrm>
            <a:off x="548640" y="5029200"/>
            <a:ext cx="11064240" cy="1463040"/>
          </a:xfrm>
          <a:prstGeom prst="rect">
            <a:avLst/>
          </a:prstGeom>
          <a:noFill/>
        </p:spPr>
        <p:txBody>
          <a:bodyPr wrap="square">
            <a:spAutoFit/>
          </a:bodyPr>
          <a:lstStyle/>
          <a:p>
            <a:pPr>
              <a:spcAft>
                <a:spcPts val="500"/>
              </a:spcAft>
            </a:pPr>
            <a:r>
              <a:rPr sz="1400" b="0">
                <a:solidFill>
                  <a:srgbClr val="1B2A22"/>
                </a:solidFill>
                <a:latin typeface="Calibri"/>
              </a:rPr>
              <a:t>•  Left: controls (source, sky icon, wind, calibration, weight).  Centre: canopy drawing with sun and sky icon, panel angle, decision text with REAL / SIM tags.  Right: live plots.</a:t>
            </a:r>
          </a:p>
          <a:p>
            <a:pPr>
              <a:spcAft>
                <a:spcPts val="500"/>
              </a:spcAft>
            </a:pPr>
            <a:r>
              <a:rPr sz="1400" b="0">
                <a:solidFill>
                  <a:srgbClr val="1B2A22"/>
                </a:solidFill>
                <a:latin typeface="Calibri"/>
              </a:rPr>
              <a:t>•  Other situations are in results/screens: clear noon (43.5 degrees), gust 18 m/s (stow at 90 degrees), dry soil (pump ON), low morning sun (60 degrees).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300" b="1" i="0">
                <a:solidFill>
                  <a:srgbClr val="14342B"/>
                </a:solidFill>
                <a:latin typeface="Cambria"/>
              </a:rPr>
              <a:t>Test evidence 1: decision logic (16 of 16 software-in-the-loop tests pass)</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Simulated inputs; this proves the rules and the physics, not the sensors (sensor tests are done on the bench)</a:t>
            </a:r>
          </a:p>
        </p:txBody>
      </p:sp>
      <p:graphicFrame>
        <p:nvGraphicFramePr>
          <p:cNvPr id="4" name="Table 3"/>
          <p:cNvGraphicFramePr>
            <a:graphicFrameLocks noGrp="1"/>
          </p:cNvGraphicFramePr>
          <p:nvPr/>
        </p:nvGraphicFramePr>
        <p:xfrm>
          <a:off x="548640" y="1600200"/>
          <a:ext cx="5440680" cy="4114800"/>
        </p:xfrm>
        <a:graphic>
          <a:graphicData uri="http://schemas.openxmlformats.org/drawingml/2006/table">
            <a:tbl>
              <a:tblPr firstRow="1" bandRow="1">
                <a:tableStyleId>{5C22544A-7EE6-4342-B048-85BDC9FD1C3A}</a:tableStyleId>
              </a:tblPr>
              <a:tblGrid>
                <a:gridCol w="640080"/>
                <a:gridCol w="4023360"/>
                <a:gridCol w="777240"/>
              </a:tblGrid>
              <a:tr h="457200">
                <a:tc>
                  <a:txBody>
                    <a:bodyPr wrap="square"/>
                    <a:lstStyle/>
                    <a:p>
                      <a:r>
                        <a:rPr sz="1300" b="1">
                          <a:solidFill>
                            <a:srgbClr val="FFFFFF"/>
                          </a:solidFill>
                          <a:latin typeface="Calibri"/>
                        </a:rPr>
                        <a:t>ID</a:t>
                      </a:r>
                    </a:p>
                  </a:txBody>
                  <a:tcPr marL="54864" marR="54864" marT="18288" marB="18288" anchor="ctr">
                    <a:solidFill>
                      <a:srgbClr val="14342B"/>
                    </a:solidFill>
                  </a:tcPr>
                </a:tc>
                <a:tc>
                  <a:txBody>
                    <a:bodyPr wrap="square"/>
                    <a:lstStyle/>
                    <a:p>
                      <a:r>
                        <a:rPr sz="1300" b="1">
                          <a:solidFill>
                            <a:srgbClr val="FFFFFF"/>
                          </a:solidFill>
                          <a:latin typeface="Calibri"/>
                        </a:rPr>
                        <a:t>Test</a:t>
                      </a:r>
                    </a:p>
                  </a:txBody>
                  <a:tcPr marL="54864" marR="54864" marT="18288" marB="18288" anchor="ctr">
                    <a:solidFill>
                      <a:srgbClr val="14342B"/>
                    </a:solidFill>
                  </a:tcPr>
                </a:tc>
                <a:tc>
                  <a:txBody>
                    <a:bodyPr wrap="square"/>
                    <a:lstStyle/>
                    <a:p>
                      <a:r>
                        <a:rPr sz="1300" b="1">
                          <a:solidFill>
                            <a:srgbClr val="FFFFFF"/>
                          </a:solidFill>
                          <a:latin typeface="Calibri"/>
                        </a:rPr>
                        <a:t>Result</a:t>
                      </a:r>
                    </a:p>
                  </a:txBody>
                  <a:tcPr marL="54864" marR="54864" marT="18288" marB="18288" anchor="ctr">
                    <a:solidFill>
                      <a:srgbClr val="14342B"/>
                    </a:solidFill>
                  </a:tcPr>
                </a:tc>
              </a:tr>
              <a:tr h="457200">
                <a:tc>
                  <a:txBody>
                    <a:bodyPr wrap="square"/>
                    <a:lstStyle/>
                    <a:p>
                      <a:r>
                        <a:rPr sz="1300" b="0">
                          <a:solidFill>
                            <a:srgbClr val="1B2A22"/>
                          </a:solidFill>
                          <a:latin typeface="Calibri"/>
                        </a:rPr>
                        <a:t>T01</a:t>
                      </a:r>
                    </a:p>
                  </a:txBody>
                  <a:tcPr marL="54864" marR="54864" marT="18288" marB="18288" anchor="ctr">
                    <a:solidFill>
                      <a:srgbClr val="FFFFFF"/>
                    </a:solidFill>
                  </a:tcPr>
                </a:tc>
                <a:tc>
                  <a:txBody>
                    <a:bodyPr wrap="square"/>
                    <a:lstStyle/>
                    <a:p>
                      <a:r>
                        <a:rPr sz="1300" b="0">
                          <a:solidFill>
                            <a:srgbClr val="1B2A22"/>
                          </a:solidFill>
                          <a:latin typeface="Calibri"/>
                        </a:rPr>
                        <a:t>Parse a good serial line</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T02</a:t>
                      </a:r>
                    </a:p>
                  </a:txBody>
                  <a:tcPr marL="54864" marR="54864" marT="18288" marB="18288" anchor="ctr">
                    <a:solidFill>
                      <a:srgbClr val="E6EEE0"/>
                    </a:solidFill>
                  </a:tcPr>
                </a:tc>
                <a:tc>
                  <a:txBody>
                    <a:bodyPr wrap="square"/>
                    <a:lstStyle/>
                    <a:p>
                      <a:r>
                        <a:rPr sz="1300" b="0">
                          <a:solidFill>
                            <a:srgbClr val="1B2A22"/>
                          </a:solidFill>
                          <a:latin typeface="Calibri"/>
                        </a:rPr>
                        <a:t>DHT11 failure (-999) flagged, not used</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T03</a:t>
                      </a:r>
                    </a:p>
                  </a:txBody>
                  <a:tcPr marL="54864" marR="54864" marT="18288" marB="18288" anchor="ctr">
                    <a:solidFill>
                      <a:srgbClr val="FFFFFF"/>
                    </a:solidFill>
                  </a:tcPr>
                </a:tc>
                <a:tc>
                  <a:txBody>
                    <a:bodyPr wrap="square"/>
                    <a:lstStyle/>
                    <a:p>
                      <a:r>
                        <a:rPr sz="1300" b="0">
                          <a:solidFill>
                            <a:srgbClr val="1B2A22"/>
                          </a:solidFill>
                          <a:latin typeface="Calibri"/>
                        </a:rPr>
                        <a:t>Boot / garbage line ignored</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T04</a:t>
                      </a:r>
                    </a:p>
                  </a:txBody>
                  <a:tcPr marL="54864" marR="54864" marT="18288" marB="18288" anchor="ctr">
                    <a:solidFill>
                      <a:srgbClr val="E6EEE0"/>
                    </a:solidFill>
                  </a:tcPr>
                </a:tc>
                <a:tc>
                  <a:txBody>
                    <a:bodyPr wrap="square"/>
                    <a:lstStyle/>
                    <a:p>
                      <a:r>
                        <a:rPr sz="1300" b="0">
                          <a:solidFill>
                            <a:srgbClr val="1B2A22"/>
                          </a:solidFill>
                          <a:latin typeface="Calibri"/>
                        </a:rPr>
                        <a:t>Soil calibration 0 / 50 / 100 %</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T05</a:t>
                      </a:r>
                    </a:p>
                  </a:txBody>
                  <a:tcPr marL="54864" marR="54864" marT="18288" marB="18288" anchor="ctr">
                    <a:solidFill>
                      <a:srgbClr val="FFFFFF"/>
                    </a:solidFill>
                  </a:tcPr>
                </a:tc>
                <a:tc>
                  <a:txBody>
                    <a:bodyPr wrap="square"/>
                    <a:lstStyle/>
                    <a:p>
                      <a:r>
                        <a:rPr sz="1300" b="0">
                          <a:solidFill>
                            <a:srgbClr val="1B2A22"/>
                          </a:solidFill>
                          <a:latin typeface="Calibri"/>
                        </a:rPr>
                        <a:t>VPD at 30 C, 50 % RH = 2.12 kPa</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T06</a:t>
                      </a:r>
                    </a:p>
                  </a:txBody>
                  <a:tcPr marL="54864" marR="54864" marT="18288" marB="18288" anchor="ctr">
                    <a:solidFill>
                      <a:srgbClr val="E6EEE0"/>
                    </a:solidFill>
                  </a:tcPr>
                </a:tc>
                <a:tc>
                  <a:txBody>
                    <a:bodyPr wrap="square"/>
                    <a:lstStyle/>
                    <a:p>
                      <a:r>
                        <a:rPr sz="1300" b="0">
                          <a:solidFill>
                            <a:srgbClr val="1B2A22"/>
                          </a:solidFill>
                          <a:latin typeface="Calibri"/>
                        </a:rPr>
                        <a:t>Rain wet -&gt; 3 degree slope</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T07</a:t>
                      </a:r>
                    </a:p>
                  </a:txBody>
                  <a:tcPr marL="54864" marR="54864" marT="18288" marB="18288" anchor="ctr">
                    <a:solidFill>
                      <a:srgbClr val="FFFFFF"/>
                    </a:solidFill>
                  </a:tcPr>
                </a:tc>
                <a:tc>
                  <a:txBody>
                    <a:bodyPr wrap="square"/>
                    <a:lstStyle/>
                    <a:p>
                      <a:r>
                        <a:rPr sz="1300" b="0">
                          <a:solidFill>
                            <a:srgbClr val="1B2A22"/>
                          </a:solidFill>
                          <a:latin typeface="Calibri"/>
                        </a:rPr>
                        <a:t>Wind 15.0 stows, 14.9 does not</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T08</a:t>
                      </a:r>
                    </a:p>
                  </a:txBody>
                  <a:tcPr marL="54864" marR="54864" marT="18288" marB="18288" anchor="ctr">
                    <a:solidFill>
                      <a:srgbClr val="E6EEE0"/>
                    </a:solidFill>
                  </a:tcPr>
                </a:tc>
                <a:tc>
                  <a:txBody>
                    <a:bodyPr wrap="square"/>
                    <a:lstStyle/>
                    <a:p>
                      <a:r>
                        <a:rPr sz="1300" b="0">
                          <a:solidFill>
                            <a:srgbClr val="1B2A22"/>
                          </a:solidFill>
                          <a:latin typeface="Calibri"/>
                        </a:rPr>
                        <a:t>Wind stow overrides rain</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bl>
          </a:graphicData>
        </a:graphic>
      </p:graphicFrame>
      <p:graphicFrame>
        <p:nvGraphicFramePr>
          <p:cNvPr id="5" name="Table 4"/>
          <p:cNvGraphicFramePr>
            <a:graphicFrameLocks noGrp="1"/>
          </p:cNvGraphicFramePr>
          <p:nvPr/>
        </p:nvGraphicFramePr>
        <p:xfrm>
          <a:off x="6172200" y="1600200"/>
          <a:ext cx="5440680" cy="4114800"/>
        </p:xfrm>
        <a:graphic>
          <a:graphicData uri="http://schemas.openxmlformats.org/drawingml/2006/table">
            <a:tbl>
              <a:tblPr firstRow="1" bandRow="1">
                <a:tableStyleId>{5C22544A-7EE6-4342-B048-85BDC9FD1C3A}</a:tableStyleId>
              </a:tblPr>
              <a:tblGrid>
                <a:gridCol w="640080"/>
                <a:gridCol w="4023360"/>
                <a:gridCol w="777240"/>
              </a:tblGrid>
              <a:tr h="457200">
                <a:tc>
                  <a:txBody>
                    <a:bodyPr wrap="square"/>
                    <a:lstStyle/>
                    <a:p>
                      <a:r>
                        <a:rPr sz="1300" b="1">
                          <a:solidFill>
                            <a:srgbClr val="FFFFFF"/>
                          </a:solidFill>
                          <a:latin typeface="Calibri"/>
                        </a:rPr>
                        <a:t>ID</a:t>
                      </a:r>
                    </a:p>
                  </a:txBody>
                  <a:tcPr marL="54864" marR="54864" marT="18288" marB="18288" anchor="ctr">
                    <a:solidFill>
                      <a:srgbClr val="14342B"/>
                    </a:solidFill>
                  </a:tcPr>
                </a:tc>
                <a:tc>
                  <a:txBody>
                    <a:bodyPr wrap="square"/>
                    <a:lstStyle/>
                    <a:p>
                      <a:r>
                        <a:rPr sz="1300" b="1">
                          <a:solidFill>
                            <a:srgbClr val="FFFFFF"/>
                          </a:solidFill>
                          <a:latin typeface="Calibri"/>
                        </a:rPr>
                        <a:t>Test</a:t>
                      </a:r>
                    </a:p>
                  </a:txBody>
                  <a:tcPr marL="54864" marR="54864" marT="18288" marB="18288" anchor="ctr">
                    <a:solidFill>
                      <a:srgbClr val="14342B"/>
                    </a:solidFill>
                  </a:tcPr>
                </a:tc>
                <a:tc>
                  <a:txBody>
                    <a:bodyPr wrap="square"/>
                    <a:lstStyle/>
                    <a:p>
                      <a:r>
                        <a:rPr sz="1300" b="1">
                          <a:solidFill>
                            <a:srgbClr val="FFFFFF"/>
                          </a:solidFill>
                          <a:latin typeface="Calibri"/>
                        </a:rPr>
                        <a:t>Result</a:t>
                      </a:r>
                    </a:p>
                  </a:txBody>
                  <a:tcPr marL="54864" marR="54864" marT="18288" marB="18288" anchor="ctr">
                    <a:solidFill>
                      <a:srgbClr val="14342B"/>
                    </a:solidFill>
                  </a:tcPr>
                </a:tc>
              </a:tr>
              <a:tr h="457200">
                <a:tc>
                  <a:txBody>
                    <a:bodyPr wrap="square"/>
                    <a:lstStyle/>
                    <a:p>
                      <a:r>
                        <a:rPr sz="1300" b="0">
                          <a:solidFill>
                            <a:srgbClr val="1B2A22"/>
                          </a:solidFill>
                          <a:latin typeface="Calibri"/>
                        </a:rPr>
                        <a:t>T09</a:t>
                      </a:r>
                    </a:p>
                  </a:txBody>
                  <a:tcPr marL="54864" marR="54864" marT="18288" marB="18288" anchor="ctr">
                    <a:solidFill>
                      <a:srgbClr val="FFFFFF"/>
                    </a:solidFill>
                  </a:tcPr>
                </a:tc>
                <a:tc>
                  <a:txBody>
                    <a:bodyPr wrap="square"/>
                    <a:lstStyle/>
                    <a:p>
                      <a:r>
                        <a:rPr sz="1300" b="0">
                          <a:solidFill>
                            <a:srgbClr val="1B2A22"/>
                          </a:solidFill>
                          <a:latin typeface="Calibri"/>
                        </a:rPr>
                        <a:t>Night: park 15 degrees, no PV</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T10</a:t>
                      </a:r>
                    </a:p>
                  </a:txBody>
                  <a:tcPr marL="54864" marR="54864" marT="18288" marB="18288" anchor="ctr">
                    <a:solidFill>
                      <a:srgbClr val="E6EEE0"/>
                    </a:solidFill>
                  </a:tcPr>
                </a:tc>
                <a:tc>
                  <a:txBody>
                    <a:bodyPr wrap="square"/>
                    <a:lstStyle/>
                    <a:p>
                      <a:r>
                        <a:rPr sz="1300" b="0">
                          <a:solidFill>
                            <a:srgbClr val="1B2A22"/>
                          </a:solidFill>
                          <a:latin typeface="Calibri"/>
                        </a:rPr>
                        <a:t>Optimiser = brute-force best angle</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T11</a:t>
                      </a:r>
                    </a:p>
                  </a:txBody>
                  <a:tcPr marL="54864" marR="54864" marT="18288" marB="18288" anchor="ctr">
                    <a:solidFill>
                      <a:srgbClr val="FFFFFF"/>
                    </a:solidFill>
                  </a:tcPr>
                </a:tc>
                <a:tc>
                  <a:txBody>
                    <a:bodyPr wrap="square"/>
                    <a:lstStyle/>
                    <a:p>
                      <a:r>
                        <a:rPr sz="1300" b="0">
                          <a:solidFill>
                            <a:srgbClr val="1B2A22"/>
                          </a:solidFill>
                          <a:latin typeface="Calibri"/>
                        </a:rPr>
                        <a:t>Noon PV &gt;= fixed 45 degrees</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T12</a:t>
                      </a:r>
                    </a:p>
                  </a:txBody>
                  <a:tcPr marL="54864" marR="54864" marT="18288" marB="18288" anchor="ctr">
                    <a:solidFill>
                      <a:srgbClr val="E6EEE0"/>
                    </a:solidFill>
                  </a:tcPr>
                </a:tc>
                <a:tc>
                  <a:txBody>
                    <a:bodyPr wrap="square"/>
                    <a:lstStyle/>
                    <a:p>
                      <a:r>
                        <a:rPr sz="1300" b="0">
                          <a:solidFill>
                            <a:srgbClr val="1B2A22"/>
                          </a:solidFill>
                          <a:latin typeface="Calibri"/>
                        </a:rPr>
                        <a:t>Heat stress changes the angle</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T13</a:t>
                      </a:r>
                    </a:p>
                  </a:txBody>
                  <a:tcPr marL="54864" marR="54864" marT="18288" marB="18288" anchor="ctr">
                    <a:solidFill>
                      <a:srgbClr val="FFFFFF"/>
                    </a:solidFill>
                  </a:tcPr>
                </a:tc>
                <a:tc>
                  <a:txBody>
                    <a:bodyPr wrap="square"/>
                    <a:lstStyle/>
                    <a:p>
                      <a:r>
                        <a:rPr sz="1300" b="0">
                          <a:solidFill>
                            <a:srgbClr val="1B2A22"/>
                          </a:solidFill>
                          <a:latin typeface="Calibri"/>
                        </a:rPr>
                        <a:t>Overcast GHI &lt; 40 % of clear</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T14</a:t>
                      </a:r>
                    </a:p>
                  </a:txBody>
                  <a:tcPr marL="54864" marR="54864" marT="18288" marB="18288" anchor="ctr">
                    <a:solidFill>
                      <a:srgbClr val="E6EEE0"/>
                    </a:solidFill>
                  </a:tcPr>
                </a:tc>
                <a:tc>
                  <a:txBody>
                    <a:bodyPr wrap="square"/>
                    <a:lstStyle/>
                    <a:p>
                      <a:r>
                        <a:rPr sz="1300" b="0">
                          <a:solidFill>
                            <a:srgbClr val="1B2A22"/>
                          </a:solidFill>
                          <a:latin typeface="Calibri"/>
                        </a:rPr>
                        <a:t>Pump hysteresis 35 / 55 %</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r h="457200">
                <a:tc>
                  <a:txBody>
                    <a:bodyPr wrap="square"/>
                    <a:lstStyle/>
                    <a:p>
                      <a:r>
                        <a:rPr sz="1300" b="0">
                          <a:solidFill>
                            <a:srgbClr val="1B2A22"/>
                          </a:solidFill>
                          <a:latin typeface="Calibri"/>
                        </a:rPr>
                        <a:t>T15</a:t>
                      </a:r>
                    </a:p>
                  </a:txBody>
                  <a:tcPr marL="54864" marR="54864" marT="18288" marB="18288" anchor="ctr">
                    <a:solidFill>
                      <a:srgbClr val="FFFFFF"/>
                    </a:solidFill>
                  </a:tcPr>
                </a:tc>
                <a:tc>
                  <a:txBody>
                    <a:bodyPr wrap="square"/>
                    <a:lstStyle/>
                    <a:p>
                      <a:r>
                        <a:rPr sz="1300" b="0">
                          <a:solidFill>
                            <a:srgbClr val="1B2A22"/>
                          </a:solidFill>
                          <a:latin typeface="Calibri"/>
                        </a:rPr>
                        <a:t>Empty cistern stops the pump</a:t>
                      </a:r>
                    </a:p>
                  </a:txBody>
                  <a:tcPr marL="54864" marR="54864" marT="18288" marB="18288" anchor="ctr">
                    <a:solidFill>
                      <a:srgbClr val="FFFFFF"/>
                    </a:solidFill>
                  </a:tcPr>
                </a:tc>
                <a:tc>
                  <a:txBody>
                    <a:bodyPr wrap="square"/>
                    <a:lstStyle/>
                    <a:p>
                      <a:r>
                        <a:rPr sz="1300" b="1">
                          <a:solidFill>
                            <a:srgbClr val="4E9A2E"/>
                          </a:solidFill>
                          <a:latin typeface="Calibri"/>
                        </a:rPr>
                        <a:t>PASS</a:t>
                      </a:r>
                    </a:p>
                  </a:txBody>
                  <a:tcPr marL="54864" marR="54864" marT="18288" marB="18288" anchor="ctr">
                    <a:solidFill>
                      <a:srgbClr val="FFFFFF"/>
                    </a:solidFill>
                  </a:tcPr>
                </a:tc>
              </a:tr>
              <a:tr h="457200">
                <a:tc>
                  <a:txBody>
                    <a:bodyPr wrap="square"/>
                    <a:lstStyle/>
                    <a:p>
                      <a:r>
                        <a:rPr sz="1300" b="0">
                          <a:solidFill>
                            <a:srgbClr val="1B2A22"/>
                          </a:solidFill>
                          <a:latin typeface="Calibri"/>
                        </a:rPr>
                        <a:t>T16</a:t>
                      </a:r>
                    </a:p>
                  </a:txBody>
                  <a:tcPr marL="54864" marR="54864" marT="18288" marB="18288" anchor="ctr">
                    <a:solidFill>
                      <a:srgbClr val="E6EEE0"/>
                    </a:solidFill>
                  </a:tcPr>
                </a:tc>
                <a:tc>
                  <a:txBody>
                    <a:bodyPr wrap="square"/>
                    <a:lstStyle/>
                    <a:p>
                      <a:r>
                        <a:rPr sz="1300" b="0">
                          <a:solidFill>
                            <a:srgbClr val="1B2A22"/>
                          </a:solidFill>
                          <a:latin typeface="Calibri"/>
                        </a:rPr>
                        <a:t>Equals the validated engine</a:t>
                      </a:r>
                    </a:p>
                  </a:txBody>
                  <a:tcPr marL="54864" marR="54864" marT="18288" marB="18288" anchor="ctr">
                    <a:solidFill>
                      <a:srgbClr val="E6EEE0"/>
                    </a:solidFill>
                  </a:tcPr>
                </a:tc>
                <a:tc>
                  <a:txBody>
                    <a:bodyPr wrap="square"/>
                    <a:lstStyle/>
                    <a:p>
                      <a:r>
                        <a:rPr sz="1300" b="1">
                          <a:solidFill>
                            <a:srgbClr val="4E9A2E"/>
                          </a:solidFill>
                          <a:latin typeface="Calibri"/>
                        </a:rPr>
                        <a:t>PASS</a:t>
                      </a:r>
                    </a:p>
                  </a:txBody>
                  <a:tcPr marL="54864" marR="54864" marT="18288" marB="18288" anchor="ctr">
                    <a:solidFill>
                      <a:srgbClr val="E6EEE0"/>
                    </a:solidFill>
                  </a:tcPr>
                </a:tc>
              </a:tr>
            </a:tbl>
          </a:graphicData>
        </a:graphic>
      </p:graphicFrame>
      <p:sp>
        <p:nvSpPr>
          <p:cNvPr id="6" name="TextBox 5"/>
          <p:cNvSpPr txBox="1"/>
          <p:nvPr/>
        </p:nvSpPr>
        <p:spPr>
          <a:xfrm>
            <a:off x="548640" y="5989320"/>
            <a:ext cx="11064240" cy="548640"/>
          </a:xfrm>
          <a:prstGeom prst="rect">
            <a:avLst/>
          </a:prstGeom>
          <a:noFill/>
        </p:spPr>
        <p:txBody>
          <a:bodyPr wrap="square" anchor="t" lIns="45720" rIns="45720" tIns="27432" bIns="27432">
            <a:spAutoFit/>
          </a:bodyPr>
          <a:lstStyle/>
          <a:p>
            <a:pPr algn="l">
              <a:spcAft>
                <a:spcPts val="400"/>
              </a:spcAft>
            </a:pPr>
            <a:r>
              <a:rPr sz="1400" b="0" i="0">
                <a:solidFill>
                  <a:srgbClr val="5B6B62"/>
                </a:solidFill>
                <a:latin typeface="Calibri"/>
              </a:rPr>
              <a:t>Files: results/test_results.csv and .md; reproduce with review0_run_tests in MATLAB (about 1 minute).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300" b="1" i="0">
                <a:solidFill>
                  <a:srgbClr val="14342B"/>
                </a:solidFill>
                <a:latin typeface="Cambria"/>
              </a:rPr>
              <a:t>Result: energy and crop light together (clear day, simulated sky)</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Each strategy as a percentage of the best strategy for that quantity; day 105, TCE, 6 to 18 h</a:t>
            </a:r>
          </a:p>
        </p:txBody>
      </p:sp>
      <p:graphicFrame>
        <p:nvGraphicFramePr>
          <p:cNvPr id="4" name="Chart 3"/>
          <p:cNvGraphicFramePr>
            <a:graphicFrameLocks noGrp="1"/>
          </p:cNvGraphicFramePr>
          <p:nvPr/>
        </p:nvGraphicFramePr>
        <p:xfrm>
          <a:off x="548640" y="1554480"/>
          <a:ext cx="7498079" cy="4846320"/>
        </p:xfrm>
        <a:graphic>
          <a:graphicData uri="http://schemas.openxmlformats.org/drawingml/2006/chart">
            <c:chart xmlns:c="http://schemas.openxmlformats.org/drawingml/2006/chart" r:id="rId2"/>
          </a:graphicData>
        </a:graphic>
      </p:graphicFrame>
      <p:sp>
        <p:nvSpPr>
          <p:cNvPr id="5" name="Rounded Rectangle 4"/>
          <p:cNvSpPr/>
          <p:nvPr/>
        </p:nvSpPr>
        <p:spPr>
          <a:xfrm>
            <a:off x="8321040" y="1645920"/>
            <a:ext cx="3291840" cy="4663440"/>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0" y="1737360"/>
            <a:ext cx="3017520" cy="411480"/>
          </a:xfrm>
          <a:prstGeom prst="rect">
            <a:avLst/>
          </a:prstGeom>
          <a:noFill/>
        </p:spPr>
        <p:txBody>
          <a:bodyPr wrap="square" anchor="t" lIns="45720" rIns="45720" tIns="27432" bIns="27432">
            <a:spAutoFit/>
          </a:bodyPr>
          <a:lstStyle/>
          <a:p>
            <a:pPr algn="l">
              <a:spcAft>
                <a:spcPts val="400"/>
              </a:spcAft>
            </a:pPr>
            <a:r>
              <a:rPr sz="1800" b="1" i="0">
                <a:solidFill>
                  <a:srgbClr val="14342B"/>
                </a:solidFill>
                <a:latin typeface="Calibri"/>
              </a:rPr>
              <a:t>Reading the chart</a:t>
            </a:r>
          </a:p>
        </p:txBody>
      </p:sp>
      <p:sp>
        <p:nvSpPr>
          <p:cNvPr id="7" name="TextBox 6"/>
          <p:cNvSpPr txBox="1"/>
          <p:nvPr/>
        </p:nvSpPr>
        <p:spPr>
          <a:xfrm>
            <a:off x="8458200" y="2194560"/>
            <a:ext cx="3063240" cy="4023360"/>
          </a:xfrm>
          <a:prstGeom prst="rect">
            <a:avLst/>
          </a:prstGeom>
          <a:noFill/>
        </p:spPr>
        <p:txBody>
          <a:bodyPr wrap="square">
            <a:spAutoFit/>
          </a:bodyPr>
          <a:lstStyle/>
          <a:p>
            <a:pPr>
              <a:spcAft>
                <a:spcPts val="700"/>
              </a:spcAft>
            </a:pPr>
            <a:r>
              <a:rPr sz="1400" b="1">
                <a:solidFill>
                  <a:srgbClr val="1B2A22"/>
                </a:solidFill>
                <a:latin typeface="Calibri"/>
              </a:rPr>
              <a:t>•  Sun tracking: </a:t>
            </a:r>
            <a:r>
              <a:rPr sz="1400" b="0">
                <a:solidFill>
                  <a:srgbClr val="1B2A22"/>
                </a:solidFill>
                <a:latin typeface="Calibri"/>
              </a:rPr>
              <a:t>best energy (100 %) but only 27 % of the crop light</a:t>
            </a:r>
          </a:p>
          <a:p>
            <a:pPr>
              <a:spcAft>
                <a:spcPts val="700"/>
              </a:spcAft>
            </a:pPr>
            <a:r>
              <a:rPr sz="1400" b="1">
                <a:solidFill>
                  <a:srgbClr val="1B2A22"/>
                </a:solidFill>
                <a:latin typeface="Calibri"/>
              </a:rPr>
              <a:t>•  Fixed 45 degrees: </a:t>
            </a:r>
            <a:r>
              <a:rPr sz="1400" b="0">
                <a:solidFill>
                  <a:srgbClr val="1B2A22"/>
                </a:solidFill>
                <a:latin typeface="Calibri"/>
              </a:rPr>
              <a:t>74 % energy, 81 % crop</a:t>
            </a:r>
          </a:p>
          <a:p>
            <a:pPr>
              <a:spcAft>
                <a:spcPts val="700"/>
              </a:spcAft>
            </a:pPr>
            <a:r>
              <a:rPr sz="1400" b="1">
                <a:solidFill>
                  <a:srgbClr val="1B2A22"/>
                </a:solidFill>
                <a:latin typeface="Calibri"/>
              </a:rPr>
              <a:t>•  SRMC controller: </a:t>
            </a:r>
            <a:r>
              <a:rPr sz="1400" b="0">
                <a:solidFill>
                  <a:srgbClr val="1B2A22"/>
                </a:solidFill>
                <a:latin typeface="Calibri"/>
              </a:rPr>
              <a:t>75 % energy, 89 % crop; average 82 % (tracking 63 %, fixed 45: 77 %)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700" b="1" i="0">
                <a:solidFill>
                  <a:srgbClr val="14342B"/>
                </a:solidFill>
                <a:latin typeface="Cambria"/>
              </a:rPr>
              <a:t>Result: the angle the controller chooses through the day</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Compared with pure sun tracking (dashed), clear, partly cloudy and hot-dry days</a:t>
            </a:r>
          </a:p>
        </p:txBody>
      </p:sp>
      <p:pic>
        <p:nvPicPr>
          <p:cNvPr id="4" name="Picture 3" descr="fig_angle_through_day.png"/>
          <p:cNvPicPr>
            <a:picLocks noChangeAspect="1"/>
          </p:cNvPicPr>
          <p:nvPr/>
        </p:nvPicPr>
        <p:blipFill>
          <a:blip r:embed="rId2"/>
          <a:stretch>
            <a:fillRect/>
          </a:stretch>
        </p:blipFill>
        <p:spPr>
          <a:xfrm>
            <a:off x="548640" y="1857685"/>
            <a:ext cx="7223760" cy="4239909"/>
          </a:xfrm>
          <a:prstGeom prst="rect">
            <a:avLst/>
          </a:prstGeom>
        </p:spPr>
      </p:pic>
      <p:sp>
        <p:nvSpPr>
          <p:cNvPr id="5" name="TextBox 4"/>
          <p:cNvSpPr txBox="1"/>
          <p:nvPr/>
        </p:nvSpPr>
        <p:spPr>
          <a:xfrm>
            <a:off x="8046720" y="1737360"/>
            <a:ext cx="3566160" cy="4572000"/>
          </a:xfrm>
          <a:prstGeom prst="rect">
            <a:avLst/>
          </a:prstGeom>
          <a:noFill/>
        </p:spPr>
        <p:txBody>
          <a:bodyPr wrap="square">
            <a:spAutoFit/>
          </a:bodyPr>
          <a:lstStyle/>
          <a:p>
            <a:pPr>
              <a:spcAft>
                <a:spcPts val="800"/>
              </a:spcAft>
            </a:pPr>
            <a:r>
              <a:rPr sz="1500" b="0">
                <a:solidFill>
                  <a:srgbClr val="1B2A22"/>
                </a:solidFill>
                <a:latin typeface="Calibri"/>
              </a:rPr>
              <a:t>•  Morning: steep (about 55 to 60 degrees) so crops get light while the sun is low</a:t>
            </a:r>
          </a:p>
          <a:p>
            <a:pPr>
              <a:spcAft>
                <a:spcPts val="800"/>
              </a:spcAft>
            </a:pPr>
            <a:r>
              <a:rPr sz="1500" b="0">
                <a:solidFill>
                  <a:srgbClr val="1B2A22"/>
                </a:solidFill>
                <a:latin typeface="Calibri"/>
              </a:rPr>
              <a:t>•  Afternoon on clear days: flatter, more energy</a:t>
            </a:r>
          </a:p>
          <a:p>
            <a:pPr>
              <a:spcAft>
                <a:spcPts val="800"/>
              </a:spcAft>
            </a:pPr>
            <a:r>
              <a:rPr sz="1500" b="0">
                <a:solidFill>
                  <a:srgbClr val="1B2A22"/>
                </a:solidFill>
                <a:latin typeface="Calibri"/>
              </a:rPr>
              <a:t>•  Partly cloudy day: stays steeper because the crop needs the light that is left</a:t>
            </a:r>
          </a:p>
          <a:p>
            <a:pPr>
              <a:spcAft>
                <a:spcPts val="800"/>
              </a:spcAft>
            </a:pPr>
            <a:r>
              <a:rPr sz="1500" b="0">
                <a:solidFill>
                  <a:srgbClr val="1B2A22"/>
                </a:solidFill>
                <a:latin typeface="Calibri"/>
              </a:rPr>
              <a:t>•  Hot, dry air (VPD stress): flatter around midday: more shade for the crop, more energy</a:t>
            </a:r>
          </a:p>
          <a:p>
            <a:pPr>
              <a:spcAft>
                <a:spcPts val="800"/>
              </a:spcAft>
            </a:pPr>
            <a:r>
              <a:rPr sz="1500" b="0">
                <a:solidFill>
                  <a:srgbClr val="1B2A22"/>
                </a:solidFill>
                <a:latin typeface="Calibri"/>
              </a:rPr>
              <a:t>•  Tracking would turn negative (west); the wire-drive design has two positions, so it is only a reference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300" b="1" i="0">
                <a:solidFill>
                  <a:srgbClr val="14342B"/>
                </a:solidFill>
                <a:latin typeface="Cambria"/>
              </a:rPr>
              <a:t>Result: one slider moves the farm between "crop first" and "energy first"</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Noon, clear sky: the energy weight w from 0 to 100 %</a:t>
            </a:r>
          </a:p>
        </p:txBody>
      </p:sp>
      <p:pic>
        <p:nvPicPr>
          <p:cNvPr id="4" name="Picture 3" descr="fig_weight_sweep_noon.png"/>
          <p:cNvPicPr>
            <a:picLocks noChangeAspect="1"/>
          </p:cNvPicPr>
          <p:nvPr/>
        </p:nvPicPr>
        <p:blipFill>
          <a:blip r:embed="rId2"/>
          <a:stretch>
            <a:fillRect/>
          </a:stretch>
        </p:blipFill>
        <p:spPr>
          <a:xfrm>
            <a:off x="548640" y="2067293"/>
            <a:ext cx="7223759" cy="3729252"/>
          </a:xfrm>
          <a:prstGeom prst="rect">
            <a:avLst/>
          </a:prstGeom>
        </p:spPr>
      </p:pic>
      <p:graphicFrame>
        <p:nvGraphicFramePr>
          <p:cNvPr id="5" name="Table 4"/>
          <p:cNvGraphicFramePr>
            <a:graphicFrameLocks noGrp="1"/>
          </p:cNvGraphicFramePr>
          <p:nvPr/>
        </p:nvGraphicFramePr>
        <p:xfrm>
          <a:off x="8046720" y="1737360"/>
          <a:ext cx="3566160" cy="3200400"/>
        </p:xfrm>
        <a:graphic>
          <a:graphicData uri="http://schemas.openxmlformats.org/drawingml/2006/table">
            <a:tbl>
              <a:tblPr firstRow="1" bandRow="1">
                <a:tableStyleId>{5C22544A-7EE6-4342-B048-85BDC9FD1C3A}</a:tableStyleId>
              </a:tblPr>
              <a:tblGrid>
                <a:gridCol w="914400"/>
                <a:gridCol w="868680"/>
                <a:gridCol w="914400"/>
                <a:gridCol w="868680"/>
              </a:tblGrid>
              <a:tr h="457200">
                <a:tc>
                  <a:txBody>
                    <a:bodyPr wrap="square"/>
                    <a:lstStyle/>
                    <a:p>
                      <a:r>
                        <a:rPr sz="1300" b="1">
                          <a:solidFill>
                            <a:srgbClr val="FFFFFF"/>
                          </a:solidFill>
                          <a:latin typeface="Calibri"/>
                        </a:rPr>
                        <a:t>w (energy)</a:t>
                      </a:r>
                    </a:p>
                  </a:txBody>
                  <a:tcPr marL="54864" marR="54864" marT="18288" marB="18288" anchor="ctr">
                    <a:solidFill>
                      <a:srgbClr val="14342B"/>
                    </a:solidFill>
                  </a:tcPr>
                </a:tc>
                <a:tc>
                  <a:txBody>
                    <a:bodyPr wrap="square"/>
                    <a:lstStyle/>
                    <a:p>
                      <a:r>
                        <a:rPr sz="1300" b="1">
                          <a:solidFill>
                            <a:srgbClr val="FFFFFF"/>
                          </a:solidFill>
                          <a:latin typeface="Calibri"/>
                        </a:rPr>
                        <a:t>angle</a:t>
                      </a:r>
                    </a:p>
                  </a:txBody>
                  <a:tcPr marL="54864" marR="54864" marT="18288" marB="18288" anchor="ctr">
                    <a:solidFill>
                      <a:srgbClr val="14342B"/>
                    </a:solidFill>
                  </a:tcPr>
                </a:tc>
                <a:tc>
                  <a:txBody>
                    <a:bodyPr wrap="square"/>
                    <a:lstStyle/>
                    <a:p>
                      <a:r>
                        <a:rPr sz="1300" b="1">
                          <a:solidFill>
                            <a:srgbClr val="FFFFFF"/>
                          </a:solidFill>
                          <a:latin typeface="Calibri"/>
                        </a:rPr>
                        <a:t>PV W/m2</a:t>
                      </a:r>
                    </a:p>
                  </a:txBody>
                  <a:tcPr marL="54864" marR="54864" marT="18288" marB="18288" anchor="ctr">
                    <a:solidFill>
                      <a:srgbClr val="14342B"/>
                    </a:solidFill>
                  </a:tcPr>
                </a:tc>
                <a:tc>
                  <a:txBody>
                    <a:bodyPr wrap="square"/>
                    <a:lstStyle/>
                    <a:p>
                      <a:r>
                        <a:rPr sz="1300" b="1">
                          <a:solidFill>
                            <a:srgbClr val="FFFFFF"/>
                          </a:solidFill>
                          <a:latin typeface="Calibri"/>
                        </a:rPr>
                        <a:t>crop score</a:t>
                      </a:r>
                    </a:p>
                  </a:txBody>
                  <a:tcPr marL="54864" marR="54864" marT="18288" marB="18288" anchor="ctr">
                    <a:solidFill>
                      <a:srgbClr val="14342B"/>
                    </a:solidFill>
                  </a:tcPr>
                </a:tc>
              </a:tr>
              <a:tr h="457200">
                <a:tc>
                  <a:txBody>
                    <a:bodyPr wrap="square"/>
                    <a:lstStyle/>
                    <a:p>
                      <a:r>
                        <a:rPr sz="1300" b="0">
                          <a:solidFill>
                            <a:srgbClr val="1B2A22"/>
                          </a:solidFill>
                          <a:latin typeface="Calibri"/>
                        </a:rPr>
                        <a:t>0 %</a:t>
                      </a:r>
                    </a:p>
                  </a:txBody>
                  <a:tcPr marL="54864" marR="54864" marT="18288" marB="18288" anchor="ctr">
                    <a:solidFill>
                      <a:srgbClr val="FFFFFF"/>
                    </a:solidFill>
                  </a:tcPr>
                </a:tc>
                <a:tc>
                  <a:txBody>
                    <a:bodyPr wrap="square"/>
                    <a:lstStyle/>
                    <a:p>
                      <a:r>
                        <a:rPr sz="1300" b="0">
                          <a:solidFill>
                            <a:srgbClr val="1B2A22"/>
                          </a:solidFill>
                          <a:latin typeface="Calibri"/>
                        </a:rPr>
                        <a:t>60 deg</a:t>
                      </a:r>
                    </a:p>
                  </a:txBody>
                  <a:tcPr marL="54864" marR="54864" marT="18288" marB="18288" anchor="ctr">
                    <a:solidFill>
                      <a:srgbClr val="FFFFFF"/>
                    </a:solidFill>
                  </a:tcPr>
                </a:tc>
                <a:tc>
                  <a:txBody>
                    <a:bodyPr wrap="square"/>
                    <a:lstStyle/>
                    <a:p>
                      <a:r>
                        <a:rPr sz="1300" b="0">
                          <a:solidFill>
                            <a:srgbClr val="1B2A22"/>
                          </a:solidFill>
                          <a:latin typeface="Calibri"/>
                        </a:rPr>
                        <a:t>78</a:t>
                      </a:r>
                    </a:p>
                  </a:txBody>
                  <a:tcPr marL="54864" marR="54864" marT="18288" marB="18288" anchor="ctr">
                    <a:solidFill>
                      <a:srgbClr val="FFFFFF"/>
                    </a:solidFill>
                  </a:tcPr>
                </a:tc>
                <a:tc>
                  <a:txBody>
                    <a:bodyPr wrap="square"/>
                    <a:lstStyle/>
                    <a:p>
                      <a:r>
                        <a:rPr sz="1300" b="0">
                          <a:solidFill>
                            <a:srgbClr val="1B2A22"/>
                          </a:solidFill>
                          <a:latin typeface="Calibri"/>
                        </a:rPr>
                        <a:t>0.65</a:t>
                      </a:r>
                    </a:p>
                  </a:txBody>
                  <a:tcPr marL="54864" marR="54864" marT="18288" marB="18288" anchor="ctr">
                    <a:solidFill>
                      <a:srgbClr val="FFFFFF"/>
                    </a:solidFill>
                  </a:tcPr>
                </a:tc>
              </a:tr>
              <a:tr h="457200">
                <a:tc>
                  <a:txBody>
                    <a:bodyPr wrap="square"/>
                    <a:lstStyle/>
                    <a:p>
                      <a:r>
                        <a:rPr sz="1300" b="0">
                          <a:solidFill>
                            <a:srgbClr val="1B2A22"/>
                          </a:solidFill>
                          <a:latin typeface="Calibri"/>
                        </a:rPr>
                        <a:t>20 %</a:t>
                      </a:r>
                    </a:p>
                  </a:txBody>
                  <a:tcPr marL="54864" marR="54864" marT="18288" marB="18288" anchor="ctr">
                    <a:solidFill>
                      <a:srgbClr val="E6EEE0"/>
                    </a:solidFill>
                  </a:tcPr>
                </a:tc>
                <a:tc>
                  <a:txBody>
                    <a:bodyPr wrap="square"/>
                    <a:lstStyle/>
                    <a:p>
                      <a:r>
                        <a:rPr sz="1300" b="0">
                          <a:solidFill>
                            <a:srgbClr val="1B2A22"/>
                          </a:solidFill>
                          <a:latin typeface="Calibri"/>
                        </a:rPr>
                        <a:t>44.5 deg</a:t>
                      </a:r>
                    </a:p>
                  </a:txBody>
                  <a:tcPr marL="54864" marR="54864" marT="18288" marB="18288" anchor="ctr">
                    <a:solidFill>
                      <a:srgbClr val="E6EEE0"/>
                    </a:solidFill>
                  </a:tcPr>
                </a:tc>
                <a:tc>
                  <a:txBody>
                    <a:bodyPr wrap="square"/>
                    <a:lstStyle/>
                    <a:p>
                      <a:r>
                        <a:rPr sz="1300" b="0">
                          <a:solidFill>
                            <a:srgbClr val="1B2A22"/>
                          </a:solidFill>
                          <a:latin typeface="Calibri"/>
                        </a:rPr>
                        <a:t>101</a:t>
                      </a:r>
                    </a:p>
                  </a:txBody>
                  <a:tcPr marL="54864" marR="54864" marT="18288" marB="18288" anchor="ctr">
                    <a:solidFill>
                      <a:srgbClr val="E6EEE0"/>
                    </a:solidFill>
                  </a:tcPr>
                </a:tc>
                <a:tc>
                  <a:txBody>
                    <a:bodyPr wrap="square"/>
                    <a:lstStyle/>
                    <a:p>
                      <a:r>
                        <a:rPr sz="1300" b="0">
                          <a:solidFill>
                            <a:srgbClr val="1B2A22"/>
                          </a:solidFill>
                          <a:latin typeface="Calibri"/>
                        </a:rPr>
                        <a:t>0.63</a:t>
                      </a:r>
                    </a:p>
                  </a:txBody>
                  <a:tcPr marL="54864" marR="54864" marT="18288" marB="18288" anchor="ctr">
                    <a:solidFill>
                      <a:srgbClr val="E6EEE0"/>
                    </a:solidFill>
                  </a:tcPr>
                </a:tc>
              </a:tr>
              <a:tr h="457200">
                <a:tc>
                  <a:txBody>
                    <a:bodyPr wrap="square"/>
                    <a:lstStyle/>
                    <a:p>
                      <a:r>
                        <a:rPr sz="1300" b="0">
                          <a:solidFill>
                            <a:srgbClr val="1B2A22"/>
                          </a:solidFill>
                          <a:latin typeface="Calibri"/>
                        </a:rPr>
                        <a:t>40 %</a:t>
                      </a:r>
                    </a:p>
                  </a:txBody>
                  <a:tcPr marL="54864" marR="54864" marT="18288" marB="18288" anchor="ctr">
                    <a:solidFill>
                      <a:srgbClr val="FFFFFF"/>
                    </a:solidFill>
                  </a:tcPr>
                </a:tc>
                <a:tc>
                  <a:txBody>
                    <a:bodyPr wrap="square"/>
                    <a:lstStyle/>
                    <a:p>
                      <a:r>
                        <a:rPr sz="1300" b="0">
                          <a:solidFill>
                            <a:srgbClr val="1B2A22"/>
                          </a:solidFill>
                          <a:latin typeface="Calibri"/>
                        </a:rPr>
                        <a:t>43.5 deg</a:t>
                      </a:r>
                    </a:p>
                  </a:txBody>
                  <a:tcPr marL="54864" marR="54864" marT="18288" marB="18288" anchor="ctr">
                    <a:solidFill>
                      <a:srgbClr val="FFFFFF"/>
                    </a:solidFill>
                  </a:tcPr>
                </a:tc>
                <a:tc>
                  <a:txBody>
                    <a:bodyPr wrap="square"/>
                    <a:lstStyle/>
                    <a:p>
                      <a:r>
                        <a:rPr sz="1300" b="0">
                          <a:solidFill>
                            <a:srgbClr val="1B2A22"/>
                          </a:solidFill>
                          <a:latin typeface="Calibri"/>
                        </a:rPr>
                        <a:t>103</a:t>
                      </a:r>
                    </a:p>
                  </a:txBody>
                  <a:tcPr marL="54864" marR="54864" marT="18288" marB="18288" anchor="ctr">
                    <a:solidFill>
                      <a:srgbClr val="FFFFFF"/>
                    </a:solidFill>
                  </a:tcPr>
                </a:tc>
                <a:tc>
                  <a:txBody>
                    <a:bodyPr wrap="square"/>
                    <a:lstStyle/>
                    <a:p>
                      <a:r>
                        <a:rPr sz="1300" b="0">
                          <a:solidFill>
                            <a:srgbClr val="1B2A22"/>
                          </a:solidFill>
                          <a:latin typeface="Calibri"/>
                        </a:rPr>
                        <a:t>0.62</a:t>
                      </a:r>
                    </a:p>
                  </a:txBody>
                  <a:tcPr marL="54864" marR="54864" marT="18288" marB="18288" anchor="ctr">
                    <a:solidFill>
                      <a:srgbClr val="FFFFFF"/>
                    </a:solidFill>
                  </a:tcPr>
                </a:tc>
              </a:tr>
              <a:tr h="457200">
                <a:tc>
                  <a:txBody>
                    <a:bodyPr wrap="square"/>
                    <a:lstStyle/>
                    <a:p>
                      <a:r>
                        <a:rPr sz="1300" b="0">
                          <a:solidFill>
                            <a:srgbClr val="1B2A22"/>
                          </a:solidFill>
                          <a:latin typeface="Calibri"/>
                        </a:rPr>
                        <a:t>60 %</a:t>
                      </a:r>
                    </a:p>
                  </a:txBody>
                  <a:tcPr marL="54864" marR="54864" marT="18288" marB="18288" anchor="ctr">
                    <a:solidFill>
                      <a:srgbClr val="E6EEE0"/>
                    </a:solidFill>
                  </a:tcPr>
                </a:tc>
                <a:tc>
                  <a:txBody>
                    <a:bodyPr wrap="square"/>
                    <a:lstStyle/>
                    <a:p>
                      <a:r>
                        <a:rPr sz="1300" b="0">
                          <a:solidFill>
                            <a:srgbClr val="1B2A22"/>
                          </a:solidFill>
                          <a:latin typeface="Calibri"/>
                        </a:rPr>
                        <a:t>39.5 deg</a:t>
                      </a:r>
                    </a:p>
                  </a:txBody>
                  <a:tcPr marL="54864" marR="54864" marT="18288" marB="18288" anchor="ctr">
                    <a:solidFill>
                      <a:srgbClr val="E6EEE0"/>
                    </a:solidFill>
                  </a:tcPr>
                </a:tc>
                <a:tc>
                  <a:txBody>
                    <a:bodyPr wrap="square"/>
                    <a:lstStyle/>
                    <a:p>
                      <a:r>
                        <a:rPr sz="1300" b="0">
                          <a:solidFill>
                            <a:srgbClr val="1B2A22"/>
                          </a:solidFill>
                          <a:latin typeface="Calibri"/>
                        </a:rPr>
                        <a:t>108</a:t>
                      </a:r>
                    </a:p>
                  </a:txBody>
                  <a:tcPr marL="54864" marR="54864" marT="18288" marB="18288" anchor="ctr">
                    <a:solidFill>
                      <a:srgbClr val="E6EEE0"/>
                    </a:solidFill>
                  </a:tcPr>
                </a:tc>
                <a:tc>
                  <a:txBody>
                    <a:bodyPr wrap="square"/>
                    <a:lstStyle/>
                    <a:p>
                      <a:r>
                        <a:rPr sz="1300" b="0">
                          <a:solidFill>
                            <a:srgbClr val="1B2A22"/>
                          </a:solidFill>
                          <a:latin typeface="Calibri"/>
                        </a:rPr>
                        <a:t>0.59</a:t>
                      </a:r>
                    </a:p>
                  </a:txBody>
                  <a:tcPr marL="54864" marR="54864" marT="18288" marB="18288" anchor="ctr">
                    <a:solidFill>
                      <a:srgbClr val="E6EEE0"/>
                    </a:solidFill>
                  </a:tcPr>
                </a:tc>
              </a:tr>
              <a:tr h="457200">
                <a:tc>
                  <a:txBody>
                    <a:bodyPr wrap="square"/>
                    <a:lstStyle/>
                    <a:p>
                      <a:r>
                        <a:rPr sz="1300" b="0">
                          <a:solidFill>
                            <a:srgbClr val="1B2A22"/>
                          </a:solidFill>
                          <a:latin typeface="Calibri"/>
                        </a:rPr>
                        <a:t>80 %</a:t>
                      </a:r>
                    </a:p>
                  </a:txBody>
                  <a:tcPr marL="54864" marR="54864" marT="18288" marB="18288" anchor="ctr">
                    <a:solidFill>
                      <a:srgbClr val="FFFFFF"/>
                    </a:solidFill>
                  </a:tcPr>
                </a:tc>
                <a:tc>
                  <a:txBody>
                    <a:bodyPr wrap="square"/>
                    <a:lstStyle/>
                    <a:p>
                      <a:r>
                        <a:rPr sz="1300" b="0">
                          <a:solidFill>
                            <a:srgbClr val="1B2A22"/>
                          </a:solidFill>
                          <a:latin typeface="Calibri"/>
                        </a:rPr>
                        <a:t>34.5 deg</a:t>
                      </a:r>
                    </a:p>
                  </a:txBody>
                  <a:tcPr marL="54864" marR="54864" marT="18288" marB="18288" anchor="ctr">
                    <a:solidFill>
                      <a:srgbClr val="FFFFFF"/>
                    </a:solidFill>
                  </a:tcPr>
                </a:tc>
                <a:tc>
                  <a:txBody>
                    <a:bodyPr wrap="square"/>
                    <a:lstStyle/>
                    <a:p>
                      <a:r>
                        <a:rPr sz="1300" b="0">
                          <a:solidFill>
                            <a:srgbClr val="1B2A22"/>
                          </a:solidFill>
                          <a:latin typeface="Calibri"/>
                        </a:rPr>
                        <a:t>113</a:t>
                      </a:r>
                    </a:p>
                  </a:txBody>
                  <a:tcPr marL="54864" marR="54864" marT="18288" marB="18288" anchor="ctr">
                    <a:solidFill>
                      <a:srgbClr val="FFFFFF"/>
                    </a:solidFill>
                  </a:tcPr>
                </a:tc>
                <a:tc>
                  <a:txBody>
                    <a:bodyPr wrap="square"/>
                    <a:lstStyle/>
                    <a:p>
                      <a:r>
                        <a:rPr sz="1300" b="0">
                          <a:solidFill>
                            <a:srgbClr val="1B2A22"/>
                          </a:solidFill>
                          <a:latin typeface="Calibri"/>
                        </a:rPr>
                        <a:t>0.48</a:t>
                      </a:r>
                    </a:p>
                  </a:txBody>
                  <a:tcPr marL="54864" marR="54864" marT="18288" marB="18288" anchor="ctr">
                    <a:solidFill>
                      <a:srgbClr val="FFFFFF"/>
                    </a:solidFill>
                  </a:tcPr>
                </a:tc>
              </a:tr>
              <a:tr h="457200">
                <a:tc>
                  <a:txBody>
                    <a:bodyPr wrap="square"/>
                    <a:lstStyle/>
                    <a:p>
                      <a:r>
                        <a:rPr sz="1300" b="0">
                          <a:solidFill>
                            <a:srgbClr val="1B2A22"/>
                          </a:solidFill>
                          <a:latin typeface="Calibri"/>
                        </a:rPr>
                        <a:t>100 %</a:t>
                      </a:r>
                    </a:p>
                  </a:txBody>
                  <a:tcPr marL="54864" marR="54864" marT="18288" marB="18288" anchor="ctr">
                    <a:solidFill>
                      <a:srgbClr val="E6EEE0"/>
                    </a:solidFill>
                  </a:tcPr>
                </a:tc>
                <a:tc>
                  <a:txBody>
                    <a:bodyPr wrap="square"/>
                    <a:lstStyle/>
                    <a:p>
                      <a:r>
                        <a:rPr sz="1300" b="0">
                          <a:solidFill>
                            <a:srgbClr val="1B2A22"/>
                          </a:solidFill>
                          <a:latin typeface="Calibri"/>
                        </a:rPr>
                        <a:t>15 deg</a:t>
                      </a:r>
                    </a:p>
                  </a:txBody>
                  <a:tcPr marL="54864" marR="54864" marT="18288" marB="18288" anchor="ctr">
                    <a:solidFill>
                      <a:srgbClr val="E6EEE0"/>
                    </a:solidFill>
                  </a:tcPr>
                </a:tc>
                <a:tc>
                  <a:txBody>
                    <a:bodyPr wrap="square"/>
                    <a:lstStyle/>
                    <a:p>
                      <a:r>
                        <a:rPr sz="1300" b="0">
                          <a:solidFill>
                            <a:srgbClr val="1B2A22"/>
                          </a:solidFill>
                          <a:latin typeface="Calibri"/>
                        </a:rPr>
                        <a:t>127</a:t>
                      </a:r>
                    </a:p>
                  </a:txBody>
                  <a:tcPr marL="54864" marR="54864" marT="18288" marB="18288" anchor="ctr">
                    <a:solidFill>
                      <a:srgbClr val="E6EEE0"/>
                    </a:solidFill>
                  </a:tcPr>
                </a:tc>
                <a:tc>
                  <a:txBody>
                    <a:bodyPr wrap="square"/>
                    <a:lstStyle/>
                    <a:p>
                      <a:r>
                        <a:rPr sz="1300" b="0">
                          <a:solidFill>
                            <a:srgbClr val="1B2A22"/>
                          </a:solidFill>
                          <a:latin typeface="Calibri"/>
                        </a:rPr>
                        <a:t>0.16</a:t>
                      </a:r>
                    </a:p>
                  </a:txBody>
                  <a:tcPr marL="54864" marR="54864" marT="18288" marB="18288" anchor="ctr">
                    <a:solidFill>
                      <a:srgbClr val="E6EEE0"/>
                    </a:solidFill>
                  </a:tcPr>
                </a:tc>
              </a:tr>
            </a:tbl>
          </a:graphicData>
        </a:graphic>
      </p:graphicFrame>
      <p:sp>
        <p:nvSpPr>
          <p:cNvPr id="6" name="TextBox 5"/>
          <p:cNvSpPr txBox="1"/>
          <p:nvPr/>
        </p:nvSpPr>
        <p:spPr>
          <a:xfrm>
            <a:off x="8046720" y="5120640"/>
            <a:ext cx="3566160" cy="1188720"/>
          </a:xfrm>
          <a:prstGeom prst="rect">
            <a:avLst/>
          </a:prstGeom>
          <a:noFill/>
        </p:spPr>
        <p:txBody>
          <a:bodyPr wrap="square" anchor="t" lIns="45720" rIns="45720" tIns="27432" bIns="27432">
            <a:spAutoFit/>
          </a:bodyPr>
          <a:lstStyle/>
          <a:p>
            <a:pPr algn="l">
              <a:spcAft>
                <a:spcPts val="400"/>
              </a:spcAft>
            </a:pPr>
            <a:r>
              <a:rPr sz="1400" b="0" i="0">
                <a:solidFill>
                  <a:srgbClr val="5B6B62"/>
                </a:solidFill>
                <a:latin typeface="Calibri"/>
              </a:rPr>
              <a:t>The farmer or operator chooses w; the code does the rest. Review 4 prices the choice.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The model under the demo is validated</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Same equations as the earlier reviews; independent references, not field data</a:t>
            </a:r>
          </a:p>
        </p:txBody>
      </p:sp>
      <p:sp>
        <p:nvSpPr>
          <p:cNvPr id="4" name="Rounded Rectangle 3"/>
          <p:cNvSpPr/>
          <p:nvPr/>
        </p:nvSpPr>
        <p:spPr>
          <a:xfrm>
            <a:off x="548640" y="1600200"/>
            <a:ext cx="3566160" cy="3749039"/>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l_pv_vs_pvgis.png"/>
          <p:cNvPicPr>
            <a:picLocks noChangeAspect="1"/>
          </p:cNvPicPr>
          <p:nvPr/>
        </p:nvPicPr>
        <p:blipFill>
          <a:blip r:embed="rId2"/>
          <a:stretch>
            <a:fillRect/>
          </a:stretch>
        </p:blipFill>
        <p:spPr>
          <a:xfrm>
            <a:off x="640080" y="2030842"/>
            <a:ext cx="3383280" cy="2064795"/>
          </a:xfrm>
          <a:prstGeom prst="rect">
            <a:avLst/>
          </a:prstGeom>
        </p:spPr>
      </p:pic>
      <p:sp>
        <p:nvSpPr>
          <p:cNvPr id="6" name="TextBox 5"/>
          <p:cNvSpPr txBox="1"/>
          <p:nvPr/>
        </p:nvSpPr>
        <p:spPr>
          <a:xfrm>
            <a:off x="685800" y="4526280"/>
            <a:ext cx="3291840" cy="777240"/>
          </a:xfrm>
          <a:prstGeom prst="rect">
            <a:avLst/>
          </a:prstGeom>
          <a:noFill/>
        </p:spPr>
        <p:txBody>
          <a:bodyPr wrap="square" anchor="t" lIns="45720" rIns="45720" tIns="27432" bIns="27432">
            <a:spAutoFit/>
          </a:bodyPr>
          <a:lstStyle/>
          <a:p>
            <a:pPr algn="l">
              <a:spcAft>
                <a:spcPts val="400"/>
              </a:spcAft>
            </a:pPr>
            <a:r>
              <a:rPr sz="1400" b="0" i="0">
                <a:solidFill>
                  <a:srgbClr val="1B2A22"/>
                </a:solidFill>
                <a:latin typeface="Calibri"/>
              </a:rPr>
              <a:t>PV energy vs PVGIS: +5.0 % (of which +5.2 % is the sunshine dataset)</a:t>
            </a:r>
          </a:p>
        </p:txBody>
      </p:sp>
      <p:sp>
        <p:nvSpPr>
          <p:cNvPr id="7" name="Rounded Rectangle 6"/>
          <p:cNvSpPr/>
          <p:nvPr/>
        </p:nvSpPr>
        <p:spPr>
          <a:xfrm>
            <a:off x="4297679" y="1600200"/>
            <a:ext cx="3566160" cy="3749039"/>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al_shading_scatter.png"/>
          <p:cNvPicPr>
            <a:picLocks noChangeAspect="1"/>
          </p:cNvPicPr>
          <p:nvPr/>
        </p:nvPicPr>
        <p:blipFill>
          <a:blip r:embed="rId3"/>
          <a:stretch>
            <a:fillRect/>
          </a:stretch>
        </p:blipFill>
        <p:spPr>
          <a:xfrm>
            <a:off x="4652315" y="1691639"/>
            <a:ext cx="2856888" cy="2743200"/>
          </a:xfrm>
          <a:prstGeom prst="rect">
            <a:avLst/>
          </a:prstGeom>
        </p:spPr>
      </p:pic>
      <p:sp>
        <p:nvSpPr>
          <p:cNvPr id="9" name="TextBox 8"/>
          <p:cNvSpPr txBox="1"/>
          <p:nvPr/>
        </p:nvSpPr>
        <p:spPr>
          <a:xfrm>
            <a:off x="4434840" y="4526280"/>
            <a:ext cx="3291840" cy="777240"/>
          </a:xfrm>
          <a:prstGeom prst="rect">
            <a:avLst/>
          </a:prstGeom>
          <a:noFill/>
        </p:spPr>
        <p:txBody>
          <a:bodyPr wrap="square" anchor="t" lIns="45720" rIns="45720" tIns="27432" bIns="27432">
            <a:spAutoFit/>
          </a:bodyPr>
          <a:lstStyle/>
          <a:p>
            <a:pPr algn="l">
              <a:spcAft>
                <a:spcPts val="400"/>
              </a:spcAft>
            </a:pPr>
            <a:r>
              <a:rPr sz="1400" b="0" i="0">
                <a:solidFill>
                  <a:srgbClr val="1B2A22"/>
                </a:solidFill>
                <a:latin typeface="Calibri"/>
              </a:rPr>
              <a:t>Shadow model vs Blender ray tracing: mean difference 0.010</a:t>
            </a:r>
          </a:p>
        </p:txBody>
      </p:sp>
      <p:sp>
        <p:nvSpPr>
          <p:cNvPr id="10" name="Rounded Rectangle 9"/>
          <p:cNvSpPr/>
          <p:nvPr/>
        </p:nvSpPr>
        <p:spPr>
          <a:xfrm>
            <a:off x="8046719" y="1600200"/>
            <a:ext cx="3566160" cy="3749039"/>
          </a:xfrm>
          <a:prstGeom prst="roundRect">
            <a:avLst>
              <a:gd name="adj" fmla="val 8000"/>
            </a:avLst>
          </a:prstGeom>
          <a:solidFill>
            <a:srgbClr val="FFFFFF"/>
          </a:solidFill>
          <a:ln w="12700">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al_structural_utilisation.png"/>
          <p:cNvPicPr>
            <a:picLocks noChangeAspect="1"/>
          </p:cNvPicPr>
          <p:nvPr/>
        </p:nvPicPr>
        <p:blipFill>
          <a:blip r:embed="rId4"/>
          <a:stretch>
            <a:fillRect/>
          </a:stretch>
        </p:blipFill>
        <p:spPr>
          <a:xfrm>
            <a:off x="8138159" y="2035542"/>
            <a:ext cx="3383280" cy="2055395"/>
          </a:xfrm>
          <a:prstGeom prst="rect">
            <a:avLst/>
          </a:prstGeom>
        </p:spPr>
      </p:pic>
      <p:sp>
        <p:nvSpPr>
          <p:cNvPr id="12" name="TextBox 11"/>
          <p:cNvSpPr txBox="1"/>
          <p:nvPr/>
        </p:nvSpPr>
        <p:spPr>
          <a:xfrm>
            <a:off x="8183879" y="4526280"/>
            <a:ext cx="3291840" cy="777240"/>
          </a:xfrm>
          <a:prstGeom prst="rect">
            <a:avLst/>
          </a:prstGeom>
          <a:noFill/>
        </p:spPr>
        <p:txBody>
          <a:bodyPr wrap="square" anchor="t" lIns="45720" rIns="45720" tIns="27432" bIns="27432">
            <a:spAutoFit/>
          </a:bodyPr>
          <a:lstStyle/>
          <a:p>
            <a:pPr algn="l">
              <a:spcAft>
                <a:spcPts val="400"/>
              </a:spcAft>
            </a:pPr>
            <a:r>
              <a:rPr sz="1400" b="0" i="0">
                <a:solidFill>
                  <a:srgbClr val="1B2A22"/>
                </a:solidFill>
                <a:latin typeface="Calibri"/>
              </a:rPr>
              <a:t>Structure: 12.5 m bays fail, the 5 m rope grid passes (screening)</a:t>
            </a:r>
          </a:p>
        </p:txBody>
      </p:sp>
      <p:sp>
        <p:nvSpPr>
          <p:cNvPr id="13" name="TextBox 12"/>
          <p:cNvSpPr txBox="1"/>
          <p:nvPr/>
        </p:nvSpPr>
        <p:spPr>
          <a:xfrm>
            <a:off x="548640" y="5577840"/>
            <a:ext cx="11064240" cy="822960"/>
          </a:xfrm>
          <a:prstGeom prst="rect">
            <a:avLst/>
          </a:prstGeom>
          <a:noFill/>
        </p:spPr>
        <p:txBody>
          <a:bodyPr wrap="square" anchor="t" lIns="45720" rIns="45720" tIns="27432" bIns="27432">
            <a:spAutoFit/>
          </a:bodyPr>
          <a:lstStyle/>
          <a:p>
            <a:pPr algn="l">
              <a:spcAft>
                <a:spcPts val="400"/>
              </a:spcAft>
            </a:pPr>
            <a:r>
              <a:rPr sz="1500" b="0" i="0">
                <a:solidFill>
                  <a:srgbClr val="5B6B62"/>
                </a:solidFill>
                <a:latin typeface="Calibri"/>
              </a:rPr>
              <a:t>JavaScript twin vs MATLAB engine: identical results (0.0000 % on 22 quantities). This checks the code, not the physics.</a:t>
            </a:r>
          </a:p>
          <a:p>
            <a:pPr algn="l">
              <a:spcAft>
                <a:spcPts val="400"/>
              </a:spcAft>
            </a:pPr>
            <a:r>
              <a:rPr sz="1500" b="0" i="0">
                <a:solidFill>
                  <a:srgbClr val="5B6B62"/>
                </a:solidFill>
                <a:latin typeface="Calibri"/>
              </a:rPr>
              <a:t>Not done: comparison with measured field data (no pyranometer or field plot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2700" b="1" i="0">
                <a:solidFill>
                  <a:srgbClr val="14342B"/>
                </a:solidFill>
                <a:latin typeface="Cambria"/>
              </a:rPr>
              <a:t>Bench evidence from the prototype (added on the day)</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Photos and readings taken at the college; the table is filled with measured values</a:t>
            </a:r>
          </a:p>
        </p:txBody>
      </p:sp>
      <p:sp>
        <p:nvSpPr>
          <p:cNvPr id="4" name="Rounded Rectangle 3"/>
          <p:cNvSpPr/>
          <p:nvPr/>
        </p:nvSpPr>
        <p:spPr>
          <a:xfrm>
            <a:off x="548640" y="1600200"/>
            <a:ext cx="3566160" cy="2377440"/>
          </a:xfrm>
          <a:prstGeom prst="roundRect">
            <a:avLst>
              <a:gd name="adj" fmla="val 8000"/>
            </a:avLst>
          </a:prstGeom>
          <a:solidFill>
            <a:srgbClr val="FFFFFF"/>
          </a:solidFill>
          <a:ln w="12700">
            <a:solidFill>
              <a:srgbClr val="5B6B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3200400" cy="1097280"/>
          </a:xfrm>
          <a:prstGeom prst="rect">
            <a:avLst/>
          </a:prstGeom>
          <a:noFill/>
        </p:spPr>
        <p:txBody>
          <a:bodyPr wrap="square" anchor="ctr" lIns="45720" rIns="45720" tIns="27432" bIns="27432">
            <a:spAutoFit/>
          </a:bodyPr>
          <a:lstStyle/>
          <a:p>
            <a:pPr algn="ctr">
              <a:spcAft>
                <a:spcPts val="400"/>
              </a:spcAft>
            </a:pPr>
            <a:r>
              <a:rPr sz="1500" b="0" i="0">
                <a:solidFill>
                  <a:srgbClr val="5B6B62"/>
                </a:solidFill>
                <a:latin typeface="Calibri"/>
              </a:rPr>
              <a:t>Photo: ESP8266 wired to DHT11, soil and rain sensors</a:t>
            </a:r>
          </a:p>
        </p:txBody>
      </p:sp>
      <p:sp>
        <p:nvSpPr>
          <p:cNvPr id="6" name="Rounded Rectangle 5"/>
          <p:cNvSpPr/>
          <p:nvPr/>
        </p:nvSpPr>
        <p:spPr>
          <a:xfrm>
            <a:off x="4297679" y="1600200"/>
            <a:ext cx="3566160" cy="2377440"/>
          </a:xfrm>
          <a:prstGeom prst="roundRect">
            <a:avLst>
              <a:gd name="adj" fmla="val 8000"/>
            </a:avLst>
          </a:prstGeom>
          <a:solidFill>
            <a:srgbClr val="FFFFFF"/>
          </a:solidFill>
          <a:ln w="12700">
            <a:solidFill>
              <a:srgbClr val="5B6B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59" y="2286000"/>
            <a:ext cx="3200400" cy="1097280"/>
          </a:xfrm>
          <a:prstGeom prst="rect">
            <a:avLst/>
          </a:prstGeom>
          <a:noFill/>
        </p:spPr>
        <p:txBody>
          <a:bodyPr wrap="square" anchor="ctr" lIns="45720" rIns="45720" tIns="27432" bIns="27432">
            <a:spAutoFit/>
          </a:bodyPr>
          <a:lstStyle/>
          <a:p>
            <a:pPr algn="ctr">
              <a:spcAft>
                <a:spcPts val="400"/>
              </a:spcAft>
            </a:pPr>
            <a:r>
              <a:rPr sz="1500" b="0" i="0">
                <a:solidFill>
                  <a:srgbClr val="5B6B62"/>
                </a:solidFill>
                <a:latin typeface="Calibri"/>
              </a:rPr>
              <a:t>Screenshot: Serial Monitor showing SRMC lines</a:t>
            </a:r>
          </a:p>
        </p:txBody>
      </p:sp>
      <p:sp>
        <p:nvSpPr>
          <p:cNvPr id="8" name="Rounded Rectangle 7"/>
          <p:cNvSpPr/>
          <p:nvPr/>
        </p:nvSpPr>
        <p:spPr>
          <a:xfrm>
            <a:off x="8046719" y="1600200"/>
            <a:ext cx="3566160" cy="2377440"/>
          </a:xfrm>
          <a:prstGeom prst="roundRect">
            <a:avLst>
              <a:gd name="adj" fmla="val 8000"/>
            </a:avLst>
          </a:prstGeom>
          <a:solidFill>
            <a:srgbClr val="FFFFFF"/>
          </a:solidFill>
          <a:ln w="12700">
            <a:solidFill>
              <a:srgbClr val="5B6B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9" y="2286000"/>
            <a:ext cx="3200400" cy="1097280"/>
          </a:xfrm>
          <a:prstGeom prst="rect">
            <a:avLst/>
          </a:prstGeom>
          <a:noFill/>
        </p:spPr>
        <p:txBody>
          <a:bodyPr wrap="square" anchor="ctr" lIns="45720" rIns="45720" tIns="27432" bIns="27432">
            <a:spAutoFit/>
          </a:bodyPr>
          <a:lstStyle/>
          <a:p>
            <a:pPr algn="ctr">
              <a:spcAft>
                <a:spcPts val="400"/>
              </a:spcAft>
            </a:pPr>
            <a:r>
              <a:rPr sz="1500" b="0" i="0">
                <a:solidFill>
                  <a:srgbClr val="5B6B62"/>
                </a:solidFill>
                <a:latin typeface="Calibri"/>
              </a:rPr>
              <a:t>Screenshot: MATLAB dashboard with the real board (Source = Serial)</a:t>
            </a:r>
          </a:p>
        </p:txBody>
      </p:sp>
      <p:graphicFrame>
        <p:nvGraphicFramePr>
          <p:cNvPr id="10" name="Table 9"/>
          <p:cNvGraphicFramePr>
            <a:graphicFrameLocks noGrp="1"/>
          </p:cNvGraphicFramePr>
          <p:nvPr/>
        </p:nvGraphicFramePr>
        <p:xfrm>
          <a:off x="548640" y="4160520"/>
          <a:ext cx="11064240" cy="2304288"/>
        </p:xfrm>
        <a:graphic>
          <a:graphicData uri="http://schemas.openxmlformats.org/drawingml/2006/table">
            <a:tbl>
              <a:tblPr firstRow="1" bandRow="1">
                <a:tableStyleId>{5C22544A-7EE6-4342-B048-85BDC9FD1C3A}</a:tableStyleId>
              </a:tblPr>
              <a:tblGrid>
                <a:gridCol w="2743200"/>
                <a:gridCol w="2743200"/>
                <a:gridCol w="3017520"/>
                <a:gridCol w="2560320"/>
              </a:tblGrid>
              <a:tr h="329184">
                <a:tc>
                  <a:txBody>
                    <a:bodyPr wrap="square"/>
                    <a:lstStyle/>
                    <a:p>
                      <a:r>
                        <a:rPr sz="1300" b="1">
                          <a:solidFill>
                            <a:srgbClr val="FFFFFF"/>
                          </a:solidFill>
                          <a:latin typeface="Calibri"/>
                        </a:rPr>
                        <a:t>Bench test</a:t>
                      </a:r>
                    </a:p>
                  </a:txBody>
                  <a:tcPr marL="54864" marR="54864" marT="18288" marB="18288" anchor="ctr">
                    <a:solidFill>
                      <a:srgbClr val="14342B"/>
                    </a:solidFill>
                  </a:tcPr>
                </a:tc>
                <a:tc>
                  <a:txBody>
                    <a:bodyPr wrap="square"/>
                    <a:lstStyle/>
                    <a:p>
                      <a:r>
                        <a:rPr sz="1300" b="1">
                          <a:solidFill>
                            <a:srgbClr val="FFFFFF"/>
                          </a:solidFill>
                          <a:latin typeface="Calibri"/>
                        </a:rPr>
                        <a:t>Reference</a:t>
                      </a:r>
                    </a:p>
                  </a:txBody>
                  <a:tcPr marL="54864" marR="54864" marT="18288" marB="18288" anchor="ctr">
                    <a:solidFill>
                      <a:srgbClr val="14342B"/>
                    </a:solidFill>
                  </a:tcPr>
                </a:tc>
                <a:tc>
                  <a:txBody>
                    <a:bodyPr wrap="square"/>
                    <a:lstStyle/>
                    <a:p>
                      <a:r>
                        <a:rPr sz="1300" b="1">
                          <a:solidFill>
                            <a:srgbClr val="FFFFFF"/>
                          </a:solidFill>
                          <a:latin typeface="Calibri"/>
                        </a:rPr>
                        <a:t>Measured</a:t>
                      </a:r>
                    </a:p>
                  </a:txBody>
                  <a:tcPr marL="54864" marR="54864" marT="18288" marB="18288" anchor="ctr">
                    <a:solidFill>
                      <a:srgbClr val="14342B"/>
                    </a:solidFill>
                  </a:tcPr>
                </a:tc>
                <a:tc>
                  <a:txBody>
                    <a:bodyPr wrap="square"/>
                    <a:lstStyle/>
                    <a:p>
                      <a:r>
                        <a:rPr sz="1300" b="1">
                          <a:solidFill>
                            <a:srgbClr val="FFFFFF"/>
                          </a:solidFill>
                          <a:latin typeface="Calibri"/>
                        </a:rPr>
                        <a:t>Pass criterion</a:t>
                      </a:r>
                    </a:p>
                  </a:txBody>
                  <a:tcPr marL="54864" marR="54864" marT="18288" marB="18288" anchor="ctr">
                    <a:solidFill>
                      <a:srgbClr val="14342B"/>
                    </a:solidFill>
                  </a:tcPr>
                </a:tc>
              </a:tr>
              <a:tr h="329184">
                <a:tc>
                  <a:txBody>
                    <a:bodyPr wrap="square"/>
                    <a:lstStyle/>
                    <a:p>
                      <a:r>
                        <a:rPr sz="1300" b="0">
                          <a:solidFill>
                            <a:srgbClr val="1B2A22"/>
                          </a:solidFill>
                          <a:latin typeface="Calibri"/>
                        </a:rPr>
                        <a:t>DHT11 temperature</a:t>
                      </a:r>
                    </a:p>
                  </a:txBody>
                  <a:tcPr marL="54864" marR="54864" marT="18288" marB="18288" anchor="ctr">
                    <a:solidFill>
                      <a:srgbClr val="FFFFFF"/>
                    </a:solidFill>
                  </a:tcPr>
                </a:tc>
                <a:tc>
                  <a:txBody>
                    <a:bodyPr wrap="square"/>
                    <a:lstStyle/>
                    <a:p>
                      <a:r>
                        <a:rPr sz="1300" b="0">
                          <a:solidFill>
                            <a:srgbClr val="1B2A22"/>
                          </a:solidFill>
                          <a:latin typeface="Calibri"/>
                        </a:rPr>
                        <a:t>room thermometer / phone</a:t>
                      </a:r>
                    </a:p>
                  </a:txBody>
                  <a:tcPr marL="54864" marR="54864" marT="18288" marB="18288" anchor="ctr">
                    <a:solidFill>
                      <a:srgbClr val="FFFFFF"/>
                    </a:solidFill>
                  </a:tcPr>
                </a:tc>
                <a:tc>
                  <a:txBody>
                    <a:bodyPr wrap="square"/>
                    <a:lstStyle/>
                    <a:p>
                      <a:r>
                        <a:rPr sz="1300" b="0">
                          <a:solidFill>
                            <a:srgbClr val="1B2A22"/>
                          </a:solidFill>
                          <a:latin typeface="Calibri"/>
                        </a:rPr>
                        <a:t>_____ C vs _____ C</a:t>
                      </a:r>
                    </a:p>
                  </a:txBody>
                  <a:tcPr marL="54864" marR="54864" marT="18288" marB="18288" anchor="ctr">
                    <a:solidFill>
                      <a:srgbClr val="FFFFFF"/>
                    </a:solidFill>
                  </a:tcPr>
                </a:tc>
                <a:tc>
                  <a:txBody>
                    <a:bodyPr wrap="square"/>
                    <a:lstStyle/>
                    <a:p>
                      <a:r>
                        <a:rPr sz="1300" b="0">
                          <a:solidFill>
                            <a:srgbClr val="1B2A22"/>
                          </a:solidFill>
                          <a:latin typeface="Calibri"/>
                        </a:rPr>
                        <a:t>within 2 C (datasheet)</a:t>
                      </a:r>
                    </a:p>
                  </a:txBody>
                  <a:tcPr marL="54864" marR="54864" marT="18288" marB="18288" anchor="ctr">
                    <a:solidFill>
                      <a:srgbClr val="FFFFFF"/>
                    </a:solidFill>
                  </a:tcPr>
                </a:tc>
              </a:tr>
              <a:tr h="329184">
                <a:tc>
                  <a:txBody>
                    <a:bodyPr wrap="square"/>
                    <a:lstStyle/>
                    <a:p>
                      <a:r>
                        <a:rPr sz="1300" b="0">
                          <a:solidFill>
                            <a:srgbClr val="1B2A22"/>
                          </a:solidFill>
                          <a:latin typeface="Calibri"/>
                        </a:rPr>
                        <a:t>DHT11 humidity</a:t>
                      </a:r>
                    </a:p>
                  </a:txBody>
                  <a:tcPr marL="54864" marR="54864" marT="18288" marB="18288" anchor="ctr">
                    <a:solidFill>
                      <a:srgbClr val="E6EEE0"/>
                    </a:solidFill>
                  </a:tcPr>
                </a:tc>
                <a:tc>
                  <a:txBody>
                    <a:bodyPr wrap="square"/>
                    <a:lstStyle/>
                    <a:p>
                      <a:r>
                        <a:rPr sz="1300" b="0">
                          <a:solidFill>
                            <a:srgbClr val="1B2A22"/>
                          </a:solidFill>
                          <a:latin typeface="Calibri"/>
                        </a:rPr>
                        <a:t>reference hygrometer</a:t>
                      </a:r>
                    </a:p>
                  </a:txBody>
                  <a:tcPr marL="54864" marR="54864" marT="18288" marB="18288" anchor="ctr">
                    <a:solidFill>
                      <a:srgbClr val="E6EEE0"/>
                    </a:solidFill>
                  </a:tcPr>
                </a:tc>
                <a:tc>
                  <a:txBody>
                    <a:bodyPr wrap="square"/>
                    <a:lstStyle/>
                    <a:p>
                      <a:r>
                        <a:rPr sz="1300" b="0">
                          <a:solidFill>
                            <a:srgbClr val="1B2A22"/>
                          </a:solidFill>
                          <a:latin typeface="Calibri"/>
                        </a:rPr>
                        <a:t>_____ % vs _____ %</a:t>
                      </a:r>
                    </a:p>
                  </a:txBody>
                  <a:tcPr marL="54864" marR="54864" marT="18288" marB="18288" anchor="ctr">
                    <a:solidFill>
                      <a:srgbClr val="E6EEE0"/>
                    </a:solidFill>
                  </a:tcPr>
                </a:tc>
                <a:tc>
                  <a:txBody>
                    <a:bodyPr wrap="square"/>
                    <a:lstStyle/>
                    <a:p>
                      <a:r>
                        <a:rPr sz="1300" b="0">
                          <a:solidFill>
                            <a:srgbClr val="1B2A22"/>
                          </a:solidFill>
                          <a:latin typeface="Calibri"/>
                        </a:rPr>
                        <a:t>within 5 % RH (datasheet)</a:t>
                      </a:r>
                    </a:p>
                  </a:txBody>
                  <a:tcPr marL="54864" marR="54864" marT="18288" marB="18288" anchor="ctr">
                    <a:solidFill>
                      <a:srgbClr val="E6EEE0"/>
                    </a:solidFill>
                  </a:tcPr>
                </a:tc>
              </a:tr>
              <a:tr h="329184">
                <a:tc>
                  <a:txBody>
                    <a:bodyPr wrap="square"/>
                    <a:lstStyle/>
                    <a:p>
                      <a:r>
                        <a:rPr sz="1300" b="0">
                          <a:solidFill>
                            <a:srgbClr val="1B2A22"/>
                          </a:solidFill>
                          <a:latin typeface="Calibri"/>
                        </a:rPr>
                        <a:t>Soil: dry (air) / wet (water)</a:t>
                      </a:r>
                    </a:p>
                  </a:txBody>
                  <a:tcPr marL="54864" marR="54864" marT="18288" marB="18288" anchor="ctr">
                    <a:solidFill>
                      <a:srgbClr val="FFFFFF"/>
                    </a:solidFill>
                  </a:tcPr>
                </a:tc>
                <a:tc>
                  <a:txBody>
                    <a:bodyPr wrap="square"/>
                    <a:lstStyle/>
                    <a:p>
                      <a:r>
                        <a:rPr sz="1300" b="0">
                          <a:solidFill>
                            <a:srgbClr val="1B2A22"/>
                          </a:solidFill>
                          <a:latin typeface="Calibri"/>
                        </a:rPr>
                        <a:t>raw readings</a:t>
                      </a:r>
                    </a:p>
                  </a:txBody>
                  <a:tcPr marL="54864" marR="54864" marT="18288" marB="18288" anchor="ctr">
                    <a:solidFill>
                      <a:srgbClr val="FFFFFF"/>
                    </a:solidFill>
                  </a:tcPr>
                </a:tc>
                <a:tc>
                  <a:txBody>
                    <a:bodyPr wrap="square"/>
                    <a:lstStyle/>
                    <a:p>
                      <a:r>
                        <a:rPr sz="1300" b="0">
                          <a:solidFill>
                            <a:srgbClr val="1B2A22"/>
                          </a:solidFill>
                          <a:latin typeface="Calibri"/>
                        </a:rPr>
                        <a:t>dry _____  wet _____</a:t>
                      </a:r>
                    </a:p>
                  </a:txBody>
                  <a:tcPr marL="54864" marR="54864" marT="18288" marB="18288" anchor="ctr">
                    <a:solidFill>
                      <a:srgbClr val="FFFFFF"/>
                    </a:solidFill>
                  </a:tcPr>
                </a:tc>
                <a:tc>
                  <a:txBody>
                    <a:bodyPr wrap="square"/>
                    <a:lstStyle/>
                    <a:p>
                      <a:r>
                        <a:rPr sz="1300" b="0">
                          <a:solidFill>
                            <a:srgbClr val="1B2A22"/>
                          </a:solidFill>
                          <a:latin typeface="Calibri"/>
                        </a:rPr>
                        <a:t>wet raw clearly below dry raw</a:t>
                      </a:r>
                    </a:p>
                  </a:txBody>
                  <a:tcPr marL="54864" marR="54864" marT="18288" marB="18288" anchor="ctr">
                    <a:solidFill>
                      <a:srgbClr val="FFFFFF"/>
                    </a:solidFill>
                  </a:tcPr>
                </a:tc>
              </a:tr>
              <a:tr h="329184">
                <a:tc>
                  <a:txBody>
                    <a:bodyPr wrap="square"/>
                    <a:lstStyle/>
                    <a:p>
                      <a:r>
                        <a:rPr sz="1300" b="0">
                          <a:solidFill>
                            <a:srgbClr val="1B2A22"/>
                          </a:solidFill>
                          <a:latin typeface="Calibri"/>
                        </a:rPr>
                        <a:t>Rain detection</a:t>
                      </a:r>
                    </a:p>
                  </a:txBody>
                  <a:tcPr marL="54864" marR="54864" marT="18288" marB="18288" anchor="ctr">
                    <a:solidFill>
                      <a:srgbClr val="E6EEE0"/>
                    </a:solidFill>
                  </a:tcPr>
                </a:tc>
                <a:tc>
                  <a:txBody>
                    <a:bodyPr wrap="square"/>
                    <a:lstStyle/>
                    <a:p>
                      <a:r>
                        <a:rPr sz="1300" b="0">
                          <a:solidFill>
                            <a:srgbClr val="1B2A22"/>
                          </a:solidFill>
                          <a:latin typeface="Calibri"/>
                        </a:rPr>
                        <a:t>drop on the plate</a:t>
                      </a:r>
                    </a:p>
                  </a:txBody>
                  <a:tcPr marL="54864" marR="54864" marT="18288" marB="18288" anchor="ctr">
                    <a:solidFill>
                      <a:srgbClr val="E6EEE0"/>
                    </a:solidFill>
                  </a:tcPr>
                </a:tc>
                <a:tc>
                  <a:txBody>
                    <a:bodyPr wrap="square"/>
                    <a:lstStyle/>
                    <a:p>
                      <a:r>
                        <a:rPr sz="1300" b="0">
                          <a:solidFill>
                            <a:srgbClr val="1B2A22"/>
                          </a:solidFill>
                          <a:latin typeface="Calibri"/>
                        </a:rPr>
                        <a:t>detected in _____ s</a:t>
                      </a:r>
                    </a:p>
                  </a:txBody>
                  <a:tcPr marL="54864" marR="54864" marT="18288" marB="18288" anchor="ctr">
                    <a:solidFill>
                      <a:srgbClr val="E6EEE0"/>
                    </a:solidFill>
                  </a:tcPr>
                </a:tc>
                <a:tc>
                  <a:txBody>
                    <a:bodyPr wrap="square"/>
                    <a:lstStyle/>
                    <a:p>
                      <a:r>
                        <a:rPr sz="1300" b="0">
                          <a:solidFill>
                            <a:srgbClr val="1B2A22"/>
                          </a:solidFill>
                          <a:latin typeface="Calibri"/>
                        </a:rPr>
                        <a:t>rain = 1 within 2 s</a:t>
                      </a:r>
                    </a:p>
                  </a:txBody>
                  <a:tcPr marL="54864" marR="54864" marT="18288" marB="18288" anchor="ctr">
                    <a:solidFill>
                      <a:srgbClr val="E6EEE0"/>
                    </a:solidFill>
                  </a:tcPr>
                </a:tc>
              </a:tr>
              <a:tr h="329184">
                <a:tc>
                  <a:txBody>
                    <a:bodyPr wrap="square"/>
                    <a:lstStyle/>
                    <a:p>
                      <a:r>
                        <a:rPr sz="1300" b="0">
                          <a:solidFill>
                            <a:srgbClr val="1B2A22"/>
                          </a:solidFill>
                          <a:latin typeface="Calibri"/>
                        </a:rPr>
                        <a:t>Rain dry again</a:t>
                      </a:r>
                    </a:p>
                  </a:txBody>
                  <a:tcPr marL="54864" marR="54864" marT="18288" marB="18288" anchor="ctr">
                    <a:solidFill>
                      <a:srgbClr val="FFFFFF"/>
                    </a:solidFill>
                  </a:tcPr>
                </a:tc>
                <a:tc>
                  <a:txBody>
                    <a:bodyPr wrap="square"/>
                    <a:lstStyle/>
                    <a:p>
                      <a:r>
                        <a:rPr sz="1300" b="0">
                          <a:solidFill>
                            <a:srgbClr val="1B2A22"/>
                          </a:solidFill>
                          <a:latin typeface="Calibri"/>
                        </a:rPr>
                        <a:t>wipe the plate</a:t>
                      </a:r>
                    </a:p>
                  </a:txBody>
                  <a:tcPr marL="54864" marR="54864" marT="18288" marB="18288" anchor="ctr">
                    <a:solidFill>
                      <a:srgbClr val="FFFFFF"/>
                    </a:solidFill>
                  </a:tcPr>
                </a:tc>
                <a:tc>
                  <a:txBody>
                    <a:bodyPr wrap="square"/>
                    <a:lstStyle/>
                    <a:p>
                      <a:r>
                        <a:rPr sz="1300" b="0">
                          <a:solidFill>
                            <a:srgbClr val="1B2A22"/>
                          </a:solidFill>
                          <a:latin typeface="Calibri"/>
                        </a:rPr>
                        <a:t>cleared in _____ s</a:t>
                      </a:r>
                    </a:p>
                  </a:txBody>
                  <a:tcPr marL="54864" marR="54864" marT="18288" marB="18288" anchor="ctr">
                    <a:solidFill>
                      <a:srgbClr val="FFFFFF"/>
                    </a:solidFill>
                  </a:tcPr>
                </a:tc>
                <a:tc>
                  <a:txBody>
                    <a:bodyPr wrap="square"/>
                    <a:lstStyle/>
                    <a:p>
                      <a:r>
                        <a:rPr sz="1300" b="0">
                          <a:solidFill>
                            <a:srgbClr val="1B2A22"/>
                          </a:solidFill>
                          <a:latin typeface="Calibri"/>
                        </a:rPr>
                        <a:t>rain = 0 within 30 s</a:t>
                      </a:r>
                    </a:p>
                  </a:txBody>
                  <a:tcPr marL="54864" marR="54864" marT="18288" marB="18288" anchor="ctr">
                    <a:solidFill>
                      <a:srgbClr val="FFFFFF"/>
                    </a:solidFill>
                  </a:tcPr>
                </a:tc>
              </a:tr>
              <a:tr h="329184">
                <a:tc>
                  <a:txBody>
                    <a:bodyPr wrap="square"/>
                    <a:lstStyle/>
                    <a:p>
                      <a:r>
                        <a:rPr sz="1300" b="0">
                          <a:solidFill>
                            <a:srgbClr val="1B2A22"/>
                          </a:solidFill>
                          <a:latin typeface="Calibri"/>
                        </a:rPr>
                        <a:t>End to end</a:t>
                      </a:r>
                    </a:p>
                  </a:txBody>
                  <a:tcPr marL="54864" marR="54864" marT="18288" marB="18288" anchor="ctr">
                    <a:solidFill>
                      <a:srgbClr val="E6EEE0"/>
                    </a:solidFill>
                  </a:tcPr>
                </a:tc>
                <a:tc>
                  <a:txBody>
                    <a:bodyPr wrap="square"/>
                    <a:lstStyle/>
                    <a:p>
                      <a:r>
                        <a:rPr sz="1300" b="0">
                          <a:solidFill>
                            <a:srgbClr val="1B2A22"/>
                          </a:solidFill>
                          <a:latin typeface="Calibri"/>
                        </a:rPr>
                        <a:t>wet plate -&gt; MATLAB</a:t>
                      </a:r>
                    </a:p>
                  </a:txBody>
                  <a:tcPr marL="54864" marR="54864" marT="18288" marB="18288" anchor="ctr">
                    <a:solidFill>
                      <a:srgbClr val="E6EEE0"/>
                    </a:solidFill>
                  </a:tcPr>
                </a:tc>
                <a:tc>
                  <a:txBody>
                    <a:bodyPr wrap="square"/>
                    <a:lstStyle/>
                    <a:p>
                      <a:r>
                        <a:rPr sz="1300" b="0">
                          <a:solidFill>
                            <a:srgbClr val="1B2A22"/>
                          </a:solidFill>
                          <a:latin typeface="Calibri"/>
                        </a:rPr>
                        <a:t>3 degree mode in _____ s</a:t>
                      </a:r>
                    </a:p>
                  </a:txBody>
                  <a:tcPr marL="54864" marR="54864" marT="18288" marB="18288" anchor="ctr">
                    <a:solidFill>
                      <a:srgbClr val="E6EEE0"/>
                    </a:solidFill>
                  </a:tcPr>
                </a:tc>
                <a:tc>
                  <a:txBody>
                    <a:bodyPr wrap="square"/>
                    <a:lstStyle/>
                    <a:p>
                      <a:r>
                        <a:rPr sz="1300" b="0">
                          <a:solidFill>
                            <a:srgbClr val="1B2A22"/>
                          </a:solidFill>
                          <a:latin typeface="Calibri"/>
                        </a:rPr>
                        <a:t>under 5 s</a:t>
                      </a:r>
                    </a:p>
                  </a:txBody>
                  <a:tcPr marL="54864" marR="54864" marT="18288" marB="18288" anchor="ctr">
                    <a:solidFill>
                      <a:srgbClr val="E6EE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Feasibility and practical constraints</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What limits the prototype today and what the plan is</a:t>
            </a:r>
          </a:p>
        </p:txBody>
      </p:sp>
      <p:graphicFrame>
        <p:nvGraphicFramePr>
          <p:cNvPr id="4" name="Table 3"/>
          <p:cNvGraphicFramePr>
            <a:graphicFrameLocks noGrp="1"/>
          </p:cNvGraphicFramePr>
          <p:nvPr/>
        </p:nvGraphicFramePr>
        <p:xfrm>
          <a:off x="548640" y="1600200"/>
          <a:ext cx="11064240" cy="4535424"/>
        </p:xfrm>
        <a:graphic>
          <a:graphicData uri="http://schemas.openxmlformats.org/drawingml/2006/table">
            <a:tbl>
              <a:tblPr firstRow="1" bandRow="1">
                <a:tableStyleId>{5C22544A-7EE6-4342-B048-85BDC9FD1C3A}</a:tableStyleId>
              </a:tblPr>
              <a:tblGrid>
                <a:gridCol w="3383280"/>
                <a:gridCol w="3291840"/>
                <a:gridCol w="4389120"/>
              </a:tblGrid>
              <a:tr h="566928">
                <a:tc>
                  <a:txBody>
                    <a:bodyPr wrap="square"/>
                    <a:lstStyle/>
                    <a:p>
                      <a:r>
                        <a:rPr sz="1400" b="1">
                          <a:solidFill>
                            <a:srgbClr val="FFFFFF"/>
                          </a:solidFill>
                          <a:latin typeface="Calibri"/>
                        </a:rPr>
                        <a:t>Constraint</a:t>
                      </a:r>
                    </a:p>
                  </a:txBody>
                  <a:tcPr marL="54864" marR="54864" marT="18288" marB="18288" anchor="ctr">
                    <a:solidFill>
                      <a:srgbClr val="14342B"/>
                    </a:solidFill>
                  </a:tcPr>
                </a:tc>
                <a:tc>
                  <a:txBody>
                    <a:bodyPr wrap="square"/>
                    <a:lstStyle/>
                    <a:p>
                      <a:r>
                        <a:rPr sz="1400" b="1">
                          <a:solidFill>
                            <a:srgbClr val="FFFFFF"/>
                          </a:solidFill>
                          <a:latin typeface="Calibri"/>
                        </a:rPr>
                        <a:t>Effect</a:t>
                      </a:r>
                    </a:p>
                  </a:txBody>
                  <a:tcPr marL="54864" marR="54864" marT="18288" marB="18288" anchor="ctr">
                    <a:solidFill>
                      <a:srgbClr val="14342B"/>
                    </a:solidFill>
                  </a:tcPr>
                </a:tc>
                <a:tc>
                  <a:txBody>
                    <a:bodyPr wrap="square"/>
                    <a:lstStyle/>
                    <a:p>
                      <a:r>
                        <a:rPr sz="1400" b="1">
                          <a:solidFill>
                            <a:srgbClr val="FFFFFF"/>
                          </a:solidFill>
                          <a:latin typeface="Calibri"/>
                        </a:rPr>
                        <a:t>Plan</a:t>
                      </a:r>
                    </a:p>
                  </a:txBody>
                  <a:tcPr marL="54864" marR="54864" marT="18288" marB="18288" anchor="ctr">
                    <a:solidFill>
                      <a:srgbClr val="14342B"/>
                    </a:solidFill>
                  </a:tcPr>
                </a:tc>
              </a:tr>
              <a:tr h="566928">
                <a:tc>
                  <a:txBody>
                    <a:bodyPr wrap="square"/>
                    <a:lstStyle/>
                    <a:p>
                      <a:r>
                        <a:rPr sz="1400" b="0">
                          <a:solidFill>
                            <a:srgbClr val="1B2A22"/>
                          </a:solidFill>
                          <a:latin typeface="Calibri"/>
                        </a:rPr>
                        <a:t>DHT11 accuracy: +-2 C, +-5 % RH</a:t>
                      </a:r>
                    </a:p>
                  </a:txBody>
                  <a:tcPr marL="54864" marR="54864" marT="18288" marB="18288" anchor="ctr">
                    <a:solidFill>
                      <a:srgbClr val="FFFFFF"/>
                    </a:solidFill>
                  </a:tcPr>
                </a:tc>
                <a:tc>
                  <a:txBody>
                    <a:bodyPr wrap="square"/>
                    <a:lstStyle/>
                    <a:p>
                      <a:r>
                        <a:rPr sz="1400" b="0">
                          <a:solidFill>
                            <a:srgbClr val="1B2A22"/>
                          </a:solidFill>
                          <a:latin typeface="Calibri"/>
                        </a:rPr>
                        <a:t>VPD estimate is approximate</a:t>
                      </a:r>
                    </a:p>
                  </a:txBody>
                  <a:tcPr marL="54864" marR="54864" marT="18288" marB="18288" anchor="ctr">
                    <a:solidFill>
                      <a:srgbClr val="FFFFFF"/>
                    </a:solidFill>
                  </a:tcPr>
                </a:tc>
                <a:tc>
                  <a:txBody>
                    <a:bodyPr wrap="square"/>
                    <a:lstStyle/>
                    <a:p>
                      <a:r>
                        <a:rPr sz="1400" b="0">
                          <a:solidFill>
                            <a:srgbClr val="1B2A22"/>
                          </a:solidFill>
                          <a:latin typeface="Calibri"/>
                        </a:rPr>
                        <a:t>use as a trend and a stress flag; upgrade to SHT31 later</a:t>
                      </a:r>
                    </a:p>
                  </a:txBody>
                  <a:tcPr marL="54864" marR="54864" marT="18288" marB="18288" anchor="ctr">
                    <a:solidFill>
                      <a:srgbClr val="FFFFFF"/>
                    </a:solidFill>
                  </a:tcPr>
                </a:tc>
              </a:tr>
              <a:tr h="566928">
                <a:tc>
                  <a:txBody>
                    <a:bodyPr wrap="square"/>
                    <a:lstStyle/>
                    <a:p>
                      <a:r>
                        <a:rPr sz="1400" b="0">
                          <a:solidFill>
                            <a:srgbClr val="1B2A22"/>
                          </a:solidFill>
                          <a:latin typeface="Calibri"/>
                        </a:rPr>
                        <a:t>Resistive soil probe corrodes and drifts</a:t>
                      </a:r>
                    </a:p>
                  </a:txBody>
                  <a:tcPr marL="54864" marR="54864" marT="18288" marB="18288" anchor="ctr">
                    <a:solidFill>
                      <a:srgbClr val="E6EEE0"/>
                    </a:solidFill>
                  </a:tcPr>
                </a:tc>
                <a:tc>
                  <a:txBody>
                    <a:bodyPr wrap="square"/>
                    <a:lstStyle/>
                    <a:p>
                      <a:r>
                        <a:rPr sz="1400" b="0">
                          <a:solidFill>
                            <a:srgbClr val="1B2A22"/>
                          </a:solidFill>
                          <a:latin typeface="Calibri"/>
                        </a:rPr>
                        <a:t>moisture % drifts over weeks</a:t>
                      </a:r>
                    </a:p>
                  </a:txBody>
                  <a:tcPr marL="54864" marR="54864" marT="18288" marB="18288" anchor="ctr">
                    <a:solidFill>
                      <a:srgbClr val="E6EEE0"/>
                    </a:solidFill>
                  </a:tcPr>
                </a:tc>
                <a:tc>
                  <a:txBody>
                    <a:bodyPr wrap="square"/>
                    <a:lstStyle/>
                    <a:p>
                      <a:r>
                        <a:rPr sz="1400" b="0">
                          <a:solidFill>
                            <a:srgbClr val="1B2A22"/>
                          </a:solidFill>
                          <a:latin typeface="Calibri"/>
                        </a:rPr>
                        <a:t>capacitive probe; recalibrate (two-point) each session</a:t>
                      </a:r>
                    </a:p>
                  </a:txBody>
                  <a:tcPr marL="54864" marR="54864" marT="18288" marB="18288" anchor="ctr">
                    <a:solidFill>
                      <a:srgbClr val="E6EEE0"/>
                    </a:solidFill>
                  </a:tcPr>
                </a:tc>
              </a:tr>
              <a:tr h="566928">
                <a:tc>
                  <a:txBody>
                    <a:bodyPr wrap="square"/>
                    <a:lstStyle/>
                    <a:p>
                      <a:r>
                        <a:rPr sz="1400" b="0">
                          <a:solidFill>
                            <a:srgbClr val="1B2A22"/>
                          </a:solidFill>
                          <a:latin typeface="Calibri"/>
                        </a:rPr>
                        <a:t>ESP8266 has one analog input</a:t>
                      </a:r>
                    </a:p>
                  </a:txBody>
                  <a:tcPr marL="54864" marR="54864" marT="18288" marB="18288" anchor="ctr">
                    <a:solidFill>
                      <a:srgbClr val="FFFFFF"/>
                    </a:solidFill>
                  </a:tcPr>
                </a:tc>
                <a:tc>
                  <a:txBody>
                    <a:bodyPr wrap="square"/>
                    <a:lstStyle/>
                    <a:p>
                      <a:r>
                        <a:rPr sz="1400" b="0">
                          <a:solidFill>
                            <a:srgbClr val="1B2A22"/>
                          </a:solidFill>
                          <a:latin typeface="Calibri"/>
                        </a:rPr>
                        <a:t>soil uses A0, rain uses the digital pin</a:t>
                      </a:r>
                    </a:p>
                  </a:txBody>
                  <a:tcPr marL="54864" marR="54864" marT="18288" marB="18288" anchor="ctr">
                    <a:solidFill>
                      <a:srgbClr val="FFFFFF"/>
                    </a:solidFill>
                  </a:tcPr>
                </a:tc>
                <a:tc>
                  <a:txBody>
                    <a:bodyPr wrap="square"/>
                    <a:lstStyle/>
                    <a:p>
                      <a:r>
                        <a:rPr sz="1400" b="0">
                          <a:solidFill>
                            <a:srgbClr val="1B2A22"/>
                          </a:solidFill>
                          <a:latin typeface="Calibri"/>
                        </a:rPr>
                        <a:t>ESP32 backup (several ADC pins)</a:t>
                      </a:r>
                    </a:p>
                  </a:txBody>
                  <a:tcPr marL="54864" marR="54864" marT="18288" marB="18288" anchor="ctr">
                    <a:solidFill>
                      <a:srgbClr val="FFFFFF"/>
                    </a:solidFill>
                  </a:tcPr>
                </a:tc>
              </a:tr>
              <a:tr h="566928">
                <a:tc>
                  <a:txBody>
                    <a:bodyPr wrap="square"/>
                    <a:lstStyle/>
                    <a:p>
                      <a:r>
                        <a:rPr sz="1400" b="0">
                          <a:solidFill>
                            <a:srgbClr val="1B2A22"/>
                          </a:solidFill>
                          <a:latin typeface="Calibri"/>
                        </a:rPr>
                        <a:t>No real pyranometer / PAR sensor</a:t>
                      </a:r>
                    </a:p>
                  </a:txBody>
                  <a:tcPr marL="54864" marR="54864" marT="18288" marB="18288" anchor="ctr">
                    <a:solidFill>
                      <a:srgbClr val="E6EEE0"/>
                    </a:solidFill>
                  </a:tcPr>
                </a:tc>
                <a:tc>
                  <a:txBody>
                    <a:bodyPr wrap="square"/>
                    <a:lstStyle/>
                    <a:p>
                      <a:r>
                        <a:rPr sz="1400" b="0">
                          <a:solidFill>
                            <a:srgbClr val="1B2A22"/>
                          </a:solidFill>
                          <a:latin typeface="Calibri"/>
                        </a:rPr>
                        <a:t>light inputs are simulated</a:t>
                      </a:r>
                    </a:p>
                  </a:txBody>
                  <a:tcPr marL="54864" marR="54864" marT="18288" marB="18288" anchor="ctr">
                    <a:solidFill>
                      <a:srgbClr val="E6EEE0"/>
                    </a:solidFill>
                  </a:tcPr>
                </a:tc>
                <a:tc>
                  <a:txBody>
                    <a:bodyPr wrap="square"/>
                    <a:lstStyle/>
                    <a:p>
                      <a:r>
                        <a:rPr sz="1400" b="0">
                          <a:solidFill>
                            <a:srgbClr val="1B2A22"/>
                          </a:solidFill>
                          <a:latin typeface="Calibri"/>
                        </a:rPr>
                        <a:t>add a calibrated silicon pyranometer and a quantum PAR sensor; no code change</a:t>
                      </a:r>
                    </a:p>
                  </a:txBody>
                  <a:tcPr marL="54864" marR="54864" marT="18288" marB="18288" anchor="ctr">
                    <a:solidFill>
                      <a:srgbClr val="E6EEE0"/>
                    </a:solidFill>
                  </a:tcPr>
                </a:tc>
              </a:tr>
              <a:tr h="566928">
                <a:tc>
                  <a:txBody>
                    <a:bodyPr wrap="square"/>
                    <a:lstStyle/>
                    <a:p>
                      <a:r>
                        <a:rPr sz="1400" b="0">
                          <a:solidFill>
                            <a:srgbClr val="1B2A22"/>
                          </a:solidFill>
                          <a:latin typeface="Calibri"/>
                        </a:rPr>
                        <a:t>No actuator on the prototype</a:t>
                      </a:r>
                    </a:p>
                  </a:txBody>
                  <a:tcPr marL="54864" marR="54864" marT="18288" marB="18288" anchor="ctr">
                    <a:solidFill>
                      <a:srgbClr val="FFFFFF"/>
                    </a:solidFill>
                  </a:tcPr>
                </a:tc>
                <a:tc>
                  <a:txBody>
                    <a:bodyPr wrap="square"/>
                    <a:lstStyle/>
                    <a:p>
                      <a:r>
                        <a:rPr sz="1400" b="0">
                          <a:solidFill>
                            <a:srgbClr val="1B2A22"/>
                          </a:solidFill>
                          <a:latin typeface="Calibri"/>
                        </a:rPr>
                        <a:t>tilt shown on screen only</a:t>
                      </a:r>
                    </a:p>
                  </a:txBody>
                  <a:tcPr marL="54864" marR="54864" marT="18288" marB="18288" anchor="ctr">
                    <a:solidFill>
                      <a:srgbClr val="FFFFFF"/>
                    </a:solidFill>
                  </a:tcPr>
                </a:tc>
                <a:tc>
                  <a:txBody>
                    <a:bodyPr wrap="square"/>
                    <a:lstStyle/>
                    <a:p>
                      <a:r>
                        <a:rPr sz="1400" b="0">
                          <a:solidFill>
                            <a:srgbClr val="1B2A22"/>
                          </a:solidFill>
                          <a:latin typeface="Calibri"/>
                        </a:rPr>
                        <a:t>wire-drive winch with 0.5 degree encoder (full-scale design is in Reviews 1 and 4)</a:t>
                      </a:r>
                    </a:p>
                  </a:txBody>
                  <a:tcPr marL="54864" marR="54864" marT="18288" marB="18288" anchor="ctr">
                    <a:solidFill>
                      <a:srgbClr val="FFFFFF"/>
                    </a:solidFill>
                  </a:tcPr>
                </a:tc>
              </a:tr>
              <a:tr h="566928">
                <a:tc>
                  <a:txBody>
                    <a:bodyPr wrap="square"/>
                    <a:lstStyle/>
                    <a:p>
                      <a:r>
                        <a:rPr sz="1400" b="0">
                          <a:solidFill>
                            <a:srgbClr val="1B2A22"/>
                          </a:solidFill>
                          <a:latin typeface="Calibri"/>
                        </a:rPr>
                        <a:t>USB cable to a PC</a:t>
                      </a:r>
                    </a:p>
                  </a:txBody>
                  <a:tcPr marL="54864" marR="54864" marT="18288" marB="18288" anchor="ctr">
                    <a:solidFill>
                      <a:srgbClr val="E6EEE0"/>
                    </a:solidFill>
                  </a:tcPr>
                </a:tc>
                <a:tc>
                  <a:txBody>
                    <a:bodyPr wrap="square"/>
                    <a:lstStyle/>
                    <a:p>
                      <a:r>
                        <a:rPr sz="1400" b="0">
                          <a:solidFill>
                            <a:srgbClr val="1B2A22"/>
                          </a:solidFill>
                          <a:latin typeface="Calibri"/>
                        </a:rPr>
                        <a:t>not field deployable</a:t>
                      </a:r>
                    </a:p>
                  </a:txBody>
                  <a:tcPr marL="54864" marR="54864" marT="18288" marB="18288" anchor="ctr">
                    <a:solidFill>
                      <a:srgbClr val="E6EEE0"/>
                    </a:solidFill>
                  </a:tcPr>
                </a:tc>
                <a:tc>
                  <a:txBody>
                    <a:bodyPr wrap="square"/>
                    <a:lstStyle/>
                    <a:p>
                      <a:r>
                        <a:rPr sz="1400" b="0">
                          <a:solidFill>
                            <a:srgbClr val="1B2A22"/>
                          </a:solidFill>
                          <a:latin typeface="Calibri"/>
                        </a:rPr>
                        <a:t>WiFi/MQTT version of the same protocol</a:t>
                      </a:r>
                    </a:p>
                  </a:txBody>
                  <a:tcPr marL="54864" marR="54864" marT="18288" marB="18288" anchor="ctr">
                    <a:solidFill>
                      <a:srgbClr val="E6EEE0"/>
                    </a:solidFill>
                  </a:tcPr>
                </a:tc>
              </a:tr>
              <a:tr h="566928">
                <a:tc>
                  <a:txBody>
                    <a:bodyPr wrap="square"/>
                    <a:lstStyle/>
                    <a:p>
                      <a:r>
                        <a:rPr sz="1400" b="0">
                          <a:solidFill>
                            <a:srgbClr val="1B2A22"/>
                          </a:solidFill>
                          <a:latin typeface="Calibri"/>
                        </a:rPr>
                        <a:t>Screening-level models</a:t>
                      </a:r>
                    </a:p>
                  </a:txBody>
                  <a:tcPr marL="54864" marR="54864" marT="18288" marB="18288" anchor="ctr">
                    <a:solidFill>
                      <a:srgbClr val="FFFFFF"/>
                    </a:solidFill>
                  </a:tcPr>
                </a:tc>
                <a:tc>
                  <a:txBody>
                    <a:bodyPr wrap="square"/>
                    <a:lstStyle/>
                    <a:p>
                      <a:r>
                        <a:rPr sz="1400" b="0">
                          <a:solidFill>
                            <a:srgbClr val="1B2A22"/>
                          </a:solidFill>
                          <a:latin typeface="Calibri"/>
                        </a:rPr>
                        <a:t>results are estimates</a:t>
                      </a:r>
                    </a:p>
                  </a:txBody>
                  <a:tcPr marL="54864" marR="54864" marT="18288" marB="18288" anchor="ctr">
                    <a:solidFill>
                      <a:srgbClr val="FFFFFF"/>
                    </a:solidFill>
                  </a:tcPr>
                </a:tc>
                <a:tc>
                  <a:txBody>
                    <a:bodyPr wrap="square"/>
                    <a:lstStyle/>
                    <a:p>
                      <a:r>
                        <a:rPr sz="1400" b="0">
                          <a:solidFill>
                            <a:srgbClr val="1B2A22"/>
                          </a:solidFill>
                          <a:latin typeface="Calibri"/>
                        </a:rPr>
                        <a:t>validate against local weather data and a field plot</a:t>
                      </a:r>
                    </a:p>
                  </a:txBody>
                  <a:tcPr marL="54864" marR="54864"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SDG mapping and cost-effectiveness</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Impact of the idea (left) and the cost of the prototype kit (right)</a:t>
            </a:r>
          </a:p>
        </p:txBody>
      </p:sp>
      <p:graphicFrame>
        <p:nvGraphicFramePr>
          <p:cNvPr id="4" name="Table 3"/>
          <p:cNvGraphicFramePr>
            <a:graphicFrameLocks noGrp="1"/>
          </p:cNvGraphicFramePr>
          <p:nvPr/>
        </p:nvGraphicFramePr>
        <p:xfrm>
          <a:off x="548640" y="1600200"/>
          <a:ext cx="6309360" cy="3401568"/>
        </p:xfrm>
        <a:graphic>
          <a:graphicData uri="http://schemas.openxmlformats.org/drawingml/2006/table">
            <a:tbl>
              <a:tblPr firstRow="1" bandRow="1">
                <a:tableStyleId>{5C22544A-7EE6-4342-B048-85BDC9FD1C3A}</a:tableStyleId>
              </a:tblPr>
              <a:tblGrid>
                <a:gridCol w="1554480"/>
                <a:gridCol w="3200400"/>
                <a:gridCol w="1554480"/>
              </a:tblGrid>
              <a:tr h="566928">
                <a:tc>
                  <a:txBody>
                    <a:bodyPr wrap="square"/>
                    <a:lstStyle/>
                    <a:p>
                      <a:r>
                        <a:rPr sz="1300" b="1">
                          <a:solidFill>
                            <a:srgbClr val="FFFFFF"/>
                          </a:solidFill>
                          <a:latin typeface="Calibri"/>
                        </a:rPr>
                        <a:t>SDG</a:t>
                      </a:r>
                    </a:p>
                  </a:txBody>
                  <a:tcPr marL="54864" marR="54864" marT="18288" marB="18288" anchor="ctr">
                    <a:solidFill>
                      <a:srgbClr val="14342B"/>
                    </a:solidFill>
                  </a:tcPr>
                </a:tc>
                <a:tc>
                  <a:txBody>
                    <a:bodyPr wrap="square"/>
                    <a:lstStyle/>
                    <a:p>
                      <a:r>
                        <a:rPr sz="1300" b="1">
                          <a:solidFill>
                            <a:srgbClr val="FFFFFF"/>
                          </a:solidFill>
                          <a:latin typeface="Calibri"/>
                        </a:rPr>
                        <a:t>How the project contributes</a:t>
                      </a:r>
                    </a:p>
                  </a:txBody>
                  <a:tcPr marL="54864" marR="54864" marT="18288" marB="18288" anchor="ctr">
                    <a:solidFill>
                      <a:srgbClr val="14342B"/>
                    </a:solidFill>
                  </a:tcPr>
                </a:tc>
                <a:tc>
                  <a:txBody>
                    <a:bodyPr wrap="square"/>
                    <a:lstStyle/>
                    <a:p>
                      <a:r>
                        <a:rPr sz="1300" b="1">
                          <a:solidFill>
                            <a:srgbClr val="FFFFFF"/>
                          </a:solidFill>
                          <a:latin typeface="Calibri"/>
                        </a:rPr>
                        <a:t>Indicator</a:t>
                      </a:r>
                    </a:p>
                  </a:txBody>
                  <a:tcPr marL="54864" marR="54864" marT="18288" marB="18288" anchor="ctr">
                    <a:solidFill>
                      <a:srgbClr val="14342B"/>
                    </a:solidFill>
                  </a:tcPr>
                </a:tc>
              </a:tr>
              <a:tr h="566928">
                <a:tc>
                  <a:txBody>
                    <a:bodyPr wrap="square"/>
                    <a:lstStyle/>
                    <a:p>
                      <a:r>
                        <a:rPr sz="1300" b="0">
                          <a:solidFill>
                            <a:srgbClr val="1B2A22"/>
                          </a:solidFill>
                          <a:latin typeface="Calibri"/>
                        </a:rPr>
                        <a:t>7 Clean energy</a:t>
                      </a:r>
                    </a:p>
                  </a:txBody>
                  <a:tcPr marL="54864" marR="54864" marT="18288" marB="18288" anchor="ctr">
                    <a:solidFill>
                      <a:srgbClr val="FFFFFF"/>
                    </a:solidFill>
                  </a:tcPr>
                </a:tc>
                <a:tc>
                  <a:txBody>
                    <a:bodyPr wrap="square"/>
                    <a:lstStyle/>
                    <a:p>
                      <a:r>
                        <a:rPr sz="1300" b="0">
                          <a:solidFill>
                            <a:srgbClr val="1B2A22"/>
                          </a:solidFill>
                          <a:latin typeface="Calibri"/>
                        </a:rPr>
                        <a:t>solar power from farmland, sold to industry</a:t>
                      </a:r>
                    </a:p>
                  </a:txBody>
                  <a:tcPr marL="54864" marR="54864" marT="18288" marB="18288" anchor="ctr">
                    <a:solidFill>
                      <a:srgbClr val="FFFFFF"/>
                    </a:solidFill>
                  </a:tcPr>
                </a:tc>
                <a:tc>
                  <a:txBody>
                    <a:bodyPr wrap="square"/>
                    <a:lstStyle/>
                    <a:p>
                      <a:r>
                        <a:rPr sz="1300" b="0">
                          <a:solidFill>
                            <a:srgbClr val="1B2A22"/>
                          </a:solidFill>
                          <a:latin typeface="Calibri"/>
                        </a:rPr>
                        <a:t>kWh per hectare</a:t>
                      </a:r>
                    </a:p>
                  </a:txBody>
                  <a:tcPr marL="54864" marR="54864" marT="18288" marB="18288" anchor="ctr">
                    <a:solidFill>
                      <a:srgbClr val="FFFFFF"/>
                    </a:solidFill>
                  </a:tcPr>
                </a:tc>
              </a:tr>
              <a:tr h="566928">
                <a:tc>
                  <a:txBody>
                    <a:bodyPr wrap="square"/>
                    <a:lstStyle/>
                    <a:p>
                      <a:r>
                        <a:rPr sz="1300" b="0">
                          <a:solidFill>
                            <a:srgbClr val="1B2A22"/>
                          </a:solidFill>
                          <a:latin typeface="Calibri"/>
                        </a:rPr>
                        <a:t>2 Zero hunger</a:t>
                      </a:r>
                    </a:p>
                  </a:txBody>
                  <a:tcPr marL="54864" marR="54864" marT="18288" marB="18288" anchor="ctr">
                    <a:solidFill>
                      <a:srgbClr val="E6EEE0"/>
                    </a:solidFill>
                  </a:tcPr>
                </a:tc>
                <a:tc>
                  <a:txBody>
                    <a:bodyPr wrap="square"/>
                    <a:lstStyle/>
                    <a:p>
                      <a:r>
                        <a:rPr sz="1300" b="0">
                          <a:solidFill>
                            <a:srgbClr val="1B2A22"/>
                          </a:solidFill>
                          <a:latin typeface="Calibri"/>
                        </a:rPr>
                        <a:t>crops keep the light they need under the panels</a:t>
                      </a:r>
                    </a:p>
                  </a:txBody>
                  <a:tcPr marL="54864" marR="54864" marT="18288" marB="18288" anchor="ctr">
                    <a:solidFill>
                      <a:srgbClr val="E6EEE0"/>
                    </a:solidFill>
                  </a:tcPr>
                </a:tc>
                <a:tc>
                  <a:txBody>
                    <a:bodyPr wrap="square"/>
                    <a:lstStyle/>
                    <a:p>
                      <a:r>
                        <a:rPr sz="1300" b="0">
                          <a:solidFill>
                            <a:srgbClr val="1B2A22"/>
                          </a:solidFill>
                          <a:latin typeface="Calibri"/>
                        </a:rPr>
                        <a:t>crop-light score</a:t>
                      </a:r>
                    </a:p>
                  </a:txBody>
                  <a:tcPr marL="54864" marR="54864" marT="18288" marB="18288" anchor="ctr">
                    <a:solidFill>
                      <a:srgbClr val="E6EEE0"/>
                    </a:solidFill>
                  </a:tcPr>
                </a:tc>
              </a:tr>
              <a:tr h="566928">
                <a:tc>
                  <a:txBody>
                    <a:bodyPr wrap="square"/>
                    <a:lstStyle/>
                    <a:p>
                      <a:r>
                        <a:rPr sz="1300" b="0">
                          <a:solidFill>
                            <a:srgbClr val="1B2A22"/>
                          </a:solidFill>
                          <a:latin typeface="Calibri"/>
                        </a:rPr>
                        <a:t>6 Water</a:t>
                      </a:r>
                    </a:p>
                  </a:txBody>
                  <a:tcPr marL="54864" marR="54864" marT="18288" marB="18288" anchor="ctr">
                    <a:solidFill>
                      <a:srgbClr val="FFFFFF"/>
                    </a:solidFill>
                  </a:tcPr>
                </a:tc>
                <a:tc>
                  <a:txBody>
                    <a:bodyPr wrap="square"/>
                    <a:lstStyle/>
                    <a:p>
                      <a:r>
                        <a:rPr sz="1300" b="0">
                          <a:solidFill>
                            <a:srgbClr val="1B2A22"/>
                          </a:solidFill>
                          <a:latin typeface="Calibri"/>
                        </a:rPr>
                        <a:t>rain harvested from the panel roof, drip irrigation</a:t>
                      </a:r>
                    </a:p>
                  </a:txBody>
                  <a:tcPr marL="54864" marR="54864" marT="18288" marB="18288" anchor="ctr">
                    <a:solidFill>
                      <a:srgbClr val="FFFFFF"/>
                    </a:solidFill>
                  </a:tcPr>
                </a:tc>
                <a:tc>
                  <a:txBody>
                    <a:bodyPr wrap="square"/>
                    <a:lstStyle/>
                    <a:p>
                      <a:r>
                        <a:rPr sz="1300" b="0">
                          <a:solidFill>
                            <a:srgbClr val="1B2A22"/>
                          </a:solidFill>
                          <a:latin typeface="Calibri"/>
                        </a:rPr>
                        <a:t>m3 harvested; % rain-fed</a:t>
                      </a:r>
                    </a:p>
                  </a:txBody>
                  <a:tcPr marL="54864" marR="54864" marT="18288" marB="18288" anchor="ctr">
                    <a:solidFill>
                      <a:srgbClr val="FFFFFF"/>
                    </a:solidFill>
                  </a:tcPr>
                </a:tc>
              </a:tr>
              <a:tr h="566928">
                <a:tc>
                  <a:txBody>
                    <a:bodyPr wrap="square"/>
                    <a:lstStyle/>
                    <a:p>
                      <a:r>
                        <a:rPr sz="1300" b="0">
                          <a:solidFill>
                            <a:srgbClr val="1B2A22"/>
                          </a:solidFill>
                          <a:latin typeface="Calibri"/>
                        </a:rPr>
                        <a:t>13 Climate action</a:t>
                      </a:r>
                    </a:p>
                  </a:txBody>
                  <a:tcPr marL="54864" marR="54864" marT="18288" marB="18288" anchor="ctr">
                    <a:solidFill>
                      <a:srgbClr val="E6EEE0"/>
                    </a:solidFill>
                  </a:tcPr>
                </a:tc>
                <a:tc>
                  <a:txBody>
                    <a:bodyPr wrap="square"/>
                    <a:lstStyle/>
                    <a:p>
                      <a:r>
                        <a:rPr sz="1300" b="0">
                          <a:solidFill>
                            <a:srgbClr val="1B2A22"/>
                          </a:solidFill>
                          <a:latin typeface="Calibri"/>
                        </a:rPr>
                        <a:t>avoided grid emissions</a:t>
                      </a:r>
                    </a:p>
                  </a:txBody>
                  <a:tcPr marL="54864" marR="54864" marT="18288" marB="18288" anchor="ctr">
                    <a:solidFill>
                      <a:srgbClr val="E6EEE0"/>
                    </a:solidFill>
                  </a:tcPr>
                </a:tc>
                <a:tc>
                  <a:txBody>
                    <a:bodyPr wrap="square"/>
                    <a:lstStyle/>
                    <a:p>
                      <a:r>
                        <a:rPr sz="1300" b="0">
                          <a:solidFill>
                            <a:srgbClr val="1B2A22"/>
                          </a:solidFill>
                          <a:latin typeface="Calibri"/>
                        </a:rPr>
                        <a:t>kg CO2 per kWh</a:t>
                      </a:r>
                    </a:p>
                  </a:txBody>
                  <a:tcPr marL="54864" marR="54864" marT="18288" marB="18288" anchor="ctr">
                    <a:solidFill>
                      <a:srgbClr val="E6EEE0"/>
                    </a:solidFill>
                  </a:tcPr>
                </a:tc>
              </a:tr>
              <a:tr h="566928">
                <a:tc>
                  <a:txBody>
                    <a:bodyPr wrap="square"/>
                    <a:lstStyle/>
                    <a:p>
                      <a:r>
                        <a:rPr sz="1300" b="0">
                          <a:solidFill>
                            <a:srgbClr val="1B2A22"/>
                          </a:solidFill>
                          <a:latin typeface="Calibri"/>
                        </a:rPr>
                        <a:t>1 / 8 Livelihood</a:t>
                      </a:r>
                    </a:p>
                  </a:txBody>
                  <a:tcPr marL="54864" marR="54864" marT="18288" marB="18288" anchor="ctr">
                    <a:solidFill>
                      <a:srgbClr val="FFFFFF"/>
                    </a:solidFill>
                  </a:tcPr>
                </a:tc>
                <a:tc>
                  <a:txBody>
                    <a:bodyPr wrap="square"/>
                    <a:lstStyle/>
                    <a:p>
                      <a:r>
                        <a:rPr sz="1300" b="0">
                          <a:solidFill>
                            <a:srgbClr val="1B2A22"/>
                          </a:solidFill>
                          <a:latin typeface="Calibri"/>
                        </a:rPr>
                        <a:t>monthly income from the industry plus crops</a:t>
                      </a:r>
                    </a:p>
                  </a:txBody>
                  <a:tcPr marL="54864" marR="54864" marT="18288" marB="18288" anchor="ctr">
                    <a:solidFill>
                      <a:srgbClr val="FFFFFF"/>
                    </a:solidFill>
                  </a:tcPr>
                </a:tc>
                <a:tc>
                  <a:txBody>
                    <a:bodyPr wrap="square"/>
                    <a:lstStyle/>
                    <a:p>
                      <a:r>
                        <a:rPr sz="1300" b="0">
                          <a:solidFill>
                            <a:srgbClr val="1B2A22"/>
                          </a:solidFill>
                          <a:latin typeface="Calibri"/>
                        </a:rPr>
                        <a:t>INR per month</a:t>
                      </a:r>
                    </a:p>
                  </a:txBody>
                  <a:tcPr marL="54864" marR="54864" marT="18288" marB="18288" anchor="ctr">
                    <a:solidFill>
                      <a:srgbClr val="FFFFFF"/>
                    </a:solidFill>
                  </a:tcPr>
                </a:tc>
              </a:tr>
            </a:tbl>
          </a:graphicData>
        </a:graphic>
      </p:graphicFrame>
      <p:graphicFrame>
        <p:nvGraphicFramePr>
          <p:cNvPr id="5" name="Table 4"/>
          <p:cNvGraphicFramePr>
            <a:graphicFrameLocks noGrp="1"/>
          </p:cNvGraphicFramePr>
          <p:nvPr/>
        </p:nvGraphicFramePr>
        <p:xfrm>
          <a:off x="7132320" y="1600200"/>
          <a:ext cx="4480560" cy="3200400"/>
        </p:xfrm>
        <a:graphic>
          <a:graphicData uri="http://schemas.openxmlformats.org/drawingml/2006/table">
            <a:tbl>
              <a:tblPr firstRow="1" bandRow="1">
                <a:tableStyleId>{5C22544A-7EE6-4342-B048-85BDC9FD1C3A}</a:tableStyleId>
              </a:tblPr>
              <a:tblGrid>
                <a:gridCol w="2194560"/>
                <a:gridCol w="1280160"/>
                <a:gridCol w="1005840"/>
              </a:tblGrid>
              <a:tr h="457200">
                <a:tc>
                  <a:txBody>
                    <a:bodyPr wrap="square"/>
                    <a:lstStyle/>
                    <a:p>
                      <a:r>
                        <a:rPr sz="1300" b="1">
                          <a:solidFill>
                            <a:srgbClr val="FFFFFF"/>
                          </a:solidFill>
                          <a:latin typeface="Calibri"/>
                        </a:rPr>
                        <a:t>Prototype part</a:t>
                      </a:r>
                    </a:p>
                  </a:txBody>
                  <a:tcPr marL="54864" marR="54864" marT="18288" marB="18288" anchor="ctr">
                    <a:solidFill>
                      <a:srgbClr val="14342B"/>
                    </a:solidFill>
                  </a:tcPr>
                </a:tc>
                <a:tc>
                  <a:txBody>
                    <a:bodyPr wrap="square"/>
                    <a:lstStyle/>
                    <a:p>
                      <a:r>
                        <a:rPr sz="1300" b="1">
                          <a:solidFill>
                            <a:srgbClr val="FFFFFF"/>
                          </a:solidFill>
                          <a:latin typeface="Calibri"/>
                        </a:rPr>
                        <a:t>Indicative price</a:t>
                      </a:r>
                    </a:p>
                  </a:txBody>
                  <a:tcPr marL="54864" marR="54864" marT="18288" marB="18288" anchor="ctr">
                    <a:solidFill>
                      <a:srgbClr val="14342B"/>
                    </a:solidFill>
                  </a:tcPr>
                </a:tc>
                <a:tc>
                  <a:txBody>
                    <a:bodyPr wrap="square"/>
                    <a:lstStyle/>
                    <a:p>
                      <a:r>
                        <a:rPr sz="1300" b="1">
                          <a:solidFill>
                            <a:srgbClr val="FFFFFF"/>
                          </a:solidFill>
                          <a:latin typeface="Calibri"/>
                        </a:rPr>
                        <a:t>Your bill</a:t>
                      </a:r>
                    </a:p>
                  </a:txBody>
                  <a:tcPr marL="54864" marR="54864" marT="18288" marB="18288" anchor="ctr">
                    <a:solidFill>
                      <a:srgbClr val="14342B"/>
                    </a:solidFill>
                  </a:tcPr>
                </a:tc>
              </a:tr>
              <a:tr h="457200">
                <a:tc>
                  <a:txBody>
                    <a:bodyPr wrap="square"/>
                    <a:lstStyle/>
                    <a:p>
                      <a:r>
                        <a:rPr sz="1300" b="0">
                          <a:solidFill>
                            <a:srgbClr val="1B2A22"/>
                          </a:solidFill>
                          <a:latin typeface="Calibri"/>
                        </a:rPr>
                        <a:t>NodeMCU ESP8266</a:t>
                      </a:r>
                    </a:p>
                  </a:txBody>
                  <a:tcPr marL="54864" marR="54864" marT="18288" marB="18288" anchor="ctr">
                    <a:solidFill>
                      <a:srgbClr val="FFFFFF"/>
                    </a:solidFill>
                  </a:tcPr>
                </a:tc>
                <a:tc>
                  <a:txBody>
                    <a:bodyPr wrap="square"/>
                    <a:lstStyle/>
                    <a:p>
                      <a:r>
                        <a:rPr sz="1300" b="0">
                          <a:solidFill>
                            <a:srgbClr val="1B2A22"/>
                          </a:solidFill>
                          <a:latin typeface="Calibri"/>
                        </a:rPr>
                        <a:t>INR 250-400</a:t>
                      </a:r>
                    </a:p>
                  </a:txBody>
                  <a:tcPr marL="54864" marR="54864" marT="18288" marB="18288" anchor="ctr">
                    <a:solidFill>
                      <a:srgbClr val="FFFFFF"/>
                    </a:solidFill>
                  </a:tcPr>
                </a:tc>
                <a:tc>
                  <a:txBody>
                    <a:bodyPr wrap="square"/>
                    <a:lstStyle/>
                    <a:p>
                      <a:r>
                        <a:rPr sz="1300" b="0">
                          <a:solidFill>
                            <a:srgbClr val="1B2A22"/>
                          </a:solidFill>
                          <a:latin typeface="Calibri"/>
                        </a:rPr>
                        <a:t>INR ____</a:t>
                      </a:r>
                    </a:p>
                  </a:txBody>
                  <a:tcPr marL="54864" marR="54864" marT="18288" marB="18288" anchor="ctr">
                    <a:solidFill>
                      <a:srgbClr val="FFFFFF"/>
                    </a:solidFill>
                  </a:tcPr>
                </a:tc>
              </a:tr>
              <a:tr h="457200">
                <a:tc>
                  <a:txBody>
                    <a:bodyPr wrap="square"/>
                    <a:lstStyle/>
                    <a:p>
                      <a:r>
                        <a:rPr sz="1300" b="0">
                          <a:solidFill>
                            <a:srgbClr val="1B2A22"/>
                          </a:solidFill>
                          <a:latin typeface="Calibri"/>
                        </a:rPr>
                        <a:t>ESP32 (backup)</a:t>
                      </a:r>
                    </a:p>
                  </a:txBody>
                  <a:tcPr marL="54864" marR="54864" marT="18288" marB="18288" anchor="ctr">
                    <a:solidFill>
                      <a:srgbClr val="E6EEE0"/>
                    </a:solidFill>
                  </a:tcPr>
                </a:tc>
                <a:tc>
                  <a:txBody>
                    <a:bodyPr wrap="square"/>
                    <a:lstStyle/>
                    <a:p>
                      <a:r>
                        <a:rPr sz="1300" b="0">
                          <a:solidFill>
                            <a:srgbClr val="1B2A22"/>
                          </a:solidFill>
                          <a:latin typeface="Calibri"/>
                        </a:rPr>
                        <a:t>INR 400-700</a:t>
                      </a:r>
                    </a:p>
                  </a:txBody>
                  <a:tcPr marL="54864" marR="54864" marT="18288" marB="18288" anchor="ctr">
                    <a:solidFill>
                      <a:srgbClr val="E6EEE0"/>
                    </a:solidFill>
                  </a:tcPr>
                </a:tc>
                <a:tc>
                  <a:txBody>
                    <a:bodyPr wrap="square"/>
                    <a:lstStyle/>
                    <a:p>
                      <a:r>
                        <a:rPr sz="1300" b="0">
                          <a:solidFill>
                            <a:srgbClr val="1B2A22"/>
                          </a:solidFill>
                          <a:latin typeface="Calibri"/>
                        </a:rPr>
                        <a:t>INR ____</a:t>
                      </a:r>
                    </a:p>
                  </a:txBody>
                  <a:tcPr marL="54864" marR="54864" marT="18288" marB="18288" anchor="ctr">
                    <a:solidFill>
                      <a:srgbClr val="E6EEE0"/>
                    </a:solidFill>
                  </a:tcPr>
                </a:tc>
              </a:tr>
              <a:tr h="457200">
                <a:tc>
                  <a:txBody>
                    <a:bodyPr wrap="square"/>
                    <a:lstStyle/>
                    <a:p>
                      <a:r>
                        <a:rPr sz="1300" b="0">
                          <a:solidFill>
                            <a:srgbClr val="1B2A22"/>
                          </a:solidFill>
                          <a:latin typeface="Calibri"/>
                        </a:rPr>
                        <a:t>DHT11</a:t>
                      </a:r>
                    </a:p>
                  </a:txBody>
                  <a:tcPr marL="54864" marR="54864" marT="18288" marB="18288" anchor="ctr">
                    <a:solidFill>
                      <a:srgbClr val="FFFFFF"/>
                    </a:solidFill>
                  </a:tcPr>
                </a:tc>
                <a:tc>
                  <a:txBody>
                    <a:bodyPr wrap="square"/>
                    <a:lstStyle/>
                    <a:p>
                      <a:r>
                        <a:rPr sz="1300" b="0">
                          <a:solidFill>
                            <a:srgbClr val="1B2A22"/>
                          </a:solidFill>
                          <a:latin typeface="Calibri"/>
                        </a:rPr>
                        <a:t>INR 60-150</a:t>
                      </a:r>
                    </a:p>
                  </a:txBody>
                  <a:tcPr marL="54864" marR="54864" marT="18288" marB="18288" anchor="ctr">
                    <a:solidFill>
                      <a:srgbClr val="FFFFFF"/>
                    </a:solidFill>
                  </a:tcPr>
                </a:tc>
                <a:tc>
                  <a:txBody>
                    <a:bodyPr wrap="square"/>
                    <a:lstStyle/>
                    <a:p>
                      <a:r>
                        <a:rPr sz="1300" b="0">
                          <a:solidFill>
                            <a:srgbClr val="1B2A22"/>
                          </a:solidFill>
                          <a:latin typeface="Calibri"/>
                        </a:rPr>
                        <a:t>INR ____</a:t>
                      </a:r>
                    </a:p>
                  </a:txBody>
                  <a:tcPr marL="54864" marR="54864" marT="18288" marB="18288" anchor="ctr">
                    <a:solidFill>
                      <a:srgbClr val="FFFFFF"/>
                    </a:solidFill>
                  </a:tcPr>
                </a:tc>
              </a:tr>
              <a:tr h="457200">
                <a:tc>
                  <a:txBody>
                    <a:bodyPr wrap="square"/>
                    <a:lstStyle/>
                    <a:p>
                      <a:r>
                        <a:rPr sz="1300" b="0">
                          <a:solidFill>
                            <a:srgbClr val="1B2A22"/>
                          </a:solidFill>
                          <a:latin typeface="Calibri"/>
                        </a:rPr>
                        <a:t>Soil moisture module</a:t>
                      </a:r>
                    </a:p>
                  </a:txBody>
                  <a:tcPr marL="54864" marR="54864" marT="18288" marB="18288" anchor="ctr">
                    <a:solidFill>
                      <a:srgbClr val="E6EEE0"/>
                    </a:solidFill>
                  </a:tcPr>
                </a:tc>
                <a:tc>
                  <a:txBody>
                    <a:bodyPr wrap="square"/>
                    <a:lstStyle/>
                    <a:p>
                      <a:r>
                        <a:rPr sz="1300" b="0">
                          <a:solidFill>
                            <a:srgbClr val="1B2A22"/>
                          </a:solidFill>
                          <a:latin typeface="Calibri"/>
                        </a:rPr>
                        <a:t>INR 50-120</a:t>
                      </a:r>
                    </a:p>
                  </a:txBody>
                  <a:tcPr marL="54864" marR="54864" marT="18288" marB="18288" anchor="ctr">
                    <a:solidFill>
                      <a:srgbClr val="E6EEE0"/>
                    </a:solidFill>
                  </a:tcPr>
                </a:tc>
                <a:tc>
                  <a:txBody>
                    <a:bodyPr wrap="square"/>
                    <a:lstStyle/>
                    <a:p>
                      <a:r>
                        <a:rPr sz="1300" b="0">
                          <a:solidFill>
                            <a:srgbClr val="1B2A22"/>
                          </a:solidFill>
                          <a:latin typeface="Calibri"/>
                        </a:rPr>
                        <a:t>INR ____</a:t>
                      </a:r>
                    </a:p>
                  </a:txBody>
                  <a:tcPr marL="54864" marR="54864" marT="18288" marB="18288" anchor="ctr">
                    <a:solidFill>
                      <a:srgbClr val="E6EEE0"/>
                    </a:solidFill>
                  </a:tcPr>
                </a:tc>
              </a:tr>
              <a:tr h="457200">
                <a:tc>
                  <a:txBody>
                    <a:bodyPr wrap="square"/>
                    <a:lstStyle/>
                    <a:p>
                      <a:r>
                        <a:rPr sz="1300" b="0">
                          <a:solidFill>
                            <a:srgbClr val="1B2A22"/>
                          </a:solidFill>
                          <a:latin typeface="Calibri"/>
                        </a:rPr>
                        <a:t>Rain sensor module</a:t>
                      </a:r>
                    </a:p>
                  </a:txBody>
                  <a:tcPr marL="54864" marR="54864" marT="18288" marB="18288" anchor="ctr">
                    <a:solidFill>
                      <a:srgbClr val="FFFFFF"/>
                    </a:solidFill>
                  </a:tcPr>
                </a:tc>
                <a:tc>
                  <a:txBody>
                    <a:bodyPr wrap="square"/>
                    <a:lstStyle/>
                    <a:p>
                      <a:r>
                        <a:rPr sz="1300" b="0">
                          <a:solidFill>
                            <a:srgbClr val="1B2A22"/>
                          </a:solidFill>
                          <a:latin typeface="Calibri"/>
                        </a:rPr>
                        <a:t>INR 50-120</a:t>
                      </a:r>
                    </a:p>
                  </a:txBody>
                  <a:tcPr marL="54864" marR="54864" marT="18288" marB="18288" anchor="ctr">
                    <a:solidFill>
                      <a:srgbClr val="FFFFFF"/>
                    </a:solidFill>
                  </a:tcPr>
                </a:tc>
                <a:tc>
                  <a:txBody>
                    <a:bodyPr wrap="square"/>
                    <a:lstStyle/>
                    <a:p>
                      <a:r>
                        <a:rPr sz="1300" b="0">
                          <a:solidFill>
                            <a:srgbClr val="1B2A22"/>
                          </a:solidFill>
                          <a:latin typeface="Calibri"/>
                        </a:rPr>
                        <a:t>INR ____</a:t>
                      </a:r>
                    </a:p>
                  </a:txBody>
                  <a:tcPr marL="54864" marR="54864" marT="18288" marB="18288" anchor="ctr">
                    <a:solidFill>
                      <a:srgbClr val="FFFFFF"/>
                    </a:solidFill>
                  </a:tcPr>
                </a:tc>
              </a:tr>
              <a:tr h="457200">
                <a:tc>
                  <a:txBody>
                    <a:bodyPr wrap="square"/>
                    <a:lstStyle/>
                    <a:p>
                      <a:r>
                        <a:rPr sz="1300" b="0">
                          <a:solidFill>
                            <a:srgbClr val="1B2A22"/>
                          </a:solidFill>
                          <a:latin typeface="Calibri"/>
                        </a:rPr>
                        <a:t>Wires, breadboard, USB cable</a:t>
                      </a:r>
                    </a:p>
                  </a:txBody>
                  <a:tcPr marL="54864" marR="54864" marT="18288" marB="18288" anchor="ctr">
                    <a:solidFill>
                      <a:srgbClr val="E6EEE0"/>
                    </a:solidFill>
                  </a:tcPr>
                </a:tc>
                <a:tc>
                  <a:txBody>
                    <a:bodyPr wrap="square"/>
                    <a:lstStyle/>
                    <a:p>
                      <a:r>
                        <a:rPr sz="1300" b="0">
                          <a:solidFill>
                            <a:srgbClr val="1B2A22"/>
                          </a:solidFill>
                          <a:latin typeface="Calibri"/>
                        </a:rPr>
                        <a:t>INR 100-250</a:t>
                      </a:r>
                    </a:p>
                  </a:txBody>
                  <a:tcPr marL="54864" marR="54864" marT="18288" marB="18288" anchor="ctr">
                    <a:solidFill>
                      <a:srgbClr val="E6EEE0"/>
                    </a:solidFill>
                  </a:tcPr>
                </a:tc>
                <a:tc>
                  <a:txBody>
                    <a:bodyPr wrap="square"/>
                    <a:lstStyle/>
                    <a:p>
                      <a:r>
                        <a:rPr sz="1300" b="0">
                          <a:solidFill>
                            <a:srgbClr val="1B2A22"/>
                          </a:solidFill>
                          <a:latin typeface="Calibri"/>
                        </a:rPr>
                        <a:t>INR ____</a:t>
                      </a:r>
                    </a:p>
                  </a:txBody>
                  <a:tcPr marL="54864" marR="54864" marT="18288" marB="18288" anchor="ctr">
                    <a:solidFill>
                      <a:srgbClr val="E6EEE0"/>
                    </a:solidFill>
                  </a:tcPr>
                </a:tc>
              </a:tr>
            </a:tbl>
          </a:graphicData>
        </a:graphic>
      </p:graphicFrame>
      <p:sp>
        <p:nvSpPr>
          <p:cNvPr id="6" name="Rounded Rectangle 5"/>
          <p:cNvSpPr/>
          <p:nvPr/>
        </p:nvSpPr>
        <p:spPr>
          <a:xfrm>
            <a:off x="548640" y="5074920"/>
            <a:ext cx="11064240" cy="1280160"/>
          </a:xfrm>
          <a:prstGeom prst="roundRect">
            <a:avLst>
              <a:gd name="adj" fmla="val 8000"/>
            </a:avLst>
          </a:prstGeom>
          <a:solidFill>
            <a:srgbClr val="FFFFFF"/>
          </a:solidFill>
          <a:ln w="127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120640"/>
            <a:ext cx="10698480" cy="1188720"/>
          </a:xfrm>
          <a:prstGeom prst="rect">
            <a:avLst/>
          </a:prstGeom>
          <a:noFill/>
        </p:spPr>
        <p:txBody>
          <a:bodyPr wrap="square" anchor="ctr" lIns="45720" rIns="45720" tIns="27432" bIns="27432">
            <a:spAutoFit/>
          </a:bodyPr>
          <a:lstStyle/>
          <a:p>
            <a:pPr algn="l">
              <a:spcAft>
                <a:spcPts val="400"/>
              </a:spcAft>
            </a:pPr>
            <a:r>
              <a:rPr sz="1400" b="0" i="0">
                <a:solidFill>
                  <a:srgbClr val="1B2A22"/>
                </a:solidFill>
                <a:latin typeface="Calibri"/>
              </a:rPr>
              <a:t>Indicative prices are market ranges for hobby-grade parts; replace them with your bill. The complete sensor kit costs a few hundred to about one thousand rupees.</a:t>
            </a:r>
          </a:p>
          <a:p>
            <a:pPr algn="l">
              <a:spcAft>
                <a:spcPts val="400"/>
              </a:spcAft>
            </a:pPr>
            <a:r>
              <a:rPr sz="1400" b="0" i="0">
                <a:solidFill>
                  <a:srgbClr val="1B2A22"/>
                </a:solidFill>
                <a:latin typeface="Calibri"/>
              </a:rPr>
              <a:t>A calibrated pyranometer costs far more (typically tens of thousands of rupees), which is why Review 0 uses a virtual one and a low-cost silicon sensor is the planned upgrade.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14342B"/>
                </a:solidFill>
                <a:latin typeface="Cambria"/>
              </a:rPr>
              <a:t>Time management and progress</a:t>
            </a:r>
          </a:p>
        </p:txBody>
      </p:sp>
      <p:sp>
        <p:nvSpPr>
          <p:cNvPr id="3" name="TextBox 2"/>
          <p:cNvSpPr txBox="1"/>
          <p:nvPr/>
        </p:nvSpPr>
        <p:spPr>
          <a:xfrm>
            <a:off x="548640" y="1005840"/>
            <a:ext cx="11064240" cy="411480"/>
          </a:xfrm>
          <a:prstGeom prst="rect">
            <a:avLst/>
          </a:prstGeom>
          <a:noFill/>
        </p:spPr>
        <p:txBody>
          <a:bodyPr wrap="square" anchor="t" lIns="45720" rIns="45720" tIns="27432" bIns="27432">
            <a:spAutoFit/>
          </a:bodyPr>
          <a:lstStyle/>
          <a:p>
            <a:pPr algn="l">
              <a:spcAft>
                <a:spcPts val="400"/>
              </a:spcAft>
            </a:pPr>
            <a:r>
              <a:rPr sz="1600" b="0" i="0">
                <a:solidFill>
                  <a:srgbClr val="5B6B62"/>
                </a:solidFill>
                <a:latin typeface="Calibri"/>
              </a:rPr>
              <a:t>The computer study is complete; Review 0 adds the real sensors</a:t>
            </a:r>
          </a:p>
        </p:txBody>
      </p:sp>
      <p:sp>
        <p:nvSpPr>
          <p:cNvPr id="4" name="Chevron 3"/>
          <p:cNvSpPr/>
          <p:nvPr/>
        </p:nvSpPr>
        <p:spPr>
          <a:xfrm>
            <a:off x="411480" y="1828800"/>
            <a:ext cx="1554480" cy="1188720"/>
          </a:xfrm>
          <a:prstGeom prst="chevron">
            <a:avLst>
              <a:gd name="adj" fmla="val 20000"/>
            </a:avLst>
          </a:prstGeom>
          <a:solidFill>
            <a:srgbClr val="4E9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Design + CAD</a:t>
            </a:r>
          </a:p>
        </p:txBody>
      </p:sp>
      <p:sp>
        <p:nvSpPr>
          <p:cNvPr id="5" name="TextBox 4"/>
          <p:cNvSpPr txBox="1"/>
          <p:nvPr/>
        </p:nvSpPr>
        <p:spPr>
          <a:xfrm>
            <a:off x="502920"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completed</a:t>
            </a:r>
          </a:p>
        </p:txBody>
      </p:sp>
      <p:sp>
        <p:nvSpPr>
          <p:cNvPr id="6" name="Chevron 5"/>
          <p:cNvSpPr/>
          <p:nvPr/>
        </p:nvSpPr>
        <p:spPr>
          <a:xfrm>
            <a:off x="1847088" y="1828800"/>
            <a:ext cx="1554480" cy="1188720"/>
          </a:xfrm>
          <a:prstGeom prst="chevron">
            <a:avLst>
              <a:gd name="adj" fmla="val 20000"/>
            </a:avLst>
          </a:prstGeom>
          <a:solidFill>
            <a:srgbClr val="4E9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Solar + shadow</a:t>
            </a:r>
          </a:p>
        </p:txBody>
      </p:sp>
      <p:sp>
        <p:nvSpPr>
          <p:cNvPr id="7" name="TextBox 6"/>
          <p:cNvSpPr txBox="1"/>
          <p:nvPr/>
        </p:nvSpPr>
        <p:spPr>
          <a:xfrm>
            <a:off x="1938528"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completed</a:t>
            </a:r>
          </a:p>
        </p:txBody>
      </p:sp>
      <p:sp>
        <p:nvSpPr>
          <p:cNvPr id="8" name="Chevron 7"/>
          <p:cNvSpPr/>
          <p:nvPr/>
        </p:nvSpPr>
        <p:spPr>
          <a:xfrm>
            <a:off x="3282696" y="1828800"/>
            <a:ext cx="1554480" cy="1188720"/>
          </a:xfrm>
          <a:prstGeom prst="chevron">
            <a:avLst>
              <a:gd name="adj" fmla="val 20000"/>
            </a:avLst>
          </a:prstGeom>
          <a:solidFill>
            <a:srgbClr val="4E9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Digital twin</a:t>
            </a:r>
          </a:p>
        </p:txBody>
      </p:sp>
      <p:sp>
        <p:nvSpPr>
          <p:cNvPr id="9" name="TextBox 8"/>
          <p:cNvSpPr txBox="1"/>
          <p:nvPr/>
        </p:nvSpPr>
        <p:spPr>
          <a:xfrm>
            <a:off x="3374136"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completed</a:t>
            </a:r>
          </a:p>
        </p:txBody>
      </p:sp>
      <p:sp>
        <p:nvSpPr>
          <p:cNvPr id="10" name="Chevron 9"/>
          <p:cNvSpPr/>
          <p:nvPr/>
        </p:nvSpPr>
        <p:spPr>
          <a:xfrm>
            <a:off x="4718304" y="1828800"/>
            <a:ext cx="1554480" cy="1188720"/>
          </a:xfrm>
          <a:prstGeom prst="chevron">
            <a:avLst>
              <a:gd name="adj" fmla="val 20000"/>
            </a:avLst>
          </a:prstGeom>
          <a:solidFill>
            <a:srgbClr val="4E9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Controller</a:t>
            </a:r>
          </a:p>
        </p:txBody>
      </p:sp>
      <p:sp>
        <p:nvSpPr>
          <p:cNvPr id="11" name="TextBox 10"/>
          <p:cNvSpPr txBox="1"/>
          <p:nvPr/>
        </p:nvSpPr>
        <p:spPr>
          <a:xfrm>
            <a:off x="4809744"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completed</a:t>
            </a:r>
          </a:p>
        </p:txBody>
      </p:sp>
      <p:sp>
        <p:nvSpPr>
          <p:cNvPr id="12" name="Chevron 11"/>
          <p:cNvSpPr/>
          <p:nvPr/>
        </p:nvSpPr>
        <p:spPr>
          <a:xfrm>
            <a:off x="6153912" y="1828800"/>
            <a:ext cx="1554480" cy="1188720"/>
          </a:xfrm>
          <a:prstGeom prst="chevron">
            <a:avLst>
              <a:gd name="adj" fmla="val 20000"/>
            </a:avLst>
          </a:prstGeom>
          <a:solidFill>
            <a:srgbClr val="4E9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Economics</a:t>
            </a:r>
          </a:p>
        </p:txBody>
      </p:sp>
      <p:sp>
        <p:nvSpPr>
          <p:cNvPr id="13" name="TextBox 12"/>
          <p:cNvSpPr txBox="1"/>
          <p:nvPr/>
        </p:nvSpPr>
        <p:spPr>
          <a:xfrm>
            <a:off x="6245352"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completed</a:t>
            </a:r>
          </a:p>
        </p:txBody>
      </p:sp>
      <p:sp>
        <p:nvSpPr>
          <p:cNvPr id="14" name="Chevron 13"/>
          <p:cNvSpPr/>
          <p:nvPr/>
        </p:nvSpPr>
        <p:spPr>
          <a:xfrm>
            <a:off x="7589520" y="1828800"/>
            <a:ext cx="1554480" cy="1188720"/>
          </a:xfrm>
          <a:prstGeom prst="chevron">
            <a:avLst>
              <a:gd name="adj" fmla="val 20000"/>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1B2A22"/>
                </a:solidFill>
                <a:latin typeface="Calibri"/>
              </a:rPr>
              <a:t>Review 0 sensors</a:t>
            </a:r>
          </a:p>
        </p:txBody>
      </p:sp>
      <p:sp>
        <p:nvSpPr>
          <p:cNvPr id="15" name="TextBox 14"/>
          <p:cNvSpPr txBox="1"/>
          <p:nvPr/>
        </p:nvSpPr>
        <p:spPr>
          <a:xfrm>
            <a:off x="7680960"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this review</a:t>
            </a:r>
          </a:p>
        </p:txBody>
      </p:sp>
      <p:sp>
        <p:nvSpPr>
          <p:cNvPr id="16" name="Chevron 15"/>
          <p:cNvSpPr/>
          <p:nvPr/>
        </p:nvSpPr>
        <p:spPr>
          <a:xfrm>
            <a:off x="9025128" y="1828800"/>
            <a:ext cx="1554480" cy="1188720"/>
          </a:xfrm>
          <a:prstGeom prst="chevron">
            <a:avLst>
              <a:gd name="adj" fmla="val 20000"/>
            </a:avLst>
          </a:prstGeom>
          <a:solidFill>
            <a:srgbClr val="5B6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Real PAR sensor</a:t>
            </a:r>
          </a:p>
        </p:txBody>
      </p:sp>
      <p:sp>
        <p:nvSpPr>
          <p:cNvPr id="17" name="TextBox 16"/>
          <p:cNvSpPr txBox="1"/>
          <p:nvPr/>
        </p:nvSpPr>
        <p:spPr>
          <a:xfrm>
            <a:off x="9116567"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planned</a:t>
            </a:r>
          </a:p>
        </p:txBody>
      </p:sp>
      <p:sp>
        <p:nvSpPr>
          <p:cNvPr id="18" name="Chevron 17"/>
          <p:cNvSpPr/>
          <p:nvPr/>
        </p:nvSpPr>
        <p:spPr>
          <a:xfrm>
            <a:off x="10460736" y="1828800"/>
            <a:ext cx="1554480" cy="1188720"/>
          </a:xfrm>
          <a:prstGeom prst="chevron">
            <a:avLst>
              <a:gd name="adj" fmla="val 20000"/>
            </a:avLst>
          </a:prstGeom>
          <a:solidFill>
            <a:srgbClr val="5B6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100" b="1">
                <a:solidFill>
                  <a:srgbClr val="FFFFFF"/>
                </a:solidFill>
                <a:latin typeface="Calibri"/>
              </a:rPr>
              <a:t>Actuator + field</a:t>
            </a:r>
          </a:p>
        </p:txBody>
      </p:sp>
      <p:sp>
        <p:nvSpPr>
          <p:cNvPr id="19" name="TextBox 18"/>
          <p:cNvSpPr txBox="1"/>
          <p:nvPr/>
        </p:nvSpPr>
        <p:spPr>
          <a:xfrm>
            <a:off x="10552176" y="3108960"/>
            <a:ext cx="1371600" cy="365760"/>
          </a:xfrm>
          <a:prstGeom prst="rect">
            <a:avLst/>
          </a:prstGeom>
          <a:noFill/>
        </p:spPr>
        <p:txBody>
          <a:bodyPr wrap="square" anchor="t" lIns="45720" rIns="45720" tIns="27432" bIns="27432">
            <a:spAutoFit/>
          </a:bodyPr>
          <a:lstStyle/>
          <a:p>
            <a:pPr algn="ctr">
              <a:spcAft>
                <a:spcPts val="400"/>
              </a:spcAft>
            </a:pPr>
            <a:r>
              <a:rPr sz="1300" b="0" i="0">
                <a:solidFill>
                  <a:srgbClr val="5B6B62"/>
                </a:solidFill>
                <a:latin typeface="Calibri"/>
              </a:rPr>
              <a:t>planned</a:t>
            </a:r>
          </a:p>
        </p:txBody>
      </p:sp>
      <p:graphicFrame>
        <p:nvGraphicFramePr>
          <p:cNvPr id="20" name="Table 19"/>
          <p:cNvGraphicFramePr>
            <a:graphicFrameLocks noGrp="1"/>
          </p:cNvGraphicFramePr>
          <p:nvPr/>
        </p:nvGraphicFramePr>
        <p:xfrm>
          <a:off x="548640" y="3749039"/>
          <a:ext cx="11064239" cy="2560320"/>
        </p:xfrm>
        <a:graphic>
          <a:graphicData uri="http://schemas.openxmlformats.org/drawingml/2006/table">
            <a:tbl>
              <a:tblPr firstRow="1" bandRow="1">
                <a:tableStyleId>{5C22544A-7EE6-4342-B048-85BDC9FD1C3A}</a:tableStyleId>
              </a:tblPr>
              <a:tblGrid>
                <a:gridCol w="7315200"/>
                <a:gridCol w="3749039"/>
              </a:tblGrid>
              <a:tr h="365760">
                <a:tc>
                  <a:txBody>
                    <a:bodyPr wrap="square"/>
                    <a:lstStyle/>
                    <a:p>
                      <a:r>
                        <a:rPr sz="1400" b="1">
                          <a:solidFill>
                            <a:srgbClr val="FFFFFF"/>
                          </a:solidFill>
                          <a:latin typeface="Calibri"/>
                        </a:rPr>
                        <a:t>Milestone</a:t>
                      </a:r>
                    </a:p>
                  </a:txBody>
                  <a:tcPr marL="54864" marR="54864" marT="18288" marB="18288" anchor="ctr">
                    <a:solidFill>
                      <a:srgbClr val="14342B"/>
                    </a:solidFill>
                  </a:tcPr>
                </a:tc>
                <a:tc>
                  <a:txBody>
                    <a:bodyPr wrap="square"/>
                    <a:lstStyle/>
                    <a:p>
                      <a:r>
                        <a:rPr sz="1400" b="1">
                          <a:solidFill>
                            <a:srgbClr val="FFFFFF"/>
                          </a:solidFill>
                          <a:latin typeface="Calibri"/>
                        </a:rPr>
                        <a:t>Evidence file</a:t>
                      </a:r>
                    </a:p>
                  </a:txBody>
                  <a:tcPr marL="54864" marR="54864" marT="18288" marB="18288" anchor="ctr">
                    <a:solidFill>
                      <a:srgbClr val="14342B"/>
                    </a:solidFill>
                  </a:tcPr>
                </a:tc>
              </a:tr>
              <a:tr h="365760">
                <a:tc>
                  <a:txBody>
                    <a:bodyPr wrap="square"/>
                    <a:lstStyle/>
                    <a:p>
                      <a:r>
                        <a:rPr sz="1400" b="0">
                          <a:solidFill>
                            <a:srgbClr val="1B2A22"/>
                          </a:solidFill>
                          <a:latin typeface="Calibri"/>
                        </a:rPr>
                        <a:t>Design preset, structural screening, CAD drawings, BOM</a:t>
                      </a:r>
                    </a:p>
                  </a:txBody>
                  <a:tcPr marL="54864" marR="54864" marT="18288" marB="18288" anchor="ctr">
                    <a:solidFill>
                      <a:srgbClr val="FFFFFF"/>
                    </a:solidFill>
                  </a:tcPr>
                </a:tc>
                <a:tc>
                  <a:txBody>
                    <a:bodyPr wrap="square"/>
                    <a:lstStyle/>
                    <a:p>
                      <a:r>
                        <a:rPr sz="1400" b="0">
                          <a:solidFill>
                            <a:srgbClr val="1B2A22"/>
                          </a:solidFill>
                          <a:latin typeface="Calibri"/>
                        </a:rPr>
                        <a:t>Review 1 folder</a:t>
                      </a:r>
                    </a:p>
                  </a:txBody>
                  <a:tcPr marL="54864" marR="54864" marT="18288" marB="18288" anchor="ctr">
                    <a:solidFill>
                      <a:srgbClr val="FFFFFF"/>
                    </a:solidFill>
                  </a:tcPr>
                </a:tc>
              </a:tr>
              <a:tr h="365760">
                <a:tc>
                  <a:txBody>
                    <a:bodyPr wrap="square"/>
                    <a:lstStyle/>
                    <a:p>
                      <a:r>
                        <a:rPr sz="1400" b="0">
                          <a:solidFill>
                            <a:srgbClr val="1B2A22"/>
                          </a:solidFill>
                          <a:latin typeface="Calibri"/>
                        </a:rPr>
                        <a:t>Sun, PV and shadow model validated (PVGIS, Blender)</a:t>
                      </a:r>
                    </a:p>
                  </a:txBody>
                  <a:tcPr marL="54864" marR="54864" marT="18288" marB="18288" anchor="ctr">
                    <a:solidFill>
                      <a:srgbClr val="E6EEE0"/>
                    </a:solidFill>
                  </a:tcPr>
                </a:tc>
                <a:tc>
                  <a:txBody>
                    <a:bodyPr wrap="square"/>
                    <a:lstStyle/>
                    <a:p>
                      <a:r>
                        <a:rPr sz="1400" b="0">
                          <a:solidFill>
                            <a:srgbClr val="1B2A22"/>
                          </a:solidFill>
                          <a:latin typeface="Calibri"/>
                        </a:rPr>
                        <a:t>Review 2 folder</a:t>
                      </a:r>
                    </a:p>
                  </a:txBody>
                  <a:tcPr marL="54864" marR="54864" marT="18288" marB="18288" anchor="ctr">
                    <a:solidFill>
                      <a:srgbClr val="E6EEE0"/>
                    </a:solidFill>
                  </a:tcPr>
                </a:tc>
              </a:tr>
              <a:tr h="365760">
                <a:tc>
                  <a:txBody>
                    <a:bodyPr wrap="square"/>
                    <a:lstStyle/>
                    <a:p>
                      <a:r>
                        <a:rPr sz="1400" b="0">
                          <a:solidFill>
                            <a:srgbClr val="1B2A22"/>
                          </a:solidFill>
                          <a:latin typeface="Calibri"/>
                        </a:rPr>
                        <a:t>Digital twin, JavaScript vs MATLAB check</a:t>
                      </a:r>
                    </a:p>
                  </a:txBody>
                  <a:tcPr marL="54864" marR="54864" marT="18288" marB="18288" anchor="ctr">
                    <a:solidFill>
                      <a:srgbClr val="FFFFFF"/>
                    </a:solidFill>
                  </a:tcPr>
                </a:tc>
                <a:tc>
                  <a:txBody>
                    <a:bodyPr wrap="square"/>
                    <a:lstStyle/>
                    <a:p>
                      <a:r>
                        <a:rPr sz="1400" b="0">
                          <a:solidFill>
                            <a:srgbClr val="1B2A22"/>
                          </a:solidFill>
                          <a:latin typeface="Calibri"/>
                        </a:rPr>
                        <a:t>Review 3 folder</a:t>
                      </a:r>
                    </a:p>
                  </a:txBody>
                  <a:tcPr marL="54864" marR="54864" marT="18288" marB="18288" anchor="ctr">
                    <a:solidFill>
                      <a:srgbClr val="FFFFFF"/>
                    </a:solidFill>
                  </a:tcPr>
                </a:tc>
              </a:tr>
              <a:tr h="365760">
                <a:tc>
                  <a:txBody>
                    <a:bodyPr wrap="square"/>
                    <a:lstStyle/>
                    <a:p>
                      <a:r>
                        <a:rPr sz="1400" b="0">
                          <a:solidFill>
                            <a:srgbClr val="1B2A22"/>
                          </a:solidFill>
                          <a:latin typeface="Calibri"/>
                        </a:rPr>
                        <a:t>Controller, Simulink test day, comparisons</a:t>
                      </a:r>
                    </a:p>
                  </a:txBody>
                  <a:tcPr marL="54864" marR="54864" marT="18288" marB="18288" anchor="ctr">
                    <a:solidFill>
                      <a:srgbClr val="E6EEE0"/>
                    </a:solidFill>
                  </a:tcPr>
                </a:tc>
                <a:tc>
                  <a:txBody>
                    <a:bodyPr wrap="square"/>
                    <a:lstStyle/>
                    <a:p>
                      <a:r>
                        <a:rPr sz="1400" b="0">
                          <a:solidFill>
                            <a:srgbClr val="1B2A22"/>
                          </a:solidFill>
                          <a:latin typeface="Calibri"/>
                        </a:rPr>
                        <a:t>Review 4 folder</a:t>
                      </a:r>
                    </a:p>
                  </a:txBody>
                  <a:tcPr marL="54864" marR="54864" marT="18288" marB="18288" anchor="ctr">
                    <a:solidFill>
                      <a:srgbClr val="E6EEE0"/>
                    </a:solidFill>
                  </a:tcPr>
                </a:tc>
              </a:tr>
              <a:tr h="365760">
                <a:tc>
                  <a:txBody>
                    <a:bodyPr wrap="square"/>
                    <a:lstStyle/>
                    <a:p>
                      <a:r>
                        <a:rPr sz="1400" b="0">
                          <a:solidFill>
                            <a:srgbClr val="1B2A22"/>
                          </a:solidFill>
                          <a:latin typeface="Calibri"/>
                        </a:rPr>
                        <a:t>Sensitivity, Monte Carlo, final report, poster</a:t>
                      </a:r>
                    </a:p>
                  </a:txBody>
                  <a:tcPr marL="54864" marR="54864" marT="18288" marB="18288" anchor="ctr">
                    <a:solidFill>
                      <a:srgbClr val="FFFFFF"/>
                    </a:solidFill>
                  </a:tcPr>
                </a:tc>
                <a:tc>
                  <a:txBody>
                    <a:bodyPr wrap="square"/>
                    <a:lstStyle/>
                    <a:p>
                      <a:r>
                        <a:rPr sz="1400" b="0">
                          <a:solidFill>
                            <a:srgbClr val="1B2A22"/>
                          </a:solidFill>
                          <a:latin typeface="Calibri"/>
                        </a:rPr>
                        <a:t>Review 5 folder</a:t>
                      </a:r>
                    </a:p>
                  </a:txBody>
                  <a:tcPr marL="54864" marR="54864" marT="18288" marB="18288" anchor="ctr">
                    <a:solidFill>
                      <a:srgbClr val="FFFFFF"/>
                    </a:solidFill>
                  </a:tcPr>
                </a:tc>
              </a:tr>
              <a:tr h="365760">
                <a:tc>
                  <a:txBody>
                    <a:bodyPr wrap="square"/>
                    <a:lstStyle/>
                    <a:p>
                      <a:r>
                        <a:rPr sz="1400" b="0">
                          <a:solidFill>
                            <a:srgbClr val="1B2A22"/>
                          </a:solidFill>
                          <a:latin typeface="Calibri"/>
                        </a:rPr>
                        <a:t>Review 0: firmware, dashboard, 16 tests, results</a:t>
                      </a:r>
                    </a:p>
                  </a:txBody>
                  <a:tcPr marL="54864" marR="54864" marT="18288" marB="18288" anchor="ctr">
                    <a:solidFill>
                      <a:srgbClr val="E6EEE0"/>
                    </a:solidFill>
                  </a:tcPr>
                </a:tc>
                <a:tc>
                  <a:txBody>
                    <a:bodyPr wrap="square"/>
                    <a:lstStyle/>
                    <a:p>
                      <a:r>
                        <a:rPr sz="1400" b="0">
                          <a:solidFill>
                            <a:srgbClr val="1B2A22"/>
                          </a:solidFill>
                          <a:latin typeface="Calibri"/>
                        </a:rPr>
                        <a:t>Review0 folder</a:t>
                      </a:r>
                    </a:p>
                  </a:txBody>
                  <a:tcPr marL="54864" marR="54864" marT="18288" marB="18288" anchor="ctr">
                    <a:solidFill>
                      <a:srgbClr val="E6EEE0"/>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342B"/>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ctr" lIns="45720" rIns="45720" tIns="27432" bIns="27432">
            <a:spAutoFit/>
          </a:bodyPr>
          <a:lstStyle/>
          <a:p>
            <a:pPr algn="l">
              <a:spcAft>
                <a:spcPts val="400"/>
              </a:spcAft>
            </a:pPr>
            <a:r>
              <a:rPr sz="3200" b="1" i="0">
                <a:solidFill>
                  <a:srgbClr val="FFFFFF"/>
                </a:solidFill>
                <a:latin typeface="Cambria"/>
              </a:rPr>
              <a:t>Summary and next steps</a:t>
            </a:r>
          </a:p>
        </p:txBody>
      </p:sp>
      <p:sp>
        <p:nvSpPr>
          <p:cNvPr id="3" name="TextBox 2"/>
          <p:cNvSpPr txBox="1"/>
          <p:nvPr/>
        </p:nvSpPr>
        <p:spPr>
          <a:xfrm>
            <a:off x="548640" y="1463040"/>
            <a:ext cx="6583680" cy="4754880"/>
          </a:xfrm>
          <a:prstGeom prst="rect">
            <a:avLst/>
          </a:prstGeom>
          <a:noFill/>
        </p:spPr>
        <p:txBody>
          <a:bodyPr wrap="square">
            <a:spAutoFit/>
          </a:bodyPr>
          <a:lstStyle/>
          <a:p>
            <a:pPr>
              <a:spcAft>
                <a:spcPts val="1200"/>
              </a:spcAft>
            </a:pPr>
            <a:r>
              <a:rPr sz="1800" b="0">
                <a:solidFill>
                  <a:srgbClr val="FFFFFF"/>
                </a:solidFill>
                <a:latin typeface="Calibri"/>
              </a:rPr>
              <a:t>•  Real DHT11, soil and rain sensors feed MATLAB through an ESP board; pyranometer, PAR and wind are simulated and labelled</a:t>
            </a:r>
          </a:p>
          <a:p>
            <a:pPr>
              <a:spcAft>
                <a:spcPts val="1200"/>
              </a:spcAft>
            </a:pPr>
            <a:r>
              <a:rPr sz="1800" b="0">
                <a:solidFill>
                  <a:srgbClr val="FFFFFF"/>
                </a:solidFill>
                <a:latin typeface="Calibri"/>
              </a:rPr>
              <a:t>•  One controller: wind stow, rain slope, night park, then an optimiser for energy + crop light with stress adaptation</a:t>
            </a:r>
          </a:p>
          <a:p>
            <a:pPr>
              <a:spcAft>
                <a:spcPts val="1200"/>
              </a:spcAft>
            </a:pPr>
            <a:r>
              <a:rPr sz="1800" b="0">
                <a:solidFill>
                  <a:srgbClr val="FFFFFF"/>
                </a:solidFill>
                <a:latin typeface="Calibri"/>
              </a:rPr>
              <a:t>•  16 of 16 logic tests pass; the physics equals the validated engine</a:t>
            </a:r>
          </a:p>
          <a:p>
            <a:pPr>
              <a:spcAft>
                <a:spcPts val="1200"/>
              </a:spcAft>
            </a:pPr>
            <a:r>
              <a:rPr sz="1800" b="0">
                <a:solidFill>
                  <a:srgbClr val="FFFFFF"/>
                </a:solidFill>
                <a:latin typeface="Calibri"/>
              </a:rPr>
              <a:t>•  Clear day: the controller keeps 75 % of the best energy and 89 % of the best crop light; sun tracking keeps 100 % and 27 %</a:t>
            </a:r>
          </a:p>
        </p:txBody>
      </p:sp>
      <p:sp>
        <p:nvSpPr>
          <p:cNvPr id="4" name="Rounded Rectangle 3"/>
          <p:cNvSpPr/>
          <p:nvPr/>
        </p:nvSpPr>
        <p:spPr>
          <a:xfrm>
            <a:off x="7498079" y="1463040"/>
            <a:ext cx="4114800" cy="3200400"/>
          </a:xfrm>
          <a:prstGeom prst="roundRect">
            <a:avLst>
              <a:gd name="adj" fmla="val 8000"/>
            </a:avLst>
          </a:prstGeom>
          <a:solidFill>
            <a:srgbClr val="1F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554480"/>
            <a:ext cx="3749039" cy="457200"/>
          </a:xfrm>
          <a:prstGeom prst="rect">
            <a:avLst/>
          </a:prstGeom>
          <a:noFill/>
        </p:spPr>
        <p:txBody>
          <a:bodyPr wrap="square" anchor="t" lIns="45720" rIns="45720" tIns="27432" bIns="27432">
            <a:spAutoFit/>
          </a:bodyPr>
          <a:lstStyle/>
          <a:p>
            <a:pPr algn="l">
              <a:spcAft>
                <a:spcPts val="400"/>
              </a:spcAft>
            </a:pPr>
            <a:r>
              <a:rPr sz="2200" b="1" i="0">
                <a:solidFill>
                  <a:srgbClr val="E8A317"/>
                </a:solidFill>
                <a:latin typeface="Calibri"/>
              </a:rPr>
              <a:t>Next</a:t>
            </a:r>
          </a:p>
        </p:txBody>
      </p:sp>
      <p:sp>
        <p:nvSpPr>
          <p:cNvPr id="6" name="TextBox 5"/>
          <p:cNvSpPr txBox="1"/>
          <p:nvPr/>
        </p:nvSpPr>
        <p:spPr>
          <a:xfrm>
            <a:off x="7680960" y="2103120"/>
            <a:ext cx="3749039" cy="3749039"/>
          </a:xfrm>
          <a:prstGeom prst="rect">
            <a:avLst/>
          </a:prstGeom>
          <a:noFill/>
        </p:spPr>
        <p:txBody>
          <a:bodyPr wrap="square">
            <a:spAutoFit/>
          </a:bodyPr>
          <a:lstStyle/>
          <a:p>
            <a:pPr>
              <a:spcAft>
                <a:spcPts val="1000"/>
              </a:spcAft>
            </a:pPr>
            <a:r>
              <a:rPr sz="1700" b="0">
                <a:solidFill>
                  <a:srgbClr val="FFFFFF"/>
                </a:solidFill>
                <a:latin typeface="Calibri"/>
              </a:rPr>
              <a:t>•  Add a real pyranometer and PAR sensor</a:t>
            </a:r>
          </a:p>
          <a:p>
            <a:pPr>
              <a:spcAft>
                <a:spcPts val="1000"/>
              </a:spcAft>
            </a:pPr>
            <a:r>
              <a:rPr sz="1700" b="0">
                <a:solidFill>
                  <a:srgbClr val="FFFFFF"/>
                </a:solidFill>
                <a:latin typeface="Calibri"/>
              </a:rPr>
              <a:t>•  Add a 2 degree dead-band and a motor driver</a:t>
            </a:r>
          </a:p>
          <a:p>
            <a:pPr>
              <a:spcAft>
                <a:spcPts val="1000"/>
              </a:spcAft>
            </a:pPr>
            <a:r>
              <a:rPr sz="1700" b="0">
                <a:solidFill>
                  <a:srgbClr val="FFFFFF"/>
                </a:solidFill>
                <a:latin typeface="Calibri"/>
              </a:rPr>
              <a:t>•  Log a week of real sensor data</a:t>
            </a:r>
          </a:p>
          <a:p>
            <a:pPr>
              <a:spcAft>
                <a:spcPts val="1000"/>
              </a:spcAft>
            </a:pPr>
            <a:r>
              <a:rPr sz="1700" b="0">
                <a:solidFill>
                  <a:srgbClr val="FFFFFF"/>
                </a:solidFill>
                <a:latin typeface="Calibri"/>
              </a:rPr>
              <a:t>•  Compare against local weather data</a:t>
            </a:r>
          </a:p>
        </p:txBody>
      </p:sp>
      <p:sp>
        <p:nvSpPr>
          <p:cNvPr id="7" name="TextBox 6"/>
          <p:cNvSpPr txBox="1"/>
          <p:nvPr/>
        </p:nvSpPr>
        <p:spPr>
          <a:xfrm>
            <a:off x="548640" y="6126480"/>
            <a:ext cx="11064240" cy="457200"/>
          </a:xfrm>
          <a:prstGeom prst="rect">
            <a:avLst/>
          </a:prstGeom>
          <a:noFill/>
        </p:spPr>
        <p:txBody>
          <a:bodyPr wrap="square" anchor="t" lIns="45720" rIns="45720" tIns="27432" bIns="27432">
            <a:spAutoFit/>
          </a:bodyPr>
          <a:lstStyle/>
          <a:p>
            <a:pPr algn="l">
              <a:spcAft>
                <a:spcPts val="400"/>
              </a:spcAft>
            </a:pPr>
            <a:r>
              <a:rPr sz="1400" b="0" i="0">
                <a:solidFill>
                  <a:srgbClr val="E6EEE0"/>
                </a:solidFill>
                <a:latin typeface="Calibri"/>
              </a:rPr>
              <a:t>Simulation and prototype sensors only. Prices and farmer-income figures are assumptions (see Review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