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8"/>
    <p:sldId id="267" r:id="rId19"/>
    <p:sldId id="271" r:id="rId23"/>
    <p:sldId id="272" r:id="rId24"/>
    <p:sldId id="273" r:id="rId25"/>
    <p:sldId id="274" r:id="rId26"/>
    <p:sldId id="275" r:id="rId27"/>
    <p:sldId id="276" r:id="rId28"/>
    <p:sldId id="268" r:id="rId20"/>
    <p:sldId id="269" r:id="rId21"/>
    <p:sldId id="270" r:id="rId2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slide" Target="slides/slide19.xml"/><Relationship Id="rId16" Type="http://schemas.openxmlformats.org/officeDocument/2006/relationships/slide" Target="slides/slide20.xml"/><Relationship Id="rId17" Type="http://schemas.openxmlformats.org/officeDocument/2006/relationships/slide" Target="slides/slide21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both terms are normalised to the best option in the hour: the units differ (kWh vs rupees).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Computed by srmc_run.m for the checked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programmatically by matlab/build_simulink_controller.m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Logged values: evidence/simulink/controller_log.csv.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= INR lakh. Source: out/matlab/T1_controller_comparison.csv (matlab/srmc_master.m).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= 0.5 is the default; the farmer or the industry can choose another weighting.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T6_physics_scenarios.csv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honest result first - it is more credible than a one-sided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this review are listed on the last slide and in reviews/REFERENCES.md. Evidence files are indexed in reviews/PROOF_INDEX.md.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in one sentence: keep just enough light for the crop and give the rest to the panels. The weight 50/50 is a setting; the twin has a slider. The PAR correction means: if the PAR sensor reads less light than the model predicts (dirt, cloud pattern), the optimiser scales the crop light by that ratio (limited to 0.7 to 1.3).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(calm to moderate wind; wind stow is checked in Simulink and in the MATLAB cross-check): 12 representative days x 3 sky states x 2 soil states x 14 daylight hours = 864 cases. Sensors = truth plus noise (pyranometer 5 %, PAR 5 %, DHT11 +-2 C and +-5 % RH, soil +-3 %). 100 % = perfect-knowledge optimum of the same combined score. The score is the controller own objective, so it is not an independent measure of crop yield; the yield and money results come from the hourly-plan runs in T1. Fixed 15 deg gives the most electricity but only 33 % of the crop light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October clear day (crop in season), tilt chosen by the six-sensor controller with noisy sensors follows the perfect-knowledge optimum; the monthly plan is up to 15 degrees away from the best angle (tilt error 9.5 deg against 4.8 deg). Right: the same day with dry soil (15 %): the controller accepts more shade because dry soil lowers the light the crop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diagram: sensors (From Workspace) to the controller block (same rule as the twin) with a unit delay feeding the previous angle back, 0.5 deg encoder quantiser. Test day 16 April: cloud 11:00 to 11:30, rain 14:00 to 15:00 (flat 3 deg), soil dries to 17 % after 12:00.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takes one reading per decision. v2 takes the median of 5 readings per channel and ignores a PAR sensor that reads less than half or more than 1.6 times what the model predicts. At 3 times the base noise the combined score is 98.5 percent for v1 and 99.1 percent for v2. With a dirty, reflecting or dead PAR sensor, v1 drops to 97.4 to 98.7 percent and v2 stays at 99.6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strategy hourly angles (clear-sky, normal soil) run through the engine crop, water and economics model. The six-sensor controller gives 242 kWh/m2 and INR 55.7 lakh in total, against 238 and 55.0 for the monthly plan and 233 and 52.5 for a fixed 45 degree panel. Crop income is INR 2.2 lakh against 2.5 (plan) and 1.6 (fixed 45). A PV-only panel still earns most rupees (68.0 lakh) but destroys the crop income. Prices are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Files: matlab/srmc_sc_accuracy.m, results/accuracy_matlab.csv and .json, figures fig_matlab_accuracy.png, fig_matlab_angles.png.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Files: results/safety_tests.md, safety_flicker.csv, code in sensor_controller.js (makeSafe). Tested in simulation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Probe-triggered irrigation uses 5,372 m3 per hectare a year against 5,641 m3 for a timer (every 4 days, fixed depth): 4.8 % saved, 0 water-stress days instead of 20. A probe stuck dry without a fallback wastes about 46,500 m3; stuck wet without a fallback kills the yield (0.155); with the fallback (stuck 3 days or dead: run the timer) both stay at timer level. Same daily water balance as the twin;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R6: Control algorithm and simulation results</a:t>
            </a:r>
          </a:p>
          <a:p>
            <a:r>
              <a:rPr sz="2200">
                <a:solidFill>
                  <a:srgbClr val="D8F0B8"/>
                </a:solidFill>
              </a:rPr>
              <a:t>Six-sensor controller: pyranometer, PAR, DHT11, soil moisture, rain sensor and anemometer tilt the panels to co-optimise electricity and crop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A decision at every step, 0.5 deg resolution; flat roof (3 deg) in rain; night park; extra shade in heat or dry soil</a:t>
            </a:r>
          </a:p>
          <a:p>
            <a:r>
              <a:rPr sz="1600">
                <a:solidFill>
                  <a:srgbClr val="FFFFFF"/>
                </a:solidFill>
              </a:rPr>
              <a:t>MATLAB engine + Simulink block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Control problem and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Two physical positions from the wire spec: tilt mode 15-60 deg, flat (rain) mode with a 3 deg fall to the gutter.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Priority: anemometer wind stow (15 m/s: 90 deg) &gt; rain sensor (3 deg flat roof) &gt; night park (15 deg) &gt; six-sensor optimiser.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Each hour the controller chooses the angle that maximises J = w x PV/PVmax + (1-w) x crop-value/cropmax (w = 0.5 default).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Crop value = sum over zones of light-response x temperature x soil x price, only for crops that are in season.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Search: coarse stops every 5 deg, refined to the motor/encoder resolution of 0.5 deg around the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Six-sensor controller: what each sensor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Pyranometer: how much sun there is. Below 20 W/m2 = night, park at 15 deg.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PAR sensor under the panels: how much light the crop really gets. It corrects the model (PAR divided by pyranometer).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DHT11: air temperature and humidity give VPD. Hot, dry air = plant stress = accept more shade.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Soil moisture: below 20 % = dry. More shade, drip irrigation ON.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Rain sensor: wet = flat roof at 3 deg, water to the gutter and cistern.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Anemometer: wind at or above 15 m/s (54 km/h) = storm: panels edge-on at 90 deg; resume below 12 m/s.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Decision: try every angle 15 to 60 deg in 0.5 deg steps and pick the best combined score J = 50 % electricity + 50 % crop light value. Keep the angle unless the gain is above 2 % (protects the motor).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accurate is the control? Year-long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Electricity, % of best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Crop light value, % of best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Combined score, % of best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SRMC-SC (ideal sensors)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99.7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SRMC-SC (noisy sensors)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99.6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SC v1 (one reading, no guard)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99.4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Monthly schedule (SRMC-DT)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98.8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Fixed 45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91.2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Fixed 15 deg (PV-max)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Sun tracking (E-W)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84.0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fig_accuracy_both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420624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Robust to noisy and faulty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5</a:t>
            </a:r>
          </a:p>
        </p:txBody>
      </p:sp>
      <p:pic>
        <p:nvPicPr>
          <p:cNvPr id="5" name="Picture 4" descr="fig_noise_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056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Yield and rupees (engine model, per hectare per 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6</a:t>
            </a:r>
          </a:p>
        </p:txBody>
      </p:sp>
      <p:pic>
        <p:nvPicPr>
          <p:cNvPr id="5" name="Picture 4" descr="fig_yield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6927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Accuracy measured in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142 test cases (4 months x 3 skies x 2 soils x daylight hours) with the same noisy sensor readings as the web twin.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MATLAB repeats the decisions with its own controller and scores every angle with its own physics against the best possible angle.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Result: combined score 99.5 % of the best, electricity 83 %, crop light value 99 %, tilt error 3.4 deg. MATLAB and the twin chose the identical angle in 140 of 142 cases (the other two differ by up to 6 deg where the score is flat).</a:t>
            </a:r>
          </a:p>
        </p:txBody>
      </p:sp>
      <p:pic>
        <p:nvPicPr>
          <p:cNvPr id="6" name="Picture 5" descr="fig_matlab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52" y="1188720"/>
            <a:ext cx="610321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Controller safety: fallbacks, move limits, wear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Soil probe fault (no reading, out of range, jump above 40 points, stuck for 3 daytime hours): the controller switches to the water-balance model value.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Rain sensor fault: wet for 30 minutes in dry sunny air = ignored (panels keep tracking); dry in real rain with a forecast, RH 90 % and a dark sky = flat roof anyway.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Move limits: at least 120 s between moves, at most 12 moves an hour, at most 900 deg of travel a day. Rain flat roof, storm stow and night park are never blocked.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Wear count: moves, degrees of travel, metres of drive wire, drum turns, reversals. A clear day: about 64 moves, 330 deg, 2.5 m of wire, 6.5 drum turns.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2"/>
                </a:solidFill>
                <a:latin typeface="Calibri"/>
              </a:rPr>
              <a:t>• Two hours of 1-minute cloud flicker: 92 moves with no protection, 14 with the 2 % hysteresis, 24 with limits but no hysteresis. 8 of 8 tests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Water link: the soil probe decides when irrigation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9</a:t>
            </a:r>
          </a:p>
        </p:txBody>
      </p:sp>
      <p:pic>
        <p:nvPicPr>
          <p:cNvPr id="5" name="Picture 4" descr="fig_irrigation_probe_vs_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69" y="2926080"/>
            <a:ext cx="11450781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Water link results (per hectare per 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Water m3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Stress days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Relative yield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622"/>
                          </a:solidFill>
                        </a:rPr>
                        <a:t>Saved vs timer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Timer (every 4 days, fixed depth)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Soil probe decides (ideal probe)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4.8 %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Soil probe, noisy (+-3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4.4 %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Probe stuck DRY, no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46528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-724.9 %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Probe stuck DRY, with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-6.3 %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Probe stuck WET, no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100 %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Probe stuck WET, with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1.1 %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Probe dead (no reading), with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Tilt through the day, and the effect of dry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11</a:t>
            </a:r>
          </a:p>
        </p:txBody>
      </p:sp>
      <p:pic>
        <p:nvPicPr>
          <p:cNvPr id="5" name="Picture 4" descr="fig_tilt_day_April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3188970"/>
          </a:xfrm>
          <a:prstGeom prst="rect">
            <a:avLst/>
          </a:prstGeom>
        </p:spPr>
      </p:pic>
      <p:pic>
        <p:nvPicPr>
          <p:cNvPr id="6" name="Picture 5" descr="fig_soil_stress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Simulink: six-sensor controller on a test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12</a:t>
            </a:r>
          </a:p>
        </p:txBody>
      </p:sp>
      <p:pic>
        <p:nvPicPr>
          <p:cNvPr id="5" name="Picture 4" descr="srmc_sensor_controll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178" y="1097280"/>
            <a:ext cx="7045162" cy="1737360"/>
          </a:xfrm>
          <a:prstGeom prst="rect">
            <a:avLst/>
          </a:prstGeom>
        </p:spPr>
      </p:pic>
      <p:pic>
        <p:nvPicPr>
          <p:cNvPr id="6" name="Picture 5" descr="sensor_controller_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676" y="2926080"/>
            <a:ext cx="5324167" cy="3474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MATLAB and the web twin make the same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R6 Control  |  Agrovoltaic Canopy for Protection and Sustainable Farming, TCE Madurai 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622"/>
                </a:solidFill>
                <a:latin typeface="Calibri"/>
              </a:rPr>
              <a:t>• 40 random sensor states (sun, cloud, DHT11, soil, rain, wind, previous angle) run through MATLAB (srmc_sensor_controller.m) and through the JavaScript twin.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622"/>
                </a:solidFill>
                <a:latin typeface="Calibri"/>
              </a:rPr>
              <a:t>• Result: same mode in 40 of 40 cases, identical angle in 40 of 40 (0.0 deg difference).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622"/>
                </a:solidFill>
                <a:latin typeface="Calibri"/>
              </a:rPr>
              <a:t>• Hysteresis (2 % of the score) stops the panels hunting; the median of 5 readings and a PAR fault guard keep the decisions accurate with noisy or faulty sensors (see the Accuracy slides).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622"/>
                </a:solidFill>
                <a:latin typeface="Calibri"/>
              </a:rPr>
              <a:t>• Files: matlab/srmc_sc_crosscheck.m, results/crosscheck_sensor_controller_matlab_vs_js.txt.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Controller output: angle chosen each hour, each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14</a:t>
            </a:r>
          </a:p>
        </p:txBody>
      </p:sp>
      <p:pic>
        <p:nvPicPr>
          <p:cNvPr id="5" name="Picture 4" descr="fig8_controller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19" y="1005840"/>
            <a:ext cx="955548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Steeper angles (yellow) in crop months; flat energy-optimal angles (15 deg) outside the season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Simulink model of the hourly-plan controller (planner and fallback)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15</a:t>
            </a:r>
          </a:p>
        </p:txBody>
      </p:sp>
      <p:pic>
        <p:nvPicPr>
          <p:cNvPr id="5" name="Picture 4" descr="srmc_controll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47120" cy="3004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03729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out/simulink/srmc_controller.slx: lookup of hourly schedule, three priority switches, rate limiter (1 deg/s), 0.5 deg quantiser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Simulink test day of the hourly plan: rain and wind gust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16</a:t>
            </a:r>
          </a:p>
        </p:txBody>
      </p:sp>
      <p:pic>
        <p:nvPicPr>
          <p:cNvPr id="5" name="Picture 4" descr="srmc_controller_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589520" cy="3747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8097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Night 15 deg, morning ~24 deg, rain 14-15 h -&gt; 3 deg, gust 17:00 -&gt; 90 deg stow, motor-limited transitions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Checked: night 15.0, morning 24.0, noon 15.0, rain 3.0, stow 90.0 deg.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Actual angle follows command with the motor rate limit.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Rain flag also reduces GHI in the test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Controller vs fixed designs (TCE, per hectare per 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280160"/>
                <a:gridCol w="100584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Design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PV kWh/m2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Light %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Solar 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Crop 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Total 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2"/>
                          </a:solidFill>
                        </a:rPr>
                        <a:t>Rain-fed %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SRMC-DT controller (50% energy / 50% crop)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Fixed 45 deg tilt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PV-max fixed 15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Crop-max controller (w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PV-max controller (w =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8444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The controller beats fixed 45 deg by ~5 % in total value and ~55 % in crop income. !A PV-only design earns more MONEY at these assumed prices; the controller case rests on crop, water and soil benefits that are not priced.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Moving the objective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18</a:t>
            </a:r>
          </a:p>
        </p:txBody>
      </p:sp>
      <p:pic>
        <p:nvPicPr>
          <p:cNvPr id="5" name="Picture 4" descr="fig7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589520" cy="4163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196765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Energy-weight sweep 0 to 100 %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More weight on energy -&gt; more PV, crop income falls to zero.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Weight on crops -&gt; light 36 %, PV 224 kWh/m2.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The curve is the Pareto trade-off to show a judge.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Weather years (full model re-run)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19</a:t>
            </a:r>
          </a:p>
        </p:txBody>
      </p:sp>
      <p:pic>
        <p:nvPicPr>
          <p:cNvPr id="5" name="Picture 4" descr="fig15_weather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589520" cy="3611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6451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Rain -30 %, +20 %; sunshine -5 %, +5 %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Drier year: irrigation from rain stays ~90 %.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Cloudier year: farmer income -4 %.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Rain harvest is the key resilience feature.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Why sensor-driven control is worth it - and what it does not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Compared with a fixed 45 deg stop: +2 % electricity, +3.5 % light, +55 % crop income, same rain-fed fraction.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controller protects the crop and the structure: flat sealed roof in rain, more shade in heat or dry soil. The anemometer stows the panels edge-on at 90 deg in a storm (15 m/s, resume below 12 m/s).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It does not beat a PV-only design on rupees today: crop income is small next to solar income at INR 3/kWh.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Not validated on hardware: no motor, sensor noise, wind dynamics or communication delay are in the model.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Next evidence: hardware-in-loop test or a one-row pilot; price the water, soil and resilience benefits.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Limits of R6 and what is NOT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R6 Control  |  Agrovoltaic Canopy for Protection and Sustainable Farming, TCE Madurai  |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Objective weights and crop light-response curves are assumptions; results move with them (see sensitivity in R7).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note in the SRMC-DT document that panels "trim flatter to admit light" conflicts with the geometry: in this model steeper tilt admits more light; the model follows the physics.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Panel temperature &gt; 45 C and VPD &gt; 2.5 kPa are monitored and reported, not yet inside the optimiser objective.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Proof: PROOF_INDEX rows 18-24; matlab/srmc_master.m; matlab/build_simulink_controller.m.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