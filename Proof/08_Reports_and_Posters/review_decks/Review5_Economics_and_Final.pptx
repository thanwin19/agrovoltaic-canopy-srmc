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6" r:id="rId18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number is a model output under assumed prices;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on this slide is a measured or quoted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matlab/srmc_sensitivity.m (T5_tornado.csv).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payback P5/P50/P95 = 21 / 37 / 78 years. P(income &gt;= INR 1 lakh/month) = 100 %; &gt;= 2 lakh = 60 %. P(investor payback &lt;= 20 yr) = 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case investor payback is ~41 years (37 years at P50) because the investor keeps 70 % of the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a water credit or carbon income without a market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in five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this review are listed on the last slide and in reviews/REFERENCES.md. Evidence files are indexed in reviews/PROOF_INDEX.md.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of these were confirmed by web search during preparation; see REFERENCES.md for status of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combined score is the controller own objective. Independent checks (PVGIS, Blender, MATLAB) validate the solar and shadow parts, not the crop or money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R7: Economics, farmer income and final conclusions</a:t>
            </a:r>
          </a:p>
          <a:p>
            <a:r>
              <a:rPr sz="2200">
                <a:solidFill>
                  <a:srgbClr val="D8F0B8"/>
                </a:solidFill>
              </a:rPr>
              <a:t>Who earns what, how sure are we, and what has to be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Farmer + investor view, sensitivity, Monte Carlo, break-even tariff</a:t>
            </a:r>
          </a:p>
          <a:p>
            <a:r>
              <a:rPr sz="1600">
                <a:solidFill>
                  <a:srgbClr val="FFFFFF"/>
                </a:solidFill>
              </a:rPr>
              <a:t>All prices are assumptions to be replaced by quotes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industry buys the electricity at a tariff (assumed INR 3.0/kWh) under a PPA / open-access arrangement.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farmer receives a share of that payment every month (assumed 30 %) and keeps all crop income, paid at harvest.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investor/operator funds the canopy, pays O&amp;M and keeps the remaining 70 %.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Rain harvested in the cistern irrigates the crops; surplus water and soil benefits are not priced.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Result per hectare per year (checked design): farmer ~INR 23.9 lakh = INR 1.99 lakh per month; investor net ~INR 31 lakh.</a:t>
            </a:r>
          </a:p>
        </p:txBody>
      </p:sp>
      <p:pic>
        <p:nvPicPr>
          <p:cNvPr id="6" name="Picture 5" descr="fig9_farmer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51560"/>
            <a:ext cx="5394960" cy="28599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393897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Farmer income by month: solar share monthly, crops at harvest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Assumptions - status of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45720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Status / where to get the real number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Industry 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INR 3.0/kWh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 - PPA quotation / TNERC order for open-access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Farmer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 - negotiated contract or land lease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INR 60,000/kWp + cistern INR 7,000/m3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 - supplier quotes (rope grid likely costs more)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O&amp;M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1.5 % of capex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Crop prices,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library values (e.g. ginger INR 60/kg)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TYPICAL - check Agmarknet / local mandi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CO2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0.71 kg/kWh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APPROX. - use the latest CEA grid emission factor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Subsidy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0 % (sweep to 30 %)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PM-KUSUM / state schemes - verify eligibility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One-at-a-time sensitivity: farmer income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4</a:t>
            </a:r>
          </a:p>
        </p:txBody>
      </p:sp>
      <p:pic>
        <p:nvPicPr>
          <p:cNvPr id="5" name="Picture 4" descr="fig12_tornado_farmer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31" y="1005840"/>
            <a:ext cx="10772256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Farmer share and tariff dominate; crop price and yield barely move the income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Monte Carlo (20,000 draws, triangular inputs)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5</a:t>
            </a:r>
          </a:p>
        </p:txBody>
      </p:sp>
      <p:pic>
        <p:nvPicPr>
          <p:cNvPr id="5" name="Picture 4" descr="fig14_montecar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47120" cy="4642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75377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Farmer income P5/P50/P95 = INR 1.41 / 2.12 / 2.99 lakh per month per hectare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⚠ The investor case is the weak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926080"/>
                <a:gridCol w="3017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Investor payback target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Farmer share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Tariff needed (INR/kWh)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Farmer income (INR/month/ha)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155,649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540,374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1,232,879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116,591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389,721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881,355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20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97,062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20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314,394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20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705,593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A 15-year payback at a 30 % farmer share needs about INR 6.2/kWh - above typical industrial tariffs. Closing the gap needs lower capex, subsidy or a lower farmer share. State this openly.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Water, soil and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Rain harvest ~4,640 m3 per hectare per year covers ~94 % of irrigation (drier year: ~90 %).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About 1,690 t CO2 per year per hectare avoided at 0.71 kg/kWh (approximate grid factor).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Soil: organic carbon rises toward a soil-specific ceiling over ~6-8 years (model assumption, tau 2 yr).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Universal check: 7 climates, 9 soils - the same four shade crops win everywhere at ~34 % light; salinity is the real soil risk (crop net ~8x lower than loam).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Water, soil and resilience benefits are not converted to rupees in the totals.</a:t>
            </a:r>
          </a:p>
        </p:txBody>
      </p:sp>
      <p:pic>
        <p:nvPicPr>
          <p:cNvPr id="6" name="Picture 5" descr="fig10_universal_clim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51560"/>
            <a:ext cx="5394960" cy="28101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388909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Same design, seven climates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 wire-rope canopy with hourly sensor-driven tilt and a flat rain mode is modelled consistently across MATLAB, a live twin, CAD and ray-traced renders.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PV model within PVGIS (energy per irradiation); shadow model within 0.010 of a 3-D ray tracer.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12.5 m-bay concept fails structural screening; a 5 m rope grid with heavier tube passes.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controller improves crop income ~55 % vs fixed 45 deg at +2 % PV; PV-only still earns more rupees.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Farmer income is dominated by the contract (tariff x share), not by the crop - the contract is the key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All results are simulation only; no field or prototype data.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Replace assumed prices with quotes; obtain rope datasheets, a soil/geotechnical report and a PPA term sheet.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Add hourly weather, validated crop light-response and a real PV module datasheet.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Price water, soil and resilience; test a one-row pilot with the sensor stack.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Patent / novelty: run a formal prior-art search before claiming novelty (documents in NEEDED_DOCUMENTS.md).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References (selected)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R7 Economics and final  |  Agrovoltaic Canopy for Protection and Sustainable Farming, TCE Madurai 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Dupraz C. et al. (2011) Renewable Energy 36(10): 2725-2732.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Barron-Gafford G.A. et al. (2019) Nature Sustainability 2: 848-855, doi:10.1038/s41893-019-0364-5.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Weselek A. et al. (2019) Agron. Sustain. Dev. 39: 35, doi:10.1007/s13593-019-0581-3.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Trommsdorff M. et al. (2021) Renewable &amp; Sustainable Energy Reviews 140: 110694.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Huld T. et al. (2010) Solar Energy 84(2): 324-338.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Allen R.G. et al. (1998) FAO Irrigation &amp; Drainage Paper 56.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Doorenbos J., Kassam A.H. (1979) FAO I&amp;D Paper 33.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BIS IS 875 (Part 3): 2015 Wind loads.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PVGIS (EC-JRC); NASA POWER; OpenStreetMap contributors (ODbL).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Full list with verification status: reviews/REFERENCES.md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Both goals together: what the sensors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R7 Economics and final  |  Agrovoltaic Canopy for Protection and Sustainable Farming, TCE Madurai 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Six sensors decide every tilt. Year-long test with noisy sensors: 99.6 % of the best combined score, tilt error 4.8 deg.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Electricity 82 % of the best possible, crop light value 98 % of the best possible. A PV-only panel gets 99 % of the electricity but only 45 % of the crop light value.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Against the monthly plan (98.8 %) and a fixed 45 deg panel (91.2 %) the sensor controller is closer to the optimum.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Money results stay assumption-based (tariff INR 3/kWh, farmer share 30 %). Our electricity costs about INR 6 to 7 per kWh with interest, near the Tamil Nadu industrial grid charge (INR 7.50), above big solar farms (INR 2 to 2.6).</a:t>
            </a:r>
          </a:p>
        </p:txBody>
      </p:sp>
      <p:pic>
        <p:nvPicPr>
          <p:cNvPr id="6" name="Picture 5" descr="fig_accuracy_both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