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79" cy="151196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79" cy="137160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Agrovoltaic Canopy for Protection and Sustainable Farming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1381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D8F0B8"/>
                </a:solidFill>
                <a:latin typeface="Calibri"/>
              </a:rPr>
              <a:t>Six sensors tilt the panels to optimise crop light and electricity; a gutter harvests rain; power is sold to a nearby industry. Digital-twin study, TCE ground, Madurai (9.88 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8778240" y="164592"/>
            <a:ext cx="1554480" cy="1051560"/>
          </a:xfrm>
          <a:prstGeom prst="rect">
            <a:avLst/>
          </a:prstGeom>
          <a:solidFill>
            <a:srgbClr val="2C6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96528" y="182880"/>
            <a:ext cx="1536192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Team: ______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Guide: ______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Dept: _______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R3 to R7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4843119" cy="36576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48431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PROBLEM AND 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65376"/>
            <a:ext cx="4843119" cy="2240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D221D"/>
                </a:solidFill>
                <a:latin typeface="Calibri"/>
              </a:rPr>
              <a:t>• Small farms live on crop income alone: weather and prices decide.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D221D"/>
                </a:solidFill>
                <a:latin typeface="Calibri"/>
              </a:rPr>
              <a:t>• One frame over the farm: panels 4.5 m up on stainless wire ropes, crops below.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D221D"/>
                </a:solidFill>
                <a:latin typeface="Calibri"/>
              </a:rPr>
              <a:t>• Panels tilt for sun. In rain they close into a sealed roof (3 deg fall) that feeds a gutter, an underground cistern and drip irrigation.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D221D"/>
                </a:solidFill>
                <a:latin typeface="Calibri"/>
              </a:rPr>
              <a:t>• Six sensors tell the controller how to balance electricity and crop light.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D221D"/>
                </a:solidFill>
                <a:latin typeface="Calibri"/>
              </a:rPr>
              <a:t>• The power is sold to a nearby industry: the farmer gets a monthly share plus crop income.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3199" y="1463040"/>
            <a:ext cx="4843119" cy="36576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3199" y="1463040"/>
            <a:ext cx="48431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DESIGN (BLENDER RENDER, TCE GROUND)</a:t>
            </a:r>
          </a:p>
        </p:txBody>
      </p:sp>
      <p:pic>
        <p:nvPicPr>
          <p:cNvPr id="12" name="Picture 11" descr="_poster_313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879" y="1865376"/>
            <a:ext cx="341376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3199" y="3794760"/>
            <a:ext cx="4843119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5B625B"/>
                </a:solidFill>
                <a:latin typeface="Calibri"/>
              </a:rPr>
              <a:t>10 panels on a 25 m wire run; pivot 5.58 m; lowest edge 4.5 m (harvester fits)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4843119" cy="36576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160520"/>
            <a:ext cx="48431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HOW THE MOTOR TILTS THE PANELS</a:t>
            </a:r>
          </a:p>
        </p:txBody>
      </p:sp>
      <p:pic>
        <p:nvPicPr>
          <p:cNvPr id="16" name="Picture 15" descr="_poster_507219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98" y="4562856"/>
            <a:ext cx="4653642" cy="1920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5760" y="6528816"/>
            <a:ext cx="4843119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1D221D"/>
                </a:solidFill>
                <a:latin typeface="Calibri"/>
              </a:rPr>
              <a:t>• Wire slides by d; it is clamped to the tip of a lever arm on every panel.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D221D"/>
                </a:solidFill>
                <a:latin typeface="Calibri"/>
              </a:rPr>
              <a:t>• The arm turns the pivot tube: tilt = arm swing, d = arm x sin(tilt).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D221D"/>
                </a:solidFill>
                <a:latin typeface="Calibri"/>
              </a:rPr>
              <a:t>• A guide pulley lets the wire turn at the row 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3199" y="4160520"/>
            <a:ext cx="4843119" cy="36576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3199" y="4160520"/>
            <a:ext cx="48431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SIX-SENSOR 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3199" y="4562856"/>
            <a:ext cx="4843119" cy="1051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D221D"/>
                </a:solidFill>
                <a:latin typeface="Calibri"/>
              </a:rPr>
              <a:t>• Six sensors: pyranometer, PAR, DHT11, soil moisture, rain, wind. Rain = flat roof (3 deg); night = park.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21D"/>
                </a:solidFill>
                <a:latin typeface="Calibri"/>
              </a:rPr>
              <a:t>• Otherwise: best tilt 15-60 deg for 50 % electricity + 50 % crop light. PAR corrects the model; heat or dry soil = more shade.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21D"/>
                </a:solidFill>
                <a:latin typeface="Calibri"/>
              </a:rPr>
              <a:t>• Year-long test: 99.6 % of the best score (electricity 82 %, crop light 98 %).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3199" y="7050024"/>
            <a:ext cx="4843119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B625B"/>
                </a:solidFill>
                <a:latin typeface="Calibri"/>
              </a:rPr>
              <a:t>Both goals (top-right is best): six-sensor controller 99.6 % of the best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7269480"/>
            <a:ext cx="4843119" cy="36576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7269480"/>
            <a:ext cx="48431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LIVE DIGITAL TWIN (OFFLINE, IN A BROWSER)</a:t>
            </a:r>
          </a:p>
        </p:txBody>
      </p:sp>
      <p:pic>
        <p:nvPicPr>
          <p:cNvPr id="25" name="Picture 24" descr="_poster_646892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588" y="7671816"/>
            <a:ext cx="2571542" cy="21031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154679" y="7671816"/>
            <a:ext cx="2054199" cy="2103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1D221D"/>
                </a:solidFill>
                <a:latin typeface="Calibri"/>
              </a:rPr>
              <a:t>• Sun, shadows, panel angle, drive wire, sensors, water, money.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D221D"/>
                </a:solidFill>
                <a:latin typeface="Calibri"/>
              </a:rPr>
              <a:t>• 7 climates, 9 soils, 24 crops.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B03020"/>
                </a:solidFill>
                <a:latin typeface="Calibri"/>
              </a:rPr>
              <a:t>⚠ Sensors are simulated, not measured.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3199" y="7269480"/>
            <a:ext cx="4843119" cy="36576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3199" y="7269480"/>
            <a:ext cx="48431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ONE DESIGN FILE FEEDS EVERYTHING</a:t>
            </a:r>
          </a:p>
        </p:txBody>
      </p:sp>
      <p:pic>
        <p:nvPicPr>
          <p:cNvPr id="29" name="Picture 28" descr="_poster_46626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140" y="7671816"/>
            <a:ext cx="3107237" cy="1600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83199" y="9308592"/>
            <a:ext cx="4843119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D221D"/>
                </a:solidFill>
                <a:latin typeface="Calibri"/>
              </a:rPr>
              <a:t>• MATLAB + Simulink, web twin, AutoCAD DXF + 22-item BOM, Blender Cycles. MATLAB and twin agree to 0.0000 % on 22 outputs.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9966960"/>
            <a:ext cx="9960559" cy="36576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9966960"/>
            <a:ext cx="996055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PROOF: THREE INDEPENDENT CHECKS</a:t>
            </a:r>
          </a:p>
        </p:txBody>
      </p:sp>
      <p:pic>
        <p:nvPicPr>
          <p:cNvPr id="33" name="Picture 32" descr="_poster_339155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800" y="10378440"/>
            <a:ext cx="2472185" cy="1508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5760" y="11896344"/>
            <a:ext cx="3198266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B625B"/>
                </a:solidFill>
                <a:latin typeface="Calibri"/>
              </a:rPr>
              <a:t>Solar output vs PVGIS: +5.0 % (sunshine data differs by +5.2 %)</a:t>
            </a:r>
          </a:p>
        </p:txBody>
      </p:sp>
      <p:pic>
        <p:nvPicPr>
          <p:cNvPr id="35" name="Picture 34" descr="_poster_424456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0395" y="10378440"/>
            <a:ext cx="1571288" cy="1508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46906" y="11896344"/>
            <a:ext cx="3198266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B625B"/>
                </a:solidFill>
                <a:latin typeface="Calibri"/>
              </a:rPr>
              <a:t>Shadows vs Blender 3-D ray tracing: mean difference 0.010 (80 cases)</a:t>
            </a:r>
          </a:p>
        </p:txBody>
      </p:sp>
      <p:pic>
        <p:nvPicPr>
          <p:cNvPr id="37" name="Picture 36" descr="_poster_6547316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5440" y="10378440"/>
            <a:ext cx="2483491" cy="1508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28052" y="11896344"/>
            <a:ext cx="3198266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5B625B"/>
                </a:solidFill>
                <a:latin typeface="Calibri"/>
              </a:rPr>
              <a:t>Wind check (IS 875): 12.5 m bays fail (rope 16x); 5 m rope grid passes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12481560"/>
            <a:ext cx="4843119" cy="36576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12481560"/>
            <a:ext cx="48431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RESULTS PER HECTARE (TCE, ASSUMED PRICES)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365760" y="12902184"/>
          <a:ext cx="484311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247"/>
                <a:gridCol w="968623"/>
                <a:gridCol w="968623"/>
                <a:gridCol w="968623"/>
              </a:tblGrid>
              <a:tr h="228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21D"/>
                          </a:solidFill>
                        </a:rPr>
                        <a:t>Design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21D"/>
                          </a:solidFill>
                        </a:rPr>
                        <a:t>PV kWh/m2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21D"/>
                          </a:solidFill>
                        </a:rPr>
                        <a:t>Crop light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D221D"/>
                          </a:solidFill>
                        </a:rPr>
                        <a:t>Total INR lakh</a:t>
                      </a:r>
                    </a:p>
                  </a:txBody>
                  <a:tcPr>
                    <a:solidFill>
                      <a:srgbClr val="72B8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/>
                        <a:t>Hourly plan (SRMC-DT)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55.0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/>
                        <a:t>Fixed 45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52.5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/>
                        <a:t>PV-only, fixed 15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68.2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365760" y="13853160"/>
            <a:ext cx="4843119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D221D"/>
                </a:solidFill>
                <a:latin typeface="Calibri"/>
              </a:rPr>
              <a:t>• Farmer income about INR 2 lakh per ha per month (range 1.4 to 3.0).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21D"/>
                </a:solidFill>
                <a:latin typeface="Calibri"/>
              </a:rPr>
              <a:t>• Rain covers 94 % of irrigation.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21D"/>
                </a:solidFill>
                <a:latin typeface="Calibri"/>
              </a:rPr>
              <a:t>• Controller: +55 % crop income vs fixed 45 deg.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3199" y="12481560"/>
            <a:ext cx="4843119" cy="365760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3199" y="12481560"/>
            <a:ext cx="4843119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HONEST LIMITS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3199" y="12883896"/>
            <a:ext cx="4843119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03020"/>
                </a:solidFill>
                <a:latin typeface="Calibri"/>
              </a:rPr>
              <a:t>⚠ Simulation only: no field or prototype data.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B03020"/>
                </a:solidFill>
                <a:latin typeface="Calibri"/>
              </a:rPr>
              <a:t>⚠ Tariff (INR 3/kWh) and farmer share (30 %) are assumptions.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B03020"/>
                </a:solidFill>
                <a:latin typeface="Calibri"/>
              </a:rPr>
              <a:t>⚠ Investor payback is long (about 41 years).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21D"/>
                </a:solidFill>
                <a:latin typeface="Calibri"/>
              </a:rPr>
              <a:t>• A PV-only design earns more money; the controller case rests on crops, water and soil.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21D"/>
                </a:solidFill>
                <a:latin typeface="Calibri"/>
              </a:rPr>
              <a:t>• Structure is a screening check, not a certified design.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14826996"/>
            <a:ext cx="10692079" cy="292608"/>
          </a:xfrm>
          <a:prstGeom prst="rect">
            <a:avLst/>
          </a:prstGeom>
          <a:solidFill>
            <a:srgbClr val="1F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14826996"/>
            <a:ext cx="9960559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Data: NASA POWER, PVGIS (EC-JRC), OpenStreetMap (ODbL).  Tools: MATLAB / Simulink R2025a, Blender 5.2, three.js.  Full R3-R7 decks, report, viva Q&amp;A and proof index in the review pack.</a:t>
            </a:r>
          </a:p>
        </p:txBody>
      </p:sp>
      <p:pic>
        <p:nvPicPr>
          <p:cNvPr id="48" name="Picture 47" descr="fig_accuracy_both_goal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7910" y="5623560"/>
            <a:ext cx="3543300" cy="1417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